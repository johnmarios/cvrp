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2" r:id="rId1"/>
  </p:sldMasterIdLst>
  <p:notesMasterIdLst>
    <p:notesMasterId r:id="rId21"/>
  </p:notesMasterIdLst>
  <p:sldIdLst>
    <p:sldId id="258" r:id="rId2"/>
    <p:sldId id="257" r:id="rId3"/>
    <p:sldId id="259" r:id="rId4"/>
    <p:sldId id="262" r:id="rId5"/>
    <p:sldId id="263" r:id="rId6"/>
    <p:sldId id="265" r:id="rId7"/>
    <p:sldId id="266" r:id="rId8"/>
    <p:sldId id="267" r:id="rId9"/>
    <p:sldId id="270" r:id="rId10"/>
    <p:sldId id="268" r:id="rId11"/>
    <p:sldId id="269" r:id="rId12"/>
    <p:sldId id="271" r:id="rId13"/>
    <p:sldId id="272" r:id="rId14"/>
    <p:sldId id="273" r:id="rId15"/>
    <p:sldId id="274" r:id="rId16"/>
    <p:sldId id="275" r:id="rId17"/>
    <p:sldId id="276" r:id="rId18"/>
    <p:sldId id="277" r:id="rId19"/>
    <p:sldId id="27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49D2D2-0248-429D-8396-21F2E5939A70}" v="780" dt="2026-09-21T06:46:14.6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85" autoAdjust="0"/>
  </p:normalViewPr>
  <p:slideViewPr>
    <p:cSldViewPr snapToGrid="0">
      <p:cViewPr varScale="1">
        <p:scale>
          <a:sx n="100" d="100"/>
          <a:sy n="100" d="100"/>
        </p:scale>
        <p:origin x="348" y="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annis Papadopoulos" userId="011f885267094b50" providerId="LiveId" clId="{1CA7F863-120F-4338-B7D1-787104A621F1}"/>
    <pc:docChg chg="undo custSel addSld delSld modSld sldOrd modMainMaster">
      <pc:chgData name="Giannis Papadopoulos" userId="011f885267094b50" providerId="LiveId" clId="{1CA7F863-120F-4338-B7D1-787104A621F1}" dt="2026-09-22T05:31:53.524" v="2808" actId="47"/>
      <pc:docMkLst>
        <pc:docMk/>
      </pc:docMkLst>
      <pc:sldChg chg="addSp delSp modSp mod">
        <pc:chgData name="Giannis Papadopoulos" userId="011f885267094b50" providerId="LiveId" clId="{1CA7F863-120F-4338-B7D1-787104A621F1}" dt="2026-09-19T17:27:46.598" v="675" actId="113"/>
        <pc:sldMkLst>
          <pc:docMk/>
          <pc:sldMk cId="2215144628" sldId="257"/>
        </pc:sldMkLst>
        <pc:spChg chg="mod">
          <ac:chgData name="Giannis Papadopoulos" userId="011f885267094b50" providerId="LiveId" clId="{1CA7F863-120F-4338-B7D1-787104A621F1}" dt="2026-09-19T17:17:52.417" v="365" actId="14100"/>
          <ac:spMkLst>
            <pc:docMk/>
            <pc:sldMk cId="2215144628" sldId="257"/>
            <ac:spMk id="2" creationId="{1F7C9398-3EAD-AC4B-80A5-097E7CC19BE3}"/>
          </ac:spMkLst>
        </pc:spChg>
        <pc:spChg chg="mod">
          <ac:chgData name="Giannis Papadopoulos" userId="011f885267094b50" providerId="LiveId" clId="{1CA7F863-120F-4338-B7D1-787104A621F1}" dt="2026-09-19T17:17:44.929" v="364" actId="1076"/>
          <ac:spMkLst>
            <pc:docMk/>
            <pc:sldMk cId="2215144628" sldId="257"/>
            <ac:spMk id="3" creationId="{3B8600F3-62A1-A718-0140-147F85081785}"/>
          </ac:spMkLst>
        </pc:spChg>
        <pc:spChg chg="add mod">
          <ac:chgData name="Giannis Papadopoulos" userId="011f885267094b50" providerId="LiveId" clId="{1CA7F863-120F-4338-B7D1-787104A621F1}" dt="2026-09-19T17:21:41.014" v="541" actId="20577"/>
          <ac:spMkLst>
            <pc:docMk/>
            <pc:sldMk cId="2215144628" sldId="257"/>
            <ac:spMk id="9" creationId="{E2A3FD1A-8759-60B1-F881-29C9881289AF}"/>
          </ac:spMkLst>
        </pc:spChg>
        <pc:spChg chg="add mod">
          <ac:chgData name="Giannis Papadopoulos" userId="011f885267094b50" providerId="LiveId" clId="{1CA7F863-120F-4338-B7D1-787104A621F1}" dt="2026-09-19T17:27:46.598" v="675" actId="113"/>
          <ac:spMkLst>
            <pc:docMk/>
            <pc:sldMk cId="2215144628" sldId="257"/>
            <ac:spMk id="11" creationId="{B905C9FF-18DE-FE35-B7C0-4AC7745F4232}"/>
          </ac:spMkLst>
        </pc:spChg>
        <pc:spChg chg="add mod">
          <ac:chgData name="Giannis Papadopoulos" userId="011f885267094b50" providerId="LiveId" clId="{1CA7F863-120F-4338-B7D1-787104A621F1}" dt="2026-09-19T17:27:01.532" v="673" actId="1076"/>
          <ac:spMkLst>
            <pc:docMk/>
            <pc:sldMk cId="2215144628" sldId="257"/>
            <ac:spMk id="12" creationId="{88F826EA-0F6D-070F-866E-488F6306EAD6}"/>
          </ac:spMkLst>
        </pc:spChg>
        <pc:spChg chg="add mod">
          <ac:chgData name="Giannis Papadopoulos" userId="011f885267094b50" providerId="LiveId" clId="{1CA7F863-120F-4338-B7D1-787104A621F1}" dt="2026-09-19T17:26:57.521" v="672" actId="1076"/>
          <ac:spMkLst>
            <pc:docMk/>
            <pc:sldMk cId="2215144628" sldId="257"/>
            <ac:spMk id="14" creationId="{264C575D-E896-63E9-27B0-3C1DE50A3AC7}"/>
          </ac:spMkLst>
        </pc:spChg>
        <pc:picChg chg="mod">
          <ac:chgData name="Giannis Papadopoulos" userId="011f885267094b50" providerId="LiveId" clId="{1CA7F863-120F-4338-B7D1-787104A621F1}" dt="2026-09-19T17:08:34.282" v="261" actId="14100"/>
          <ac:picMkLst>
            <pc:docMk/>
            <pc:sldMk cId="2215144628" sldId="257"/>
            <ac:picMk id="5" creationId="{99DAD8AF-3B3F-C7C1-5819-363E0730C742}"/>
          </ac:picMkLst>
        </pc:picChg>
      </pc:sldChg>
      <pc:sldChg chg="addSp delSp modSp mod setBg delDesignElem chgLayout">
        <pc:chgData name="Giannis Papadopoulos" userId="011f885267094b50" providerId="LiveId" clId="{1CA7F863-120F-4338-B7D1-787104A621F1}" dt="2026-09-19T19:21:51.260" v="1272"/>
        <pc:sldMkLst>
          <pc:docMk/>
          <pc:sldMk cId="3119000347" sldId="258"/>
        </pc:sldMkLst>
        <pc:spChg chg="mod ord">
          <ac:chgData name="Giannis Papadopoulos" userId="011f885267094b50" providerId="LiveId" clId="{1CA7F863-120F-4338-B7D1-787104A621F1}" dt="2026-09-19T17:05:20.729" v="257" actId="26606"/>
          <ac:spMkLst>
            <pc:docMk/>
            <pc:sldMk cId="3119000347" sldId="258"/>
            <ac:spMk id="2" creationId="{43502A19-36BD-DECE-B0F1-F303ED5DA61E}"/>
          </ac:spMkLst>
        </pc:spChg>
        <pc:spChg chg="add mod">
          <ac:chgData name="Giannis Papadopoulos" userId="011f885267094b50" providerId="LiveId" clId="{1CA7F863-120F-4338-B7D1-787104A621F1}" dt="2026-09-19T17:08:16.559" v="259" actId="1076"/>
          <ac:spMkLst>
            <pc:docMk/>
            <pc:sldMk cId="3119000347" sldId="258"/>
            <ac:spMk id="8" creationId="{CF87F11E-8026-FDE1-C8CE-40C970954911}"/>
          </ac:spMkLst>
        </pc:spChg>
        <pc:spChg chg="add mod">
          <ac:chgData name="Giannis Papadopoulos" userId="011f885267094b50" providerId="LiveId" clId="{1CA7F863-120F-4338-B7D1-787104A621F1}" dt="2026-09-19T17:08:20.422" v="260" actId="1076"/>
          <ac:spMkLst>
            <pc:docMk/>
            <pc:sldMk cId="3119000347" sldId="258"/>
            <ac:spMk id="9" creationId="{2A7CBB80-2CA2-B4CE-8EC0-F9BE7EC5CD25}"/>
          </ac:spMkLst>
        </pc:spChg>
        <pc:picChg chg="add mod ord">
          <ac:chgData name="Giannis Papadopoulos" userId="011f885267094b50" providerId="LiveId" clId="{1CA7F863-120F-4338-B7D1-787104A621F1}" dt="2026-09-19T17:05:20.729" v="257" actId="26606"/>
          <ac:picMkLst>
            <pc:docMk/>
            <pc:sldMk cId="3119000347" sldId="258"/>
            <ac:picMk id="7" creationId="{4906BA37-CE71-E634-2118-1148A3ACD912}"/>
          </ac:picMkLst>
        </pc:picChg>
      </pc:sldChg>
      <pc:sldChg chg="addSp delSp modSp new mod setBg delDesignElem">
        <pc:chgData name="Giannis Papadopoulos" userId="011f885267094b50" providerId="LiveId" clId="{1CA7F863-120F-4338-B7D1-787104A621F1}" dt="2026-09-20T13:23:44.391" v="2716" actId="1076"/>
        <pc:sldMkLst>
          <pc:docMk/>
          <pc:sldMk cId="521238406" sldId="259"/>
        </pc:sldMkLst>
        <pc:spChg chg="add mod">
          <ac:chgData name="Giannis Papadopoulos" userId="011f885267094b50" providerId="LiveId" clId="{1CA7F863-120F-4338-B7D1-787104A621F1}" dt="2026-09-19T19:22:54.146" v="1273" actId="26606"/>
          <ac:spMkLst>
            <pc:docMk/>
            <pc:sldMk cId="521238406" sldId="259"/>
            <ac:spMk id="3" creationId="{A4A76FAC-B2B2-6F9C-80FD-C6FB7D191681}"/>
          </ac:spMkLst>
        </pc:spChg>
        <pc:spChg chg="add mod">
          <ac:chgData name="Giannis Papadopoulos" userId="011f885267094b50" providerId="LiveId" clId="{1CA7F863-120F-4338-B7D1-787104A621F1}" dt="2026-09-19T19:22:54.146" v="1273" actId="26606"/>
          <ac:spMkLst>
            <pc:docMk/>
            <pc:sldMk cId="521238406" sldId="259"/>
            <ac:spMk id="5" creationId="{8EEF4348-B659-3DD7-F787-C04D22E69156}"/>
          </ac:spMkLst>
        </pc:spChg>
        <pc:spChg chg="add mod">
          <ac:chgData name="Giannis Papadopoulos" userId="011f885267094b50" providerId="LiveId" clId="{1CA7F863-120F-4338-B7D1-787104A621F1}" dt="2026-09-19T19:12:06.929" v="1182" actId="1076"/>
          <ac:spMkLst>
            <pc:docMk/>
            <pc:sldMk cId="521238406" sldId="259"/>
            <ac:spMk id="7" creationId="{531CAB1B-A869-E9C3-E783-A31F0A3C40E9}"/>
          </ac:spMkLst>
        </pc:spChg>
        <pc:spChg chg="add mod">
          <ac:chgData name="Giannis Papadopoulos" userId="011f885267094b50" providerId="LiveId" clId="{1CA7F863-120F-4338-B7D1-787104A621F1}" dt="2026-09-20T13:23:44.391" v="2716" actId="1076"/>
          <ac:spMkLst>
            <pc:docMk/>
            <pc:sldMk cId="521238406" sldId="259"/>
            <ac:spMk id="8" creationId="{A9EDFF96-0323-0F1C-8A0B-84A5794E5418}"/>
          </ac:spMkLst>
        </pc:spChg>
        <pc:spChg chg="add">
          <ac:chgData name="Giannis Papadopoulos" userId="011f885267094b50" providerId="LiveId" clId="{1CA7F863-120F-4338-B7D1-787104A621F1}" dt="2026-09-19T19:22:54.146" v="1273" actId="26606"/>
          <ac:spMkLst>
            <pc:docMk/>
            <pc:sldMk cId="521238406" sldId="259"/>
            <ac:spMk id="9" creationId="{1BB867FF-FC45-48F7-8104-F89BE54909F1}"/>
          </ac:spMkLst>
        </pc:spChg>
        <pc:spChg chg="add">
          <ac:chgData name="Giannis Papadopoulos" userId="011f885267094b50" providerId="LiveId" clId="{1CA7F863-120F-4338-B7D1-787104A621F1}" dt="2026-09-19T19:22:54.146" v="1273" actId="26606"/>
          <ac:spMkLst>
            <pc:docMk/>
            <pc:sldMk cId="521238406" sldId="259"/>
            <ac:spMk id="10" creationId="{8BB56887-D0D5-4F0C-9E19-7247EB83C8B7}"/>
          </ac:spMkLst>
        </pc:spChg>
        <pc:spChg chg="add">
          <ac:chgData name="Giannis Papadopoulos" userId="011f885267094b50" providerId="LiveId" clId="{1CA7F863-120F-4338-B7D1-787104A621F1}" dt="2026-09-19T19:22:54.146" v="1273" actId="26606"/>
          <ac:spMkLst>
            <pc:docMk/>
            <pc:sldMk cId="521238406" sldId="259"/>
            <ac:spMk id="11" creationId="{081E4A58-353D-44AE-B2FC-2A74E2E400F7}"/>
          </ac:spMkLst>
        </pc:spChg>
      </pc:sldChg>
      <pc:sldChg chg="addSp delSp modSp add mod ord">
        <pc:chgData name="Giannis Papadopoulos" userId="011f885267094b50" providerId="LiveId" clId="{1CA7F863-120F-4338-B7D1-787104A621F1}" dt="2026-09-20T13:26:15.176" v="2743" actId="5793"/>
        <pc:sldMkLst>
          <pc:docMk/>
          <pc:sldMk cId="3074991966" sldId="262"/>
        </pc:sldMkLst>
        <pc:spChg chg="mod">
          <ac:chgData name="Giannis Papadopoulos" userId="011f885267094b50" providerId="LiveId" clId="{1CA7F863-120F-4338-B7D1-787104A621F1}" dt="2026-09-19T20:06:39.849" v="1398" actId="20577"/>
          <ac:spMkLst>
            <pc:docMk/>
            <pc:sldMk cId="3074991966" sldId="262"/>
            <ac:spMk id="3" creationId="{173CF5DF-7BF9-CF3D-BDAB-4A54DF90786A}"/>
          </ac:spMkLst>
        </pc:spChg>
        <pc:spChg chg="add mod">
          <ac:chgData name="Giannis Papadopoulos" userId="011f885267094b50" providerId="LiveId" clId="{1CA7F863-120F-4338-B7D1-787104A621F1}" dt="2026-09-19T20:08:06.743" v="1423" actId="1076"/>
          <ac:spMkLst>
            <pc:docMk/>
            <pc:sldMk cId="3074991966" sldId="262"/>
            <ac:spMk id="4" creationId="{3E41E06B-69C1-530D-D0C2-4071C28E07E1}"/>
          </ac:spMkLst>
        </pc:spChg>
        <pc:spChg chg="add mod">
          <ac:chgData name="Giannis Papadopoulos" userId="011f885267094b50" providerId="LiveId" clId="{1CA7F863-120F-4338-B7D1-787104A621F1}" dt="2026-09-20T13:26:15.176" v="2743" actId="5793"/>
          <ac:spMkLst>
            <pc:docMk/>
            <pc:sldMk cId="3074991966" sldId="262"/>
            <ac:spMk id="8" creationId="{A81F5B89-2E00-6415-AE3F-5473E7233E37}"/>
          </ac:spMkLst>
        </pc:spChg>
      </pc:sldChg>
      <pc:sldChg chg="addSp modSp add mod ord">
        <pc:chgData name="Giannis Papadopoulos" userId="011f885267094b50" providerId="LiveId" clId="{1CA7F863-120F-4338-B7D1-787104A621F1}" dt="2026-09-20T23:24:43.855" v="2764" actId="1076"/>
        <pc:sldMkLst>
          <pc:docMk/>
          <pc:sldMk cId="2838436480" sldId="263"/>
        </pc:sldMkLst>
        <pc:spChg chg="add mod">
          <ac:chgData name="Giannis Papadopoulos" userId="011f885267094b50" providerId="LiveId" clId="{1CA7F863-120F-4338-B7D1-787104A621F1}" dt="2026-09-20T23:24:43.855" v="2764" actId="1076"/>
          <ac:spMkLst>
            <pc:docMk/>
            <pc:sldMk cId="2838436480" sldId="263"/>
            <ac:spMk id="4" creationId="{0E618640-C339-D870-4E96-0026A2624826}"/>
          </ac:spMkLst>
        </pc:spChg>
      </pc:sldChg>
      <pc:sldChg chg="add del ord">
        <pc:chgData name="Giannis Papadopoulos" userId="011f885267094b50" providerId="LiveId" clId="{1CA7F863-120F-4338-B7D1-787104A621F1}" dt="2026-09-22T05:31:53.524" v="2808" actId="47"/>
        <pc:sldMkLst>
          <pc:docMk/>
          <pc:sldMk cId="1789353731" sldId="264"/>
        </pc:sldMkLst>
      </pc:sldChg>
      <pc:sldChg chg="addSp delSp modSp add mod">
        <pc:chgData name="Giannis Papadopoulos" userId="011f885267094b50" providerId="LiveId" clId="{1CA7F863-120F-4338-B7D1-787104A621F1}" dt="2026-09-20T12:09:38.435" v="2648" actId="1076"/>
        <pc:sldMkLst>
          <pc:docMk/>
          <pc:sldMk cId="3723842047" sldId="265"/>
        </pc:sldMkLst>
        <pc:spChg chg="mod">
          <ac:chgData name="Giannis Papadopoulos" userId="011f885267094b50" providerId="LiveId" clId="{1CA7F863-120F-4338-B7D1-787104A621F1}" dt="2026-09-19T21:42:35.679" v="1660" actId="1076"/>
          <ac:spMkLst>
            <pc:docMk/>
            <pc:sldMk cId="3723842047" sldId="265"/>
            <ac:spMk id="3" creationId="{686092EE-F91D-C67A-FAC5-B90B03886822}"/>
          </ac:spMkLst>
        </pc:spChg>
        <pc:spChg chg="add mod">
          <ac:chgData name="Giannis Papadopoulos" userId="011f885267094b50" providerId="LiveId" clId="{1CA7F863-120F-4338-B7D1-787104A621F1}" dt="2026-09-19T21:42:47.376" v="1661" actId="207"/>
          <ac:spMkLst>
            <pc:docMk/>
            <pc:sldMk cId="3723842047" sldId="265"/>
            <ac:spMk id="4" creationId="{3EED7FA0-086B-F7F8-7062-1A5BB236F5C9}"/>
          </ac:spMkLst>
        </pc:spChg>
        <pc:spChg chg="add mod">
          <ac:chgData name="Giannis Papadopoulos" userId="011f885267094b50" providerId="LiveId" clId="{1CA7F863-120F-4338-B7D1-787104A621F1}" dt="2026-09-19T20:38:20.853" v="1569" actId="14100"/>
          <ac:spMkLst>
            <pc:docMk/>
            <pc:sldMk cId="3723842047" sldId="265"/>
            <ac:spMk id="13" creationId="{400CA7B2-7007-6225-EC6D-87890370B6F5}"/>
          </ac:spMkLst>
        </pc:spChg>
        <pc:spChg chg="add mod">
          <ac:chgData name="Giannis Papadopoulos" userId="011f885267094b50" providerId="LiveId" clId="{1CA7F863-120F-4338-B7D1-787104A621F1}" dt="2026-09-20T10:56:28.709" v="2466" actId="1076"/>
          <ac:spMkLst>
            <pc:docMk/>
            <pc:sldMk cId="3723842047" sldId="265"/>
            <ac:spMk id="20" creationId="{B0DF3BDC-E642-0E09-DE48-49D20919580A}"/>
          </ac:spMkLst>
        </pc:spChg>
        <pc:spChg chg="add mod">
          <ac:chgData name="Giannis Papadopoulos" userId="011f885267094b50" providerId="LiveId" clId="{1CA7F863-120F-4338-B7D1-787104A621F1}" dt="2026-09-20T12:09:38.435" v="2648" actId="1076"/>
          <ac:spMkLst>
            <pc:docMk/>
            <pc:sldMk cId="3723842047" sldId="265"/>
            <ac:spMk id="23" creationId="{B600ACD3-0E25-3CE5-E358-21A6948FFAA4}"/>
          </ac:spMkLst>
        </pc:spChg>
        <pc:spChg chg="add mod">
          <ac:chgData name="Giannis Papadopoulos" userId="011f885267094b50" providerId="LiveId" clId="{1CA7F863-120F-4338-B7D1-787104A621F1}" dt="2026-09-20T10:59:57.579" v="2572" actId="1076"/>
          <ac:spMkLst>
            <pc:docMk/>
            <pc:sldMk cId="3723842047" sldId="265"/>
            <ac:spMk id="24" creationId="{898978D0-4997-BF15-F05D-1ABA936E4F42}"/>
          </ac:spMkLst>
        </pc:spChg>
        <pc:spChg chg="add mod">
          <ac:chgData name="Giannis Papadopoulos" userId="011f885267094b50" providerId="LiveId" clId="{1CA7F863-120F-4338-B7D1-787104A621F1}" dt="2026-09-20T11:00:09.511" v="2574" actId="1076"/>
          <ac:spMkLst>
            <pc:docMk/>
            <pc:sldMk cId="3723842047" sldId="265"/>
            <ac:spMk id="26" creationId="{3FD608D5-2480-CEE1-C31E-9B0206290C33}"/>
          </ac:spMkLst>
        </pc:spChg>
        <pc:picChg chg="add mod">
          <ac:chgData name="Giannis Papadopoulos" userId="011f885267094b50" providerId="LiveId" clId="{1CA7F863-120F-4338-B7D1-787104A621F1}" dt="2026-09-19T20:36:34.766" v="1487" actId="1076"/>
          <ac:picMkLst>
            <pc:docMk/>
            <pc:sldMk cId="3723842047" sldId="265"/>
            <ac:picMk id="8" creationId="{AED517F1-74AB-201D-880C-CB70D83BF841}"/>
          </ac:picMkLst>
        </pc:picChg>
        <pc:picChg chg="add mod">
          <ac:chgData name="Giannis Papadopoulos" userId="011f885267094b50" providerId="LiveId" clId="{1CA7F863-120F-4338-B7D1-787104A621F1}" dt="2026-09-20T10:55:08.918" v="2464" actId="1076"/>
          <ac:picMkLst>
            <pc:docMk/>
            <pc:sldMk cId="3723842047" sldId="265"/>
            <ac:picMk id="16" creationId="{D14D1B3F-AFE4-3DAE-5858-2F13A05FD1D8}"/>
          </ac:picMkLst>
        </pc:picChg>
        <pc:picChg chg="add mod">
          <ac:chgData name="Giannis Papadopoulos" userId="011f885267094b50" providerId="LiveId" clId="{1CA7F863-120F-4338-B7D1-787104A621F1}" dt="2026-09-19T21:31:46.715" v="1596" actId="1076"/>
          <ac:picMkLst>
            <pc:docMk/>
            <pc:sldMk cId="3723842047" sldId="265"/>
            <ac:picMk id="18" creationId="{BD275FD8-F4C0-CE37-9222-4B7FD3A0AD15}"/>
          </ac:picMkLst>
        </pc:picChg>
        <pc:picChg chg="add mod">
          <ac:chgData name="Giannis Papadopoulos" userId="011f885267094b50" providerId="LiveId" clId="{1CA7F863-120F-4338-B7D1-787104A621F1}" dt="2026-09-20T10:54:55.767" v="2463" actId="14100"/>
          <ac:picMkLst>
            <pc:docMk/>
            <pc:sldMk cId="3723842047" sldId="265"/>
            <ac:picMk id="22" creationId="{BF180D59-5EE6-3C48-FDEE-D1C366E5A9BE}"/>
          </ac:picMkLst>
        </pc:picChg>
      </pc:sldChg>
      <pc:sldChg chg="addSp delSp modSp add mod">
        <pc:chgData name="Giannis Papadopoulos" userId="011f885267094b50" providerId="LiveId" clId="{1CA7F863-120F-4338-B7D1-787104A621F1}" dt="2026-09-20T10:44:29.547" v="2456" actId="1076"/>
        <pc:sldMkLst>
          <pc:docMk/>
          <pc:sldMk cId="3954102873" sldId="266"/>
        </pc:sldMkLst>
        <pc:spChg chg="add mod">
          <ac:chgData name="Giannis Papadopoulos" userId="011f885267094b50" providerId="LiveId" clId="{1CA7F863-120F-4338-B7D1-787104A621F1}" dt="2026-09-19T21:42:06.452" v="1655" actId="207"/>
          <ac:spMkLst>
            <pc:docMk/>
            <pc:sldMk cId="3954102873" sldId="266"/>
            <ac:spMk id="4" creationId="{4F60AAFE-EE09-1D6A-372C-94E04D0E19FE}"/>
          </ac:spMkLst>
        </pc:spChg>
        <pc:picChg chg="add mod">
          <ac:chgData name="Giannis Papadopoulos" userId="011f885267094b50" providerId="LiveId" clId="{1CA7F863-120F-4338-B7D1-787104A621F1}" dt="2026-09-19T21:54:10.926" v="1681" actId="1076"/>
          <ac:picMkLst>
            <pc:docMk/>
            <pc:sldMk cId="3954102873" sldId="266"/>
            <ac:picMk id="6" creationId="{8EDB58D1-1610-D956-16E2-D6B04AB0CFE9}"/>
          </ac:picMkLst>
        </pc:picChg>
        <pc:picChg chg="add mod">
          <ac:chgData name="Giannis Papadopoulos" userId="011f885267094b50" providerId="LiveId" clId="{1CA7F863-120F-4338-B7D1-787104A621F1}" dt="2026-09-19T21:54:24.774" v="1687" actId="14100"/>
          <ac:picMkLst>
            <pc:docMk/>
            <pc:sldMk cId="3954102873" sldId="266"/>
            <ac:picMk id="8" creationId="{BA2F30A1-1A7E-0B47-A2D0-EA8E07C1679A}"/>
          </ac:picMkLst>
        </pc:picChg>
        <pc:picChg chg="add mod">
          <ac:chgData name="Giannis Papadopoulos" userId="011f885267094b50" providerId="LiveId" clId="{1CA7F863-120F-4338-B7D1-787104A621F1}" dt="2026-09-19T22:14:37.736" v="1725" actId="1076"/>
          <ac:picMkLst>
            <pc:docMk/>
            <pc:sldMk cId="3954102873" sldId="266"/>
            <ac:picMk id="15" creationId="{AD551E66-BC6C-3C77-8DA0-5177B5184880}"/>
          </ac:picMkLst>
        </pc:picChg>
        <pc:picChg chg="add mod">
          <ac:chgData name="Giannis Papadopoulos" userId="011f885267094b50" providerId="LiveId" clId="{1CA7F863-120F-4338-B7D1-787104A621F1}" dt="2026-09-20T10:44:29.547" v="2456" actId="1076"/>
          <ac:picMkLst>
            <pc:docMk/>
            <pc:sldMk cId="3954102873" sldId="266"/>
            <ac:picMk id="17" creationId="{A27E69F5-FA78-D031-1CC0-A57237E27835}"/>
          </ac:picMkLst>
        </pc:picChg>
      </pc:sldChg>
      <pc:sldChg chg="addSp delSp modSp add mod">
        <pc:chgData name="Giannis Papadopoulos" userId="011f885267094b50" providerId="LiveId" clId="{1CA7F863-120F-4338-B7D1-787104A621F1}" dt="2026-09-20T11:02:00.004" v="2577"/>
        <pc:sldMkLst>
          <pc:docMk/>
          <pc:sldMk cId="3446151945" sldId="267"/>
        </pc:sldMkLst>
        <pc:spChg chg="add mod">
          <ac:chgData name="Giannis Papadopoulos" userId="011f885267094b50" providerId="LiveId" clId="{1CA7F863-120F-4338-B7D1-787104A621F1}" dt="2026-09-19T22:09:39.367" v="1717" actId="20577"/>
          <ac:spMkLst>
            <pc:docMk/>
            <pc:sldMk cId="3446151945" sldId="267"/>
            <ac:spMk id="4" creationId="{3D7C086C-7CB0-B6CE-642F-CC93F2CF5A3B}"/>
          </ac:spMkLst>
        </pc:spChg>
        <pc:spChg chg="add mod">
          <ac:chgData name="Giannis Papadopoulos" userId="011f885267094b50" providerId="LiveId" clId="{1CA7F863-120F-4338-B7D1-787104A621F1}" dt="2026-09-19T22:20:19.591" v="1741" actId="255"/>
          <ac:spMkLst>
            <pc:docMk/>
            <pc:sldMk cId="3446151945" sldId="267"/>
            <ac:spMk id="15" creationId="{897D06BF-AC29-50F8-4597-822D6F7AFA1A}"/>
          </ac:spMkLst>
        </pc:spChg>
        <pc:spChg chg="add mod">
          <ac:chgData name="Giannis Papadopoulos" userId="011f885267094b50" providerId="LiveId" clId="{1CA7F863-120F-4338-B7D1-787104A621F1}" dt="2026-09-20T11:02:00.004" v="2577"/>
          <ac:spMkLst>
            <pc:docMk/>
            <pc:sldMk cId="3446151945" sldId="267"/>
            <ac:spMk id="16" creationId="{70BA85E4-B2F9-C75C-B600-7B01C6C2137F}"/>
          </ac:spMkLst>
        </pc:spChg>
        <pc:picChg chg="add mod">
          <ac:chgData name="Giannis Papadopoulos" userId="011f885267094b50" providerId="LiveId" clId="{1CA7F863-120F-4338-B7D1-787104A621F1}" dt="2026-09-19T22:16:43.959" v="1729" actId="14100"/>
          <ac:picMkLst>
            <pc:docMk/>
            <pc:sldMk cId="3446151945" sldId="267"/>
            <ac:picMk id="7" creationId="{EB7DDB20-0317-EAB7-446C-9E621482A7BC}"/>
          </ac:picMkLst>
        </pc:picChg>
        <pc:picChg chg="add mod">
          <ac:chgData name="Giannis Papadopoulos" userId="011f885267094b50" providerId="LiveId" clId="{1CA7F863-120F-4338-B7D1-787104A621F1}" dt="2026-09-19T22:19:37.095" v="1732" actId="14100"/>
          <ac:picMkLst>
            <pc:docMk/>
            <pc:sldMk cId="3446151945" sldId="267"/>
            <ac:picMk id="8" creationId="{396D2674-376C-2F81-64F1-5EDFD90AAB52}"/>
          </ac:picMkLst>
        </pc:picChg>
      </pc:sldChg>
      <pc:sldChg chg="addSp delSp modSp add mod">
        <pc:chgData name="Giannis Papadopoulos" userId="011f885267094b50" providerId="LiveId" clId="{1CA7F863-120F-4338-B7D1-787104A621F1}" dt="2026-09-20T10:19:21.557" v="2450" actId="14100"/>
        <pc:sldMkLst>
          <pc:docMk/>
          <pc:sldMk cId="1819578503" sldId="268"/>
        </pc:sldMkLst>
        <pc:spChg chg="add mod">
          <ac:chgData name="Giannis Papadopoulos" userId="011f885267094b50" providerId="LiveId" clId="{1CA7F863-120F-4338-B7D1-787104A621F1}" dt="2026-09-20T05:54:32.470" v="2051" actId="1076"/>
          <ac:spMkLst>
            <pc:docMk/>
            <pc:sldMk cId="1819578503" sldId="268"/>
            <ac:spMk id="8" creationId="{23DA5698-EF46-8DF7-6EBA-BF1366FF7970}"/>
          </ac:spMkLst>
        </pc:spChg>
        <pc:picChg chg="add mod">
          <ac:chgData name="Giannis Papadopoulos" userId="011f885267094b50" providerId="LiveId" clId="{1CA7F863-120F-4338-B7D1-787104A621F1}" dt="2026-09-20T05:54:34.725" v="2052" actId="1076"/>
          <ac:picMkLst>
            <pc:docMk/>
            <pc:sldMk cId="1819578503" sldId="268"/>
            <ac:picMk id="6" creationId="{57DEE269-C414-F299-447E-D7653232794D}"/>
          </ac:picMkLst>
        </pc:picChg>
        <pc:picChg chg="add mod">
          <ac:chgData name="Giannis Papadopoulos" userId="011f885267094b50" providerId="LiveId" clId="{1CA7F863-120F-4338-B7D1-787104A621F1}" dt="2026-09-20T05:56:01.805" v="2056" actId="1076"/>
          <ac:picMkLst>
            <pc:docMk/>
            <pc:sldMk cId="1819578503" sldId="268"/>
            <ac:picMk id="13" creationId="{FC7FE8BA-6D69-3106-A9A3-B816E207EEDA}"/>
          </ac:picMkLst>
        </pc:picChg>
        <pc:picChg chg="add mod">
          <ac:chgData name="Giannis Papadopoulos" userId="011f885267094b50" providerId="LiveId" clId="{1CA7F863-120F-4338-B7D1-787104A621F1}" dt="2026-09-20T05:57:52.758" v="2077" actId="1076"/>
          <ac:picMkLst>
            <pc:docMk/>
            <pc:sldMk cId="1819578503" sldId="268"/>
            <ac:picMk id="15" creationId="{727ED431-B18C-A0DF-D7ED-A03AA1FE49A3}"/>
          </ac:picMkLst>
        </pc:picChg>
        <pc:picChg chg="add mod">
          <ac:chgData name="Giannis Papadopoulos" userId="011f885267094b50" providerId="LiveId" clId="{1CA7F863-120F-4338-B7D1-787104A621F1}" dt="2026-09-20T05:57:38.291" v="2074" actId="1076"/>
          <ac:picMkLst>
            <pc:docMk/>
            <pc:sldMk cId="1819578503" sldId="268"/>
            <ac:picMk id="17" creationId="{0B5E4897-B830-293C-ED2D-45169FD867F7}"/>
          </ac:picMkLst>
        </pc:picChg>
        <pc:picChg chg="add mod">
          <ac:chgData name="Giannis Papadopoulos" userId="011f885267094b50" providerId="LiveId" clId="{1CA7F863-120F-4338-B7D1-787104A621F1}" dt="2026-09-20T10:19:21.557" v="2450" actId="14100"/>
          <ac:picMkLst>
            <pc:docMk/>
            <pc:sldMk cId="1819578503" sldId="268"/>
            <ac:picMk id="19" creationId="{5400038F-70A8-C0DF-425F-7474C3557449}"/>
          </ac:picMkLst>
        </pc:picChg>
      </pc:sldChg>
      <pc:sldChg chg="addSp modSp add mod">
        <pc:chgData name="Giannis Papadopoulos" userId="011f885267094b50" providerId="LiveId" clId="{1CA7F863-120F-4338-B7D1-787104A621F1}" dt="2026-09-20T06:18:30.439" v="2120" actId="14100"/>
        <pc:sldMkLst>
          <pc:docMk/>
          <pc:sldMk cId="1139175737" sldId="269"/>
        </pc:sldMkLst>
        <pc:spChg chg="add mod">
          <ac:chgData name="Giannis Papadopoulos" userId="011f885267094b50" providerId="LiveId" clId="{1CA7F863-120F-4338-B7D1-787104A621F1}" dt="2026-09-20T06:18:30.439" v="2120" actId="14100"/>
          <ac:spMkLst>
            <pc:docMk/>
            <pc:sldMk cId="1139175737" sldId="269"/>
            <ac:spMk id="4" creationId="{432B2D17-D3F9-9F39-862F-9CEF4556F785}"/>
          </ac:spMkLst>
        </pc:spChg>
        <pc:picChg chg="add mod">
          <ac:chgData name="Giannis Papadopoulos" userId="011f885267094b50" providerId="LiveId" clId="{1CA7F863-120F-4338-B7D1-787104A621F1}" dt="2026-09-20T06:16:16.983" v="2107" actId="14100"/>
          <ac:picMkLst>
            <pc:docMk/>
            <pc:sldMk cId="1139175737" sldId="269"/>
            <ac:picMk id="5" creationId="{C291EF41-F01C-B66F-3547-709A4D263C92}"/>
          </ac:picMkLst>
        </pc:picChg>
        <pc:picChg chg="add mod">
          <ac:chgData name="Giannis Papadopoulos" userId="011f885267094b50" providerId="LiveId" clId="{1CA7F863-120F-4338-B7D1-787104A621F1}" dt="2026-09-20T06:16:05.144" v="2104" actId="1076"/>
          <ac:picMkLst>
            <pc:docMk/>
            <pc:sldMk cId="1139175737" sldId="269"/>
            <ac:picMk id="7" creationId="{AA089528-55C0-EA98-7775-229C2F1616DF}"/>
          </ac:picMkLst>
        </pc:picChg>
      </pc:sldChg>
      <pc:sldChg chg="addSp delSp modSp add mod ord">
        <pc:chgData name="Giannis Papadopoulos" userId="011f885267094b50" providerId="LiveId" clId="{1CA7F863-120F-4338-B7D1-787104A621F1}" dt="2026-09-20T12:13:23.085" v="2695" actId="1076"/>
        <pc:sldMkLst>
          <pc:docMk/>
          <pc:sldMk cId="2431799109" sldId="270"/>
        </pc:sldMkLst>
        <pc:spChg chg="add mod">
          <ac:chgData name="Giannis Papadopoulos" userId="011f885267094b50" providerId="LiveId" clId="{1CA7F863-120F-4338-B7D1-787104A621F1}" dt="2026-09-20T06:19:43.069" v="2122" actId="14100"/>
          <ac:spMkLst>
            <pc:docMk/>
            <pc:sldMk cId="2431799109" sldId="270"/>
            <ac:spMk id="4" creationId="{4700B1E8-5B65-0354-CD6E-DC46CADDFE92}"/>
          </ac:spMkLst>
        </pc:spChg>
        <pc:spChg chg="add mod">
          <ac:chgData name="Giannis Papadopoulos" userId="011f885267094b50" providerId="LiveId" clId="{1CA7F863-120F-4338-B7D1-787104A621F1}" dt="2026-09-19T22:29:56.950" v="1997" actId="1076"/>
          <ac:spMkLst>
            <pc:docMk/>
            <pc:sldMk cId="2431799109" sldId="270"/>
            <ac:spMk id="6" creationId="{346E12E2-A2DE-D085-C466-5FF66E8FC2CC}"/>
          </ac:spMkLst>
        </pc:spChg>
        <pc:spChg chg="add mod">
          <ac:chgData name="Giannis Papadopoulos" userId="011f885267094b50" providerId="LiveId" clId="{1CA7F863-120F-4338-B7D1-787104A621F1}" dt="2026-09-20T05:43:58.451" v="2005" actId="1076"/>
          <ac:spMkLst>
            <pc:docMk/>
            <pc:sldMk cId="2431799109" sldId="270"/>
            <ac:spMk id="13" creationId="{4B1F33E9-524E-D904-FD53-08527CC00899}"/>
          </ac:spMkLst>
        </pc:spChg>
        <pc:spChg chg="add mod">
          <ac:chgData name="Giannis Papadopoulos" userId="011f885267094b50" providerId="LiveId" clId="{1CA7F863-120F-4338-B7D1-787104A621F1}" dt="2026-09-20T12:13:04.953" v="2693" actId="20577"/>
          <ac:spMkLst>
            <pc:docMk/>
            <pc:sldMk cId="2431799109" sldId="270"/>
            <ac:spMk id="25" creationId="{0C087909-EEA5-DC46-9031-C2591F3AB036}"/>
          </ac:spMkLst>
        </pc:spChg>
        <pc:spChg chg="add mod">
          <ac:chgData name="Giannis Papadopoulos" userId="011f885267094b50" providerId="LiveId" clId="{1CA7F863-120F-4338-B7D1-787104A621F1}" dt="2026-09-20T12:13:23.085" v="2695" actId="1076"/>
          <ac:spMkLst>
            <pc:docMk/>
            <pc:sldMk cId="2431799109" sldId="270"/>
            <ac:spMk id="27" creationId="{E460399D-7CFB-399E-1DD2-47B193AEB81B}"/>
          </ac:spMkLst>
        </pc:spChg>
        <pc:picChg chg="add mod">
          <ac:chgData name="Giannis Papadopoulos" userId="011f885267094b50" providerId="LiveId" clId="{1CA7F863-120F-4338-B7D1-787104A621F1}" dt="2026-09-19T22:32:05.624" v="2000" actId="14100"/>
          <ac:picMkLst>
            <pc:docMk/>
            <pc:sldMk cId="2431799109" sldId="270"/>
            <ac:picMk id="8" creationId="{8FA9219D-8BFC-8F83-EE06-37A375D38E34}"/>
          </ac:picMkLst>
        </pc:picChg>
        <pc:picChg chg="add mod">
          <ac:chgData name="Giannis Papadopoulos" userId="011f885267094b50" providerId="LiveId" clId="{1CA7F863-120F-4338-B7D1-787104A621F1}" dt="2026-09-20T10:18:39.028" v="2441" actId="1076"/>
          <ac:picMkLst>
            <pc:docMk/>
            <pc:sldMk cId="2431799109" sldId="270"/>
            <ac:picMk id="15" creationId="{860E2E88-9EE9-143B-BD1A-85F2FE82DCCB}"/>
          </ac:picMkLst>
        </pc:picChg>
        <pc:picChg chg="add mod">
          <ac:chgData name="Giannis Papadopoulos" userId="011f885267094b50" providerId="LiveId" clId="{1CA7F863-120F-4338-B7D1-787104A621F1}" dt="2026-09-20T05:50:16.604" v="2029" actId="14100"/>
          <ac:picMkLst>
            <pc:docMk/>
            <pc:sldMk cId="2431799109" sldId="270"/>
            <ac:picMk id="19" creationId="{525CAD34-D834-23D7-8DFB-FD06999DE393}"/>
          </ac:picMkLst>
        </pc:picChg>
        <pc:picChg chg="add mod">
          <ac:chgData name="Giannis Papadopoulos" userId="011f885267094b50" providerId="LiveId" clId="{1CA7F863-120F-4338-B7D1-787104A621F1}" dt="2026-09-20T11:03:30.316" v="2581" actId="1076"/>
          <ac:picMkLst>
            <pc:docMk/>
            <pc:sldMk cId="2431799109" sldId="270"/>
            <ac:picMk id="23" creationId="{0ED66987-4341-B4F0-3DD2-E167BA83DE83}"/>
          </ac:picMkLst>
        </pc:picChg>
      </pc:sldChg>
      <pc:sldChg chg="addSp delSp modSp add mod">
        <pc:chgData name="Giannis Papadopoulos" userId="011f885267094b50" providerId="LiveId" clId="{1CA7F863-120F-4338-B7D1-787104A621F1}" dt="2026-09-20T11:29:19.173" v="2605" actId="1076"/>
        <pc:sldMkLst>
          <pc:docMk/>
          <pc:sldMk cId="727561384" sldId="271"/>
        </pc:sldMkLst>
        <pc:spChg chg="add mod">
          <ac:chgData name="Giannis Papadopoulos" userId="011f885267094b50" providerId="LiveId" clId="{1CA7F863-120F-4338-B7D1-787104A621F1}" dt="2026-09-20T06:20:12.844" v="2170" actId="20577"/>
          <ac:spMkLst>
            <pc:docMk/>
            <pc:sldMk cId="727561384" sldId="271"/>
            <ac:spMk id="4" creationId="{77AA5AD3-B369-E94C-4A97-803AF965043F}"/>
          </ac:spMkLst>
        </pc:spChg>
        <pc:picChg chg="add mod">
          <ac:chgData name="Giannis Papadopoulos" userId="011f885267094b50" providerId="LiveId" clId="{1CA7F863-120F-4338-B7D1-787104A621F1}" dt="2026-09-20T11:14:44.332" v="2587" actId="1076"/>
          <ac:picMkLst>
            <pc:docMk/>
            <pc:sldMk cId="727561384" sldId="271"/>
            <ac:picMk id="8" creationId="{902515FE-F566-6A4D-D3C8-95CF98A00DEB}"/>
          </ac:picMkLst>
        </pc:picChg>
        <pc:picChg chg="add mod">
          <ac:chgData name="Giannis Papadopoulos" userId="011f885267094b50" providerId="LiveId" clId="{1CA7F863-120F-4338-B7D1-787104A621F1}" dt="2026-09-20T11:14:39.339" v="2586" actId="14100"/>
          <ac:picMkLst>
            <pc:docMk/>
            <pc:sldMk cId="727561384" sldId="271"/>
            <ac:picMk id="13" creationId="{0B30E736-1583-35AD-7471-8D2BB5BB4D43}"/>
          </ac:picMkLst>
        </pc:picChg>
        <pc:picChg chg="add mod">
          <ac:chgData name="Giannis Papadopoulos" userId="011f885267094b50" providerId="LiveId" clId="{1CA7F863-120F-4338-B7D1-787104A621F1}" dt="2026-09-20T11:29:19.173" v="2605" actId="1076"/>
          <ac:picMkLst>
            <pc:docMk/>
            <pc:sldMk cId="727561384" sldId="271"/>
            <ac:picMk id="15" creationId="{B805A742-454D-782A-D61B-025815B7449E}"/>
          </ac:picMkLst>
        </pc:picChg>
      </pc:sldChg>
      <pc:sldChg chg="addSp delSp modSp add mod">
        <pc:chgData name="Giannis Papadopoulos" userId="011f885267094b50" providerId="LiveId" clId="{1CA7F863-120F-4338-B7D1-787104A621F1}" dt="2026-09-20T11:28:39.432" v="2598" actId="1076"/>
        <pc:sldMkLst>
          <pc:docMk/>
          <pc:sldMk cId="510711994" sldId="272"/>
        </pc:sldMkLst>
        <pc:spChg chg="add mod">
          <ac:chgData name="Giannis Papadopoulos" userId="011f885267094b50" providerId="LiveId" clId="{1CA7F863-120F-4338-B7D1-787104A621F1}" dt="2026-09-20T06:46:11.107" v="2194" actId="1076"/>
          <ac:spMkLst>
            <pc:docMk/>
            <pc:sldMk cId="510711994" sldId="272"/>
            <ac:spMk id="6" creationId="{09480CCB-60D6-8A3D-1717-792F72260684}"/>
          </ac:spMkLst>
        </pc:spChg>
        <pc:picChg chg="add mod">
          <ac:chgData name="Giannis Papadopoulos" userId="011f885267094b50" providerId="LiveId" clId="{1CA7F863-120F-4338-B7D1-787104A621F1}" dt="2026-09-20T06:45:16.809" v="2189" actId="14100"/>
          <ac:picMkLst>
            <pc:docMk/>
            <pc:sldMk cId="510711994" sldId="272"/>
            <ac:picMk id="2" creationId="{2E7A8B06-08F5-C30A-E7F1-DB1685752009}"/>
          </ac:picMkLst>
        </pc:picChg>
        <pc:picChg chg="add mod">
          <ac:chgData name="Giannis Papadopoulos" userId="011f885267094b50" providerId="LiveId" clId="{1CA7F863-120F-4338-B7D1-787104A621F1}" dt="2026-09-20T11:15:36.922" v="2595" actId="1076"/>
          <ac:picMkLst>
            <pc:docMk/>
            <pc:sldMk cId="510711994" sldId="272"/>
            <ac:picMk id="8" creationId="{DDE333DB-6894-44DC-8648-F46772EFF2A2}"/>
          </ac:picMkLst>
        </pc:picChg>
        <pc:picChg chg="add mod">
          <ac:chgData name="Giannis Papadopoulos" userId="011f885267094b50" providerId="LiveId" clId="{1CA7F863-120F-4338-B7D1-787104A621F1}" dt="2026-09-20T11:28:39.432" v="2598" actId="1076"/>
          <ac:picMkLst>
            <pc:docMk/>
            <pc:sldMk cId="510711994" sldId="272"/>
            <ac:picMk id="13" creationId="{72829E9D-4C79-0F72-E922-DE1697EF74C3}"/>
          </ac:picMkLst>
        </pc:picChg>
      </pc:sldChg>
      <pc:sldChg chg="addSp modSp add mod">
        <pc:chgData name="Giannis Papadopoulos" userId="011f885267094b50" providerId="LiveId" clId="{1CA7F863-120F-4338-B7D1-787104A621F1}" dt="2026-09-20T11:35:43.663" v="2610" actId="14100"/>
        <pc:sldMkLst>
          <pc:docMk/>
          <pc:sldMk cId="274256055" sldId="273"/>
        </pc:sldMkLst>
        <pc:spChg chg="add mod">
          <ac:chgData name="Giannis Papadopoulos" userId="011f885267094b50" providerId="LiveId" clId="{1CA7F863-120F-4338-B7D1-787104A621F1}" dt="2026-09-20T06:48:12.781" v="2220" actId="20577"/>
          <ac:spMkLst>
            <pc:docMk/>
            <pc:sldMk cId="274256055" sldId="273"/>
            <ac:spMk id="4" creationId="{C6FEFC40-C459-2C91-3251-843279566523}"/>
          </ac:spMkLst>
        </pc:spChg>
        <pc:spChg chg="add mod">
          <ac:chgData name="Giannis Papadopoulos" userId="011f885267094b50" providerId="LiveId" clId="{1CA7F863-120F-4338-B7D1-787104A621F1}" dt="2026-09-20T06:48:57.177" v="2226" actId="1076"/>
          <ac:spMkLst>
            <pc:docMk/>
            <pc:sldMk cId="274256055" sldId="273"/>
            <ac:spMk id="6" creationId="{C0E89942-10DA-944E-CFF4-84361808C02A}"/>
          </ac:spMkLst>
        </pc:spChg>
        <pc:spChg chg="add mod">
          <ac:chgData name="Giannis Papadopoulos" userId="011f885267094b50" providerId="LiveId" clId="{1CA7F863-120F-4338-B7D1-787104A621F1}" dt="2026-09-20T06:50:49.180" v="2231" actId="1076"/>
          <ac:spMkLst>
            <pc:docMk/>
            <pc:sldMk cId="274256055" sldId="273"/>
            <ac:spMk id="8" creationId="{1FAFDB3F-251A-1FF9-D8BD-26456FBB7C11}"/>
          </ac:spMkLst>
        </pc:spChg>
        <pc:spChg chg="add mod">
          <ac:chgData name="Giannis Papadopoulos" userId="011f885267094b50" providerId="LiveId" clId="{1CA7F863-120F-4338-B7D1-787104A621F1}" dt="2026-09-20T06:53:05.446" v="2253" actId="1076"/>
          <ac:spMkLst>
            <pc:docMk/>
            <pc:sldMk cId="274256055" sldId="273"/>
            <ac:spMk id="15" creationId="{89F84B18-951D-22C8-BDBB-D6866CE07169}"/>
          </ac:spMkLst>
        </pc:spChg>
        <pc:picChg chg="add mod">
          <ac:chgData name="Giannis Papadopoulos" userId="011f885267094b50" providerId="LiveId" clId="{1CA7F863-120F-4338-B7D1-787104A621F1}" dt="2026-09-20T06:51:44.300" v="2239" actId="1076"/>
          <ac:picMkLst>
            <pc:docMk/>
            <pc:sldMk cId="274256055" sldId="273"/>
            <ac:picMk id="12" creationId="{60F2045C-6FD0-62FF-6B83-734E2D99DFF4}"/>
          </ac:picMkLst>
        </pc:picChg>
        <pc:picChg chg="add mod">
          <ac:chgData name="Giannis Papadopoulos" userId="011f885267094b50" providerId="LiveId" clId="{1CA7F863-120F-4338-B7D1-787104A621F1}" dt="2026-09-20T06:53:08.428" v="2254" actId="1076"/>
          <ac:picMkLst>
            <pc:docMk/>
            <pc:sldMk cId="274256055" sldId="273"/>
            <ac:picMk id="13" creationId="{63C90454-1CE5-0ED7-3F7E-87B1AFF29D97}"/>
          </ac:picMkLst>
        </pc:picChg>
        <pc:picChg chg="add mod">
          <ac:chgData name="Giannis Papadopoulos" userId="011f885267094b50" providerId="LiveId" clId="{1CA7F863-120F-4338-B7D1-787104A621F1}" dt="2026-09-20T11:35:43.663" v="2610" actId="14100"/>
          <ac:picMkLst>
            <pc:docMk/>
            <pc:sldMk cId="274256055" sldId="273"/>
            <ac:picMk id="17" creationId="{52CD768C-F97B-E5C9-7CD5-7B58ADAEC17A}"/>
          </ac:picMkLst>
        </pc:picChg>
      </pc:sldChg>
      <pc:sldChg chg="addSp delSp modSp add mod">
        <pc:chgData name="Giannis Papadopoulos" userId="011f885267094b50" providerId="LiveId" clId="{1CA7F863-120F-4338-B7D1-787104A621F1}" dt="2026-09-20T06:55:51.753" v="2282"/>
        <pc:sldMkLst>
          <pc:docMk/>
          <pc:sldMk cId="1997431554" sldId="274"/>
        </pc:sldMkLst>
        <pc:spChg chg="add mod">
          <ac:chgData name="Giannis Papadopoulos" userId="011f885267094b50" providerId="LiveId" clId="{1CA7F863-120F-4338-B7D1-787104A621F1}" dt="2026-09-20T06:54:12.089" v="2259" actId="14100"/>
          <ac:spMkLst>
            <pc:docMk/>
            <pc:sldMk cId="1997431554" sldId="274"/>
            <ac:spMk id="4" creationId="{760C0072-05F3-4B98-2CD1-49542353B923}"/>
          </ac:spMkLst>
        </pc:spChg>
        <pc:spChg chg="add mod">
          <ac:chgData name="Giannis Papadopoulos" userId="011f885267094b50" providerId="LiveId" clId="{1CA7F863-120F-4338-B7D1-787104A621F1}" dt="2026-09-20T06:55:37.455" v="2278" actId="1076"/>
          <ac:spMkLst>
            <pc:docMk/>
            <pc:sldMk cId="1997431554" sldId="274"/>
            <ac:spMk id="7" creationId="{8392A11B-3D47-F5D7-A0C3-19FF13B016C4}"/>
          </ac:spMkLst>
        </pc:spChg>
        <pc:picChg chg="add mod">
          <ac:chgData name="Giannis Papadopoulos" userId="011f885267094b50" providerId="LiveId" clId="{1CA7F863-120F-4338-B7D1-787104A621F1}" dt="2026-09-20T06:55:42.263" v="2279" actId="1076"/>
          <ac:picMkLst>
            <pc:docMk/>
            <pc:sldMk cId="1997431554" sldId="274"/>
            <ac:picMk id="5" creationId="{4096CD47-BEC2-1430-DABB-9146B2659103}"/>
          </ac:picMkLst>
        </pc:picChg>
        <pc:picChg chg="add mod">
          <ac:chgData name="Giannis Papadopoulos" userId="011f885267094b50" providerId="LiveId" clId="{1CA7F863-120F-4338-B7D1-787104A621F1}" dt="2026-09-20T06:55:21.345" v="2275" actId="14100"/>
          <ac:picMkLst>
            <pc:docMk/>
            <pc:sldMk cId="1997431554" sldId="274"/>
            <ac:picMk id="8" creationId="{A3BDAF87-0725-6A5E-C882-5AC9F667B586}"/>
          </ac:picMkLst>
        </pc:picChg>
      </pc:sldChg>
      <pc:sldChg chg="addSp delSp modSp add mod">
        <pc:chgData name="Giannis Papadopoulos" userId="011f885267094b50" providerId="LiveId" clId="{1CA7F863-120F-4338-B7D1-787104A621F1}" dt="2026-09-21T06:46:35.148" v="2807" actId="20577"/>
        <pc:sldMkLst>
          <pc:docMk/>
          <pc:sldMk cId="833664483" sldId="275"/>
        </pc:sldMkLst>
        <pc:spChg chg="mod">
          <ac:chgData name="Giannis Papadopoulos" userId="011f885267094b50" providerId="LiveId" clId="{1CA7F863-120F-4338-B7D1-787104A621F1}" dt="2026-09-20T07:51:46.350" v="2372" actId="1076"/>
          <ac:spMkLst>
            <pc:docMk/>
            <pc:sldMk cId="833664483" sldId="275"/>
            <ac:spMk id="3" creationId="{2143D852-9CCF-A99E-6C4E-2CAC49D1557C}"/>
          </ac:spMkLst>
        </pc:spChg>
        <pc:spChg chg="add mod">
          <ac:chgData name="Giannis Papadopoulos" userId="011f885267094b50" providerId="LiveId" clId="{1CA7F863-120F-4338-B7D1-787104A621F1}" dt="2026-09-20T07:00:55.056" v="2335" actId="20577"/>
          <ac:spMkLst>
            <pc:docMk/>
            <pc:sldMk cId="833664483" sldId="275"/>
            <ac:spMk id="4" creationId="{E9CDFC1E-2F9E-2A81-BE24-EAD3BA565CD6}"/>
          </ac:spMkLst>
        </pc:spChg>
        <pc:spChg chg="add mod">
          <ac:chgData name="Giannis Papadopoulos" userId="011f885267094b50" providerId="LiveId" clId="{1CA7F863-120F-4338-B7D1-787104A621F1}" dt="2026-09-20T07:03:47.170" v="2350" actId="1076"/>
          <ac:spMkLst>
            <pc:docMk/>
            <pc:sldMk cId="833664483" sldId="275"/>
            <ac:spMk id="7" creationId="{B314724E-B25D-E1E1-3635-6A7725F1DB20}"/>
          </ac:spMkLst>
        </pc:spChg>
        <pc:spChg chg="add mod">
          <ac:chgData name="Giannis Papadopoulos" userId="011f885267094b50" providerId="LiveId" clId="{1CA7F863-120F-4338-B7D1-787104A621F1}" dt="2026-09-20T07:03:53.990" v="2352" actId="14100"/>
          <ac:spMkLst>
            <pc:docMk/>
            <pc:sldMk cId="833664483" sldId="275"/>
            <ac:spMk id="12" creationId="{D47B3C8A-AFB4-4D03-880A-3017EBAB8EF4}"/>
          </ac:spMkLst>
        </pc:spChg>
        <pc:spChg chg="add mod">
          <ac:chgData name="Giannis Papadopoulos" userId="011f885267094b50" providerId="LiveId" clId="{1CA7F863-120F-4338-B7D1-787104A621F1}" dt="2026-09-20T07:08:26.559" v="2364" actId="1076"/>
          <ac:spMkLst>
            <pc:docMk/>
            <pc:sldMk cId="833664483" sldId="275"/>
            <ac:spMk id="14" creationId="{7E67B214-0C8C-16F3-7B74-D522050AA9EB}"/>
          </ac:spMkLst>
        </pc:spChg>
        <pc:spChg chg="add mod">
          <ac:chgData name="Giannis Papadopoulos" userId="011f885267094b50" providerId="LiveId" clId="{1CA7F863-120F-4338-B7D1-787104A621F1}" dt="2026-09-20T07:50:24.623" v="2368" actId="1076"/>
          <ac:spMkLst>
            <pc:docMk/>
            <pc:sldMk cId="833664483" sldId="275"/>
            <ac:spMk id="16" creationId="{9E2EE232-827D-E034-9C74-ED6032738A27}"/>
          </ac:spMkLst>
        </pc:spChg>
        <pc:spChg chg="add mod">
          <ac:chgData name="Giannis Papadopoulos" userId="011f885267094b50" providerId="LiveId" clId="{1CA7F863-120F-4338-B7D1-787104A621F1}" dt="2026-09-20T07:54:11.429" v="2382" actId="1076"/>
          <ac:spMkLst>
            <pc:docMk/>
            <pc:sldMk cId="833664483" sldId="275"/>
            <ac:spMk id="18" creationId="{ECE6FC11-0DEF-4DB5-769B-B7526EF4A3D1}"/>
          </ac:spMkLst>
        </pc:spChg>
        <pc:spChg chg="add mod">
          <ac:chgData name="Giannis Papadopoulos" userId="011f885267094b50" providerId="LiveId" clId="{1CA7F863-120F-4338-B7D1-787104A621F1}" dt="2026-09-21T06:46:35.148" v="2807" actId="20577"/>
          <ac:spMkLst>
            <pc:docMk/>
            <pc:sldMk cId="833664483" sldId="275"/>
            <ac:spMk id="22" creationId="{72A53D7B-FEED-367C-7862-CD1148343D2D}"/>
          </ac:spMkLst>
        </pc:spChg>
        <pc:picChg chg="add mod">
          <ac:chgData name="Giannis Papadopoulos" userId="011f885267094b50" providerId="LiveId" clId="{1CA7F863-120F-4338-B7D1-787104A621F1}" dt="2026-09-20T07:01:31.495" v="2339" actId="1076"/>
          <ac:picMkLst>
            <pc:docMk/>
            <pc:sldMk cId="833664483" sldId="275"/>
            <ac:picMk id="5" creationId="{6F8038EE-C5F6-CE2D-C802-342BB32275AD}"/>
          </ac:picMkLst>
        </pc:picChg>
        <pc:picChg chg="add mod">
          <ac:chgData name="Giannis Papadopoulos" userId="011f885267094b50" providerId="LiveId" clId="{1CA7F863-120F-4338-B7D1-787104A621F1}" dt="2026-09-20T09:02:13.875" v="2433" actId="14100"/>
          <ac:picMkLst>
            <pc:docMk/>
            <pc:sldMk cId="833664483" sldId="275"/>
            <ac:picMk id="21" creationId="{27CF0AD9-2658-6E93-6345-09790A874170}"/>
          </ac:picMkLst>
        </pc:picChg>
      </pc:sldChg>
      <pc:sldChg chg="addSp delSp modSp add mod ord">
        <pc:chgData name="Giannis Papadopoulos" userId="011f885267094b50" providerId="LiveId" clId="{1CA7F863-120F-4338-B7D1-787104A621F1}" dt="2026-09-20T08:17:42.082" v="2412" actId="1076"/>
        <pc:sldMkLst>
          <pc:docMk/>
          <pc:sldMk cId="4169303523" sldId="276"/>
        </pc:sldMkLst>
        <pc:picChg chg="add mod">
          <ac:chgData name="Giannis Papadopoulos" userId="011f885267094b50" providerId="LiveId" clId="{1CA7F863-120F-4338-B7D1-787104A621F1}" dt="2026-09-20T08:17:42.082" v="2412" actId="1076"/>
          <ac:picMkLst>
            <pc:docMk/>
            <pc:sldMk cId="4169303523" sldId="276"/>
            <ac:picMk id="12" creationId="{DC027AF6-4096-C883-C985-02869781FD5E}"/>
          </ac:picMkLst>
        </pc:picChg>
        <pc:picChg chg="add mod">
          <ac:chgData name="Giannis Papadopoulos" userId="011f885267094b50" providerId="LiveId" clId="{1CA7F863-120F-4338-B7D1-787104A621F1}" dt="2026-09-20T08:17:20.836" v="2408" actId="14100"/>
          <ac:picMkLst>
            <pc:docMk/>
            <pc:sldMk cId="4169303523" sldId="276"/>
            <ac:picMk id="13" creationId="{E6B428C5-D4DA-FF8D-1752-EAAC5B95572D}"/>
          </ac:picMkLst>
        </pc:picChg>
      </pc:sldChg>
      <pc:sldChg chg="addSp modSp add mod">
        <pc:chgData name="Giannis Papadopoulos" userId="011f885267094b50" providerId="LiveId" clId="{1CA7F863-120F-4338-B7D1-787104A621F1}" dt="2026-09-20T12:18:24.729" v="2697" actId="14100"/>
        <pc:sldMkLst>
          <pc:docMk/>
          <pc:sldMk cId="2248045514" sldId="277"/>
        </pc:sldMkLst>
        <pc:picChg chg="add mod">
          <ac:chgData name="Giannis Papadopoulos" userId="011f885267094b50" providerId="LiveId" clId="{1CA7F863-120F-4338-B7D1-787104A621F1}" dt="2026-09-20T12:18:21.544" v="2696" actId="14100"/>
          <ac:picMkLst>
            <pc:docMk/>
            <pc:sldMk cId="2248045514" sldId="277"/>
            <ac:picMk id="4" creationId="{7AB5B9FE-B014-7B7A-E748-741C6885EDAA}"/>
          </ac:picMkLst>
        </pc:picChg>
        <pc:picChg chg="add mod">
          <ac:chgData name="Giannis Papadopoulos" userId="011f885267094b50" providerId="LiveId" clId="{1CA7F863-120F-4338-B7D1-787104A621F1}" dt="2026-09-20T12:18:24.729" v="2697" actId="14100"/>
          <ac:picMkLst>
            <pc:docMk/>
            <pc:sldMk cId="2248045514" sldId="277"/>
            <ac:picMk id="6" creationId="{B87B77CE-C1CA-9B52-9719-D6A5FE0AB850}"/>
          </ac:picMkLst>
        </pc:picChg>
      </pc:sldChg>
      <pc:sldChg chg="addSp delSp modSp add mod setBg">
        <pc:chgData name="Giannis Papadopoulos" userId="011f885267094b50" providerId="LiveId" clId="{1CA7F863-120F-4338-B7D1-787104A621F1}" dt="2026-09-20T11:37:14.664" v="2646" actId="26606"/>
        <pc:sldMkLst>
          <pc:docMk/>
          <pc:sldMk cId="3715608547" sldId="278"/>
        </pc:sldMkLst>
        <pc:spChg chg="add mod">
          <ac:chgData name="Giannis Papadopoulos" userId="011f885267094b50" providerId="LiveId" clId="{1CA7F863-120F-4338-B7D1-787104A621F1}" dt="2026-09-20T11:37:14.664" v="2646" actId="26606"/>
          <ac:spMkLst>
            <pc:docMk/>
            <pc:sldMk cId="3715608547" sldId="278"/>
            <ac:spMk id="2" creationId="{8B6A18E4-CBE1-2BCB-86CC-7DF931DCC2E4}"/>
          </ac:spMkLst>
        </pc:spChg>
        <pc:spChg chg="ord">
          <ac:chgData name="Giannis Papadopoulos" userId="011f885267094b50" providerId="LiveId" clId="{1CA7F863-120F-4338-B7D1-787104A621F1}" dt="2026-09-20T11:37:14.664" v="2646" actId="26606"/>
          <ac:spMkLst>
            <pc:docMk/>
            <pc:sldMk cId="3715608547" sldId="278"/>
            <ac:spMk id="3" creationId="{DEECAC21-2FF5-2A74-1015-53E00E950423}"/>
          </ac:spMkLst>
        </pc:spChg>
        <pc:spChg chg="add">
          <ac:chgData name="Giannis Papadopoulos" userId="011f885267094b50" providerId="LiveId" clId="{1CA7F863-120F-4338-B7D1-787104A621F1}" dt="2026-09-20T11:37:14.664" v="2646" actId="26606"/>
          <ac:spMkLst>
            <pc:docMk/>
            <pc:sldMk cId="3715608547" sldId="278"/>
            <ac:spMk id="16" creationId="{FFD48BC7-DC40-47DE-87EE-9F4B6ECB9ABB}"/>
          </ac:spMkLst>
        </pc:spChg>
        <pc:spChg chg="add">
          <ac:chgData name="Giannis Papadopoulos" userId="011f885267094b50" providerId="LiveId" clId="{1CA7F863-120F-4338-B7D1-787104A621F1}" dt="2026-09-20T11:37:14.664" v="2646" actId="26606"/>
          <ac:spMkLst>
            <pc:docMk/>
            <pc:sldMk cId="3715608547" sldId="278"/>
            <ac:spMk id="18" creationId="{E502BBC7-2C76-46F3-BC24-5985BC13DB88}"/>
          </ac:spMkLst>
        </pc:spChg>
        <pc:spChg chg="add">
          <ac:chgData name="Giannis Papadopoulos" userId="011f885267094b50" providerId="LiveId" clId="{1CA7F863-120F-4338-B7D1-787104A621F1}" dt="2026-09-20T11:37:14.664" v="2646" actId="26606"/>
          <ac:spMkLst>
            <pc:docMk/>
            <pc:sldMk cId="3715608547" sldId="278"/>
            <ac:spMk id="20" creationId="{C7F28D52-2A5F-4D23-81AE-7CB8B591C7AF}"/>
          </ac:spMkLst>
        </pc:spChg>
        <pc:spChg chg="add">
          <ac:chgData name="Giannis Papadopoulos" userId="011f885267094b50" providerId="LiveId" clId="{1CA7F863-120F-4338-B7D1-787104A621F1}" dt="2026-09-20T11:37:14.664" v="2646" actId="26606"/>
          <ac:spMkLst>
            <pc:docMk/>
            <pc:sldMk cId="3715608547" sldId="278"/>
            <ac:spMk id="22" creationId="{3629484E-3792-4B3D-89AD-7C8A1ED0E0D4}"/>
          </ac:spMkLst>
        </pc:spChg>
      </pc:sldChg>
      <pc:sldMasterChg chg="setBg modSldLayout">
        <pc:chgData name="Giannis Papadopoulos" userId="011f885267094b50" providerId="LiveId" clId="{1CA7F863-120F-4338-B7D1-787104A621F1}" dt="2026-09-19T20:05:53.021" v="1396"/>
        <pc:sldMasterMkLst>
          <pc:docMk/>
          <pc:sldMasterMk cId="850052090" sldId="2147483842"/>
        </pc:sldMasterMkLst>
        <pc:sldLayoutChg chg="setBg">
          <pc:chgData name="Giannis Papadopoulos" userId="011f885267094b50" providerId="LiveId" clId="{1CA7F863-120F-4338-B7D1-787104A621F1}" dt="2026-09-19T20:05:53.021" v="1396"/>
          <pc:sldLayoutMkLst>
            <pc:docMk/>
            <pc:sldMasterMk cId="850052090" sldId="2147483842"/>
            <pc:sldLayoutMk cId="307879673" sldId="2147483843"/>
          </pc:sldLayoutMkLst>
        </pc:sldLayoutChg>
        <pc:sldLayoutChg chg="setBg">
          <pc:chgData name="Giannis Papadopoulos" userId="011f885267094b50" providerId="LiveId" clId="{1CA7F863-120F-4338-B7D1-787104A621F1}" dt="2026-09-19T20:05:53.021" v="1396"/>
          <pc:sldLayoutMkLst>
            <pc:docMk/>
            <pc:sldMasterMk cId="850052090" sldId="2147483842"/>
            <pc:sldLayoutMk cId="167132324" sldId="2147483844"/>
          </pc:sldLayoutMkLst>
        </pc:sldLayoutChg>
        <pc:sldLayoutChg chg="setBg">
          <pc:chgData name="Giannis Papadopoulos" userId="011f885267094b50" providerId="LiveId" clId="{1CA7F863-120F-4338-B7D1-787104A621F1}" dt="2026-09-19T20:05:53.021" v="1396"/>
          <pc:sldLayoutMkLst>
            <pc:docMk/>
            <pc:sldMasterMk cId="850052090" sldId="2147483842"/>
            <pc:sldLayoutMk cId="1207865539" sldId="2147483845"/>
          </pc:sldLayoutMkLst>
        </pc:sldLayoutChg>
        <pc:sldLayoutChg chg="setBg">
          <pc:chgData name="Giannis Papadopoulos" userId="011f885267094b50" providerId="LiveId" clId="{1CA7F863-120F-4338-B7D1-787104A621F1}" dt="2026-09-19T20:05:53.021" v="1396"/>
          <pc:sldLayoutMkLst>
            <pc:docMk/>
            <pc:sldMasterMk cId="850052090" sldId="2147483842"/>
            <pc:sldLayoutMk cId="2744731392" sldId="2147483846"/>
          </pc:sldLayoutMkLst>
        </pc:sldLayoutChg>
        <pc:sldLayoutChg chg="setBg">
          <pc:chgData name="Giannis Papadopoulos" userId="011f885267094b50" providerId="LiveId" clId="{1CA7F863-120F-4338-B7D1-787104A621F1}" dt="2026-09-19T20:05:53.021" v="1396"/>
          <pc:sldLayoutMkLst>
            <pc:docMk/>
            <pc:sldMasterMk cId="850052090" sldId="2147483842"/>
            <pc:sldLayoutMk cId="1391776630" sldId="2147483847"/>
          </pc:sldLayoutMkLst>
        </pc:sldLayoutChg>
        <pc:sldLayoutChg chg="setBg">
          <pc:chgData name="Giannis Papadopoulos" userId="011f885267094b50" providerId="LiveId" clId="{1CA7F863-120F-4338-B7D1-787104A621F1}" dt="2026-09-19T20:05:53.021" v="1396"/>
          <pc:sldLayoutMkLst>
            <pc:docMk/>
            <pc:sldMasterMk cId="850052090" sldId="2147483842"/>
            <pc:sldLayoutMk cId="4174855777" sldId="2147483848"/>
          </pc:sldLayoutMkLst>
        </pc:sldLayoutChg>
        <pc:sldLayoutChg chg="setBg">
          <pc:chgData name="Giannis Papadopoulos" userId="011f885267094b50" providerId="LiveId" clId="{1CA7F863-120F-4338-B7D1-787104A621F1}" dt="2026-09-19T20:05:53.021" v="1396"/>
          <pc:sldLayoutMkLst>
            <pc:docMk/>
            <pc:sldMasterMk cId="850052090" sldId="2147483842"/>
            <pc:sldLayoutMk cId="653003019" sldId="2147483849"/>
          </pc:sldLayoutMkLst>
        </pc:sldLayoutChg>
        <pc:sldLayoutChg chg="setBg">
          <pc:chgData name="Giannis Papadopoulos" userId="011f885267094b50" providerId="LiveId" clId="{1CA7F863-120F-4338-B7D1-787104A621F1}" dt="2026-09-19T20:05:53.021" v="1396"/>
          <pc:sldLayoutMkLst>
            <pc:docMk/>
            <pc:sldMasterMk cId="850052090" sldId="2147483842"/>
            <pc:sldLayoutMk cId="2534753930" sldId="2147483850"/>
          </pc:sldLayoutMkLst>
        </pc:sldLayoutChg>
        <pc:sldLayoutChg chg="setBg">
          <pc:chgData name="Giannis Papadopoulos" userId="011f885267094b50" providerId="LiveId" clId="{1CA7F863-120F-4338-B7D1-787104A621F1}" dt="2026-09-19T20:05:53.021" v="1396"/>
          <pc:sldLayoutMkLst>
            <pc:docMk/>
            <pc:sldMasterMk cId="850052090" sldId="2147483842"/>
            <pc:sldLayoutMk cId="1080880377" sldId="2147483851"/>
          </pc:sldLayoutMkLst>
        </pc:sldLayoutChg>
        <pc:sldLayoutChg chg="setBg">
          <pc:chgData name="Giannis Papadopoulos" userId="011f885267094b50" providerId="LiveId" clId="{1CA7F863-120F-4338-B7D1-787104A621F1}" dt="2026-09-19T20:05:53.021" v="1396"/>
          <pc:sldLayoutMkLst>
            <pc:docMk/>
            <pc:sldMasterMk cId="850052090" sldId="2147483842"/>
            <pc:sldLayoutMk cId="3508648994" sldId="2147483852"/>
          </pc:sldLayoutMkLst>
        </pc:sldLayoutChg>
        <pc:sldLayoutChg chg="setBg">
          <pc:chgData name="Giannis Papadopoulos" userId="011f885267094b50" providerId="LiveId" clId="{1CA7F863-120F-4338-B7D1-787104A621F1}" dt="2026-09-19T20:05:53.021" v="1396"/>
          <pc:sldLayoutMkLst>
            <pc:docMk/>
            <pc:sldMasterMk cId="850052090" sldId="2147483842"/>
            <pc:sldLayoutMk cId="2627570998" sldId="214748385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662277-8E02-4D2C-9966-1696CC5468A6}"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A524F0-BB89-46C0-8A55-3F44AF7CA870}" type="slidenum">
              <a:rPr lang="en-US" smtClean="0"/>
              <a:t>‹#›</a:t>
            </a:fld>
            <a:endParaRPr lang="en-US"/>
          </a:p>
        </p:txBody>
      </p:sp>
    </p:spTree>
    <p:extLst>
      <p:ext uri="{BB962C8B-B14F-4D97-AF65-F5344CB8AC3E}">
        <p14:creationId xmlns:p14="http://schemas.microsoft.com/office/powerpoint/2010/main" val="995812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A524F0-BB89-46C0-8A55-3F44AF7CA870}" type="slidenum">
              <a:rPr lang="en-US" smtClean="0"/>
              <a:t>2</a:t>
            </a:fld>
            <a:endParaRPr lang="en-US"/>
          </a:p>
        </p:txBody>
      </p:sp>
    </p:spTree>
    <p:extLst>
      <p:ext uri="{BB962C8B-B14F-4D97-AF65-F5344CB8AC3E}">
        <p14:creationId xmlns:p14="http://schemas.microsoft.com/office/powerpoint/2010/main" val="1559940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A524F0-BB89-46C0-8A55-3F44AF7CA870}" type="slidenum">
              <a:rPr lang="en-US" smtClean="0"/>
              <a:t>7</a:t>
            </a:fld>
            <a:endParaRPr lang="en-US"/>
          </a:p>
        </p:txBody>
      </p:sp>
    </p:spTree>
    <p:extLst>
      <p:ext uri="{BB962C8B-B14F-4D97-AF65-F5344CB8AC3E}">
        <p14:creationId xmlns:p14="http://schemas.microsoft.com/office/powerpoint/2010/main" val="160589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EDE2C-13C1-11C5-0EFD-CDAE6C422C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B09860-F288-1C02-B4A7-D74A09AF84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6DE0C8-E33F-AC72-4883-8A70271AED96}"/>
              </a:ext>
            </a:extLst>
          </p:cNvPr>
          <p:cNvSpPr>
            <a:spLocks noGrp="1"/>
          </p:cNvSpPr>
          <p:nvPr>
            <p:ph type="dt" sz="half" idx="10"/>
          </p:nvPr>
        </p:nvSpPr>
        <p:spPr/>
        <p:txBody>
          <a:bodyPr/>
          <a:lstStyle/>
          <a:p>
            <a:fld id="{E31BA835-12AC-4E8F-955A-EA3F4DE2791F}" type="datetime1">
              <a:rPr lang="en-US" smtClean="0"/>
              <a:t>9/21/2026</a:t>
            </a:fld>
            <a:endParaRPr lang="en-US"/>
          </a:p>
        </p:txBody>
      </p:sp>
      <p:sp>
        <p:nvSpPr>
          <p:cNvPr id="5" name="Footer Placeholder 4">
            <a:extLst>
              <a:ext uri="{FF2B5EF4-FFF2-40B4-BE49-F238E27FC236}">
                <a16:creationId xmlns:a16="http://schemas.microsoft.com/office/drawing/2014/main" id="{4BF992B6-23C8-0833-6AF6-3917C81EC0A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0DE081-7229-1118-8EDE-E6290BF80DD4}"/>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787967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EA6DC-E1F2-8DA0-49CE-E1B370633F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0BD9D3-358C-1F4C-D229-E359041219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618F78-3097-4BD5-2049-F98D25C3F227}"/>
              </a:ext>
            </a:extLst>
          </p:cNvPr>
          <p:cNvSpPr>
            <a:spLocks noGrp="1"/>
          </p:cNvSpPr>
          <p:nvPr>
            <p:ph type="dt" sz="half" idx="10"/>
          </p:nvPr>
        </p:nvSpPr>
        <p:spPr/>
        <p:txBody>
          <a:bodyPr/>
          <a:lstStyle/>
          <a:p>
            <a:fld id="{E31BA835-12AC-4E8F-955A-EA3F4DE2791F}" type="datetime1">
              <a:rPr lang="en-US" smtClean="0"/>
              <a:t>9/21/2026</a:t>
            </a:fld>
            <a:endParaRPr lang="en-US"/>
          </a:p>
        </p:txBody>
      </p:sp>
      <p:sp>
        <p:nvSpPr>
          <p:cNvPr id="5" name="Footer Placeholder 4">
            <a:extLst>
              <a:ext uri="{FF2B5EF4-FFF2-40B4-BE49-F238E27FC236}">
                <a16:creationId xmlns:a16="http://schemas.microsoft.com/office/drawing/2014/main" id="{C0B98D42-F389-D393-28A0-792193529F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DA69049-34BE-168E-4819-2F8AFE195D88}"/>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713232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6538F-D4C6-EC22-BCEF-7EC04C1F75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3FDD7BD-749A-2CD3-E887-A8BC951DC5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22B7A4-50C0-F444-2A64-C0ACF552E25B}"/>
              </a:ext>
            </a:extLst>
          </p:cNvPr>
          <p:cNvSpPr>
            <a:spLocks noGrp="1"/>
          </p:cNvSpPr>
          <p:nvPr>
            <p:ph type="dt" sz="half" idx="10"/>
          </p:nvPr>
        </p:nvSpPr>
        <p:spPr/>
        <p:txBody>
          <a:bodyPr/>
          <a:lstStyle/>
          <a:p>
            <a:fld id="{E31BA835-12AC-4E8F-955A-EA3F4DE2791F}" type="datetime1">
              <a:rPr lang="en-US" smtClean="0"/>
              <a:t>9/21/2026</a:t>
            </a:fld>
            <a:endParaRPr lang="en-US"/>
          </a:p>
        </p:txBody>
      </p:sp>
      <p:sp>
        <p:nvSpPr>
          <p:cNvPr id="5" name="Footer Placeholder 4">
            <a:extLst>
              <a:ext uri="{FF2B5EF4-FFF2-40B4-BE49-F238E27FC236}">
                <a16:creationId xmlns:a16="http://schemas.microsoft.com/office/drawing/2014/main" id="{63318A43-B695-1F10-AC69-A6389A6DF4F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82DCE18-0B78-9D2B-2549-5CA1643EE87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0786553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3553B-D206-4581-AC70-08C1ACA9B8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E67CB11-6ABE-539A-6262-8A21B54318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5E79F1-3521-A8F8-76DC-8B48FD36E0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AD49F6-0551-9CDC-C87D-EFDFA7D66E41}"/>
              </a:ext>
            </a:extLst>
          </p:cNvPr>
          <p:cNvSpPr>
            <a:spLocks noGrp="1"/>
          </p:cNvSpPr>
          <p:nvPr>
            <p:ph type="dt" sz="half" idx="10"/>
          </p:nvPr>
        </p:nvSpPr>
        <p:spPr/>
        <p:txBody>
          <a:bodyPr/>
          <a:lstStyle/>
          <a:p>
            <a:fld id="{E31BA835-12AC-4E8F-955A-EA3F4DE2791F}" type="datetime1">
              <a:rPr lang="en-US" smtClean="0"/>
              <a:t>9/21/2026</a:t>
            </a:fld>
            <a:endParaRPr lang="en-US"/>
          </a:p>
        </p:txBody>
      </p:sp>
      <p:sp>
        <p:nvSpPr>
          <p:cNvPr id="6" name="Footer Placeholder 5">
            <a:extLst>
              <a:ext uri="{FF2B5EF4-FFF2-40B4-BE49-F238E27FC236}">
                <a16:creationId xmlns:a16="http://schemas.microsoft.com/office/drawing/2014/main" id="{D24FC1F1-B633-B4BC-335E-5C2C8093CB4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8E6E561-185E-7A11-A15A-D0D44AAF0EB0}"/>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4473139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1FC1E-7D27-D4E2-0B35-8AE1971A00B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52613FD-BA5A-8B06-7D18-A7378AF49B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D88436-AA6B-6C39-8F1F-BBAE6DD0BA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9AE572-3900-CBDE-FD61-2D32B7C27E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F5EB0D-3C3F-562C-08AC-D02505ACC2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F0666C-8C32-7B8C-7571-1D36B02BB98F}"/>
              </a:ext>
            </a:extLst>
          </p:cNvPr>
          <p:cNvSpPr>
            <a:spLocks noGrp="1"/>
          </p:cNvSpPr>
          <p:nvPr>
            <p:ph type="dt" sz="half" idx="10"/>
          </p:nvPr>
        </p:nvSpPr>
        <p:spPr/>
        <p:txBody>
          <a:bodyPr/>
          <a:lstStyle/>
          <a:p>
            <a:fld id="{E31BA835-12AC-4E8F-955A-EA3F4DE2791F}" type="datetime1">
              <a:rPr lang="en-US" smtClean="0"/>
              <a:t>9/21/2026</a:t>
            </a:fld>
            <a:endParaRPr lang="en-US"/>
          </a:p>
        </p:txBody>
      </p:sp>
      <p:sp>
        <p:nvSpPr>
          <p:cNvPr id="8" name="Footer Placeholder 7">
            <a:extLst>
              <a:ext uri="{FF2B5EF4-FFF2-40B4-BE49-F238E27FC236}">
                <a16:creationId xmlns:a16="http://schemas.microsoft.com/office/drawing/2014/main" id="{2EE1F00F-33ED-08A1-2622-681D0851F49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FF9692C-F62A-7D24-2605-3563725DE8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9177663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6FA36-5AE0-B932-2E3E-0550852381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5F3292-70E9-A2AE-D34E-0CB82004B409}"/>
              </a:ext>
            </a:extLst>
          </p:cNvPr>
          <p:cNvSpPr>
            <a:spLocks noGrp="1"/>
          </p:cNvSpPr>
          <p:nvPr>
            <p:ph type="dt" sz="half" idx="10"/>
          </p:nvPr>
        </p:nvSpPr>
        <p:spPr/>
        <p:txBody>
          <a:bodyPr/>
          <a:lstStyle/>
          <a:p>
            <a:fld id="{89BC9412-2452-4BED-A324-9D8C115361AD}" type="datetime1">
              <a:rPr lang="en-US" smtClean="0"/>
              <a:t>9/21/2026</a:t>
            </a:fld>
            <a:endParaRPr lang="en-US"/>
          </a:p>
        </p:txBody>
      </p:sp>
      <p:sp>
        <p:nvSpPr>
          <p:cNvPr id="4" name="Footer Placeholder 3">
            <a:extLst>
              <a:ext uri="{FF2B5EF4-FFF2-40B4-BE49-F238E27FC236}">
                <a16:creationId xmlns:a16="http://schemas.microsoft.com/office/drawing/2014/main" id="{1B4D0819-B4DC-178A-ABA1-39AAD8BB902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790CBA1-B978-B9B2-9049-FD86CD785EBC}"/>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74855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35D8D9-AAD7-340E-9377-E741048FA28D}"/>
              </a:ext>
            </a:extLst>
          </p:cNvPr>
          <p:cNvSpPr>
            <a:spLocks noGrp="1"/>
          </p:cNvSpPr>
          <p:nvPr>
            <p:ph type="dt" sz="half" idx="10"/>
          </p:nvPr>
        </p:nvSpPr>
        <p:spPr/>
        <p:txBody>
          <a:bodyPr/>
          <a:lstStyle/>
          <a:p>
            <a:fld id="{E31BA835-12AC-4E8F-955A-EA3F4DE2791F}" type="datetime1">
              <a:rPr lang="en-US" smtClean="0"/>
              <a:t>9/21/2026</a:t>
            </a:fld>
            <a:endParaRPr lang="en-US"/>
          </a:p>
        </p:txBody>
      </p:sp>
      <p:sp>
        <p:nvSpPr>
          <p:cNvPr id="3" name="Footer Placeholder 2">
            <a:extLst>
              <a:ext uri="{FF2B5EF4-FFF2-40B4-BE49-F238E27FC236}">
                <a16:creationId xmlns:a16="http://schemas.microsoft.com/office/drawing/2014/main" id="{3574B2AA-4AAA-586D-27F8-6D510EBA0CD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626B513-F0AB-89AE-4B5A-59D714BA4AF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300301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BDD36-775B-BA86-39A1-23E2DA925B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31E3E7E-50E4-9D3D-E405-ADDB8A7CDC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5770CE-87A5-046A-26B5-99A8BA6336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B4B96D-A134-6D6D-102A-B5A28B5DCE5F}"/>
              </a:ext>
            </a:extLst>
          </p:cNvPr>
          <p:cNvSpPr>
            <a:spLocks noGrp="1"/>
          </p:cNvSpPr>
          <p:nvPr>
            <p:ph type="dt" sz="half" idx="10"/>
          </p:nvPr>
        </p:nvSpPr>
        <p:spPr/>
        <p:txBody>
          <a:bodyPr/>
          <a:lstStyle/>
          <a:p>
            <a:fld id="{E31BA835-12AC-4E8F-955A-EA3F4DE2791F}" type="datetime1">
              <a:rPr lang="en-US" smtClean="0"/>
              <a:t>9/21/2026</a:t>
            </a:fld>
            <a:endParaRPr lang="en-US"/>
          </a:p>
        </p:txBody>
      </p:sp>
      <p:sp>
        <p:nvSpPr>
          <p:cNvPr id="6" name="Footer Placeholder 5">
            <a:extLst>
              <a:ext uri="{FF2B5EF4-FFF2-40B4-BE49-F238E27FC236}">
                <a16:creationId xmlns:a16="http://schemas.microsoft.com/office/drawing/2014/main" id="{9DA39692-B82D-6A2B-47CD-DDB6FF560CD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854BB40-7ABF-373B-A35F-E337BE3EC70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3475393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C5686-C509-C0FC-8F59-6089B59777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589E48-985F-72C9-90B4-B290EFB823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D6E94B-D765-EAB9-29D1-64B16B9DE3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0FD851-B37B-9446-EA9D-C414BD9CF4A4}"/>
              </a:ext>
            </a:extLst>
          </p:cNvPr>
          <p:cNvSpPr>
            <a:spLocks noGrp="1"/>
          </p:cNvSpPr>
          <p:nvPr>
            <p:ph type="dt" sz="half" idx="10"/>
          </p:nvPr>
        </p:nvSpPr>
        <p:spPr/>
        <p:txBody>
          <a:bodyPr/>
          <a:lstStyle/>
          <a:p>
            <a:fld id="{E31BA835-12AC-4E8F-955A-EA3F4DE2791F}" type="datetime1">
              <a:rPr lang="en-US" smtClean="0"/>
              <a:t>9/21/2026</a:t>
            </a:fld>
            <a:endParaRPr lang="en-US"/>
          </a:p>
        </p:txBody>
      </p:sp>
      <p:sp>
        <p:nvSpPr>
          <p:cNvPr id="6" name="Footer Placeholder 5">
            <a:extLst>
              <a:ext uri="{FF2B5EF4-FFF2-40B4-BE49-F238E27FC236}">
                <a16:creationId xmlns:a16="http://schemas.microsoft.com/office/drawing/2014/main" id="{A74BB855-E172-1D69-1936-D777BDFA756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C2C9E45-CC0A-8FB9-5C93-0BDCAEA118C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8088037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D9E40-7546-6934-414E-3C208CCCA0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92871B-FEFC-8D4A-2B3E-BC552A9C94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686F0E-515E-4C70-9E4F-5AFC90F0490B}"/>
              </a:ext>
            </a:extLst>
          </p:cNvPr>
          <p:cNvSpPr>
            <a:spLocks noGrp="1"/>
          </p:cNvSpPr>
          <p:nvPr>
            <p:ph type="dt" sz="half" idx="10"/>
          </p:nvPr>
        </p:nvSpPr>
        <p:spPr/>
        <p:txBody>
          <a:bodyPr/>
          <a:lstStyle/>
          <a:p>
            <a:fld id="{E31BA835-12AC-4E8F-955A-EA3F4DE2791F}" type="datetime1">
              <a:rPr lang="en-US" smtClean="0"/>
              <a:t>9/21/2026</a:t>
            </a:fld>
            <a:endParaRPr lang="en-US"/>
          </a:p>
        </p:txBody>
      </p:sp>
      <p:sp>
        <p:nvSpPr>
          <p:cNvPr id="5" name="Footer Placeholder 4">
            <a:extLst>
              <a:ext uri="{FF2B5EF4-FFF2-40B4-BE49-F238E27FC236}">
                <a16:creationId xmlns:a16="http://schemas.microsoft.com/office/drawing/2014/main" id="{E16C9873-CAD8-ECAD-64B6-E0505BE7940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575E12B-06ED-EEEA-0108-6DBA08297CD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50864899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1B507B-F27C-F7EC-AB38-48166B1A378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64B8AC-8912-2214-24C3-7A74688674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0DB4D9-4723-BF8B-6887-56039BC3639D}"/>
              </a:ext>
            </a:extLst>
          </p:cNvPr>
          <p:cNvSpPr>
            <a:spLocks noGrp="1"/>
          </p:cNvSpPr>
          <p:nvPr>
            <p:ph type="dt" sz="half" idx="10"/>
          </p:nvPr>
        </p:nvSpPr>
        <p:spPr/>
        <p:txBody>
          <a:bodyPr/>
          <a:lstStyle/>
          <a:p>
            <a:fld id="{E31BA835-12AC-4E8F-955A-EA3F4DE2791F}" type="datetime1">
              <a:rPr lang="en-US" smtClean="0"/>
              <a:t>9/21/2026</a:t>
            </a:fld>
            <a:endParaRPr lang="en-US"/>
          </a:p>
        </p:txBody>
      </p:sp>
      <p:sp>
        <p:nvSpPr>
          <p:cNvPr id="5" name="Footer Placeholder 4">
            <a:extLst>
              <a:ext uri="{FF2B5EF4-FFF2-40B4-BE49-F238E27FC236}">
                <a16:creationId xmlns:a16="http://schemas.microsoft.com/office/drawing/2014/main" id="{22364329-F92A-0E5E-BF13-EB6325F7F2C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65CE6D3-FE77-381F-5986-5DCA312F73C5}"/>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27570998"/>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9D3B02-3F70-F870-3C22-369751D97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ED7438-DB30-AF52-6CA3-C638368A3F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84873A-2E3A-539A-D96D-181D84CD39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1BA835-12AC-4E8F-955A-EA3F4DE2791F}" type="datetime1">
              <a:rPr lang="en-US" smtClean="0"/>
              <a:t>9/21/2026</a:t>
            </a:fld>
            <a:endParaRPr lang="en-US"/>
          </a:p>
        </p:txBody>
      </p:sp>
      <p:sp>
        <p:nvSpPr>
          <p:cNvPr id="5" name="Footer Placeholder 4">
            <a:extLst>
              <a:ext uri="{FF2B5EF4-FFF2-40B4-BE49-F238E27FC236}">
                <a16:creationId xmlns:a16="http://schemas.microsoft.com/office/drawing/2014/main" id="{5BA9BA25-2103-1779-89D2-78AEBB091D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3CCFAC4A-9433-7FF1-8546-FA673BBC32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850052090"/>
      </p:ext>
    </p:extLst>
  </p:cSld>
  <p:clrMap bg1="lt1" tx1="dk1" bg2="lt2" tx2="dk2" accent1="accent1" accent2="accent2" accent3="accent3" accent4="accent4" accent5="accent5" accent6="accent6" hlink="hlink" folHlink="folHlink"/>
  <p:sldLayoutIdLst>
    <p:sldLayoutId id="2147483843" r:id="rId1"/>
    <p:sldLayoutId id="2147483844" r:id="rId2"/>
    <p:sldLayoutId id="2147483845" r:id="rId3"/>
    <p:sldLayoutId id="2147483846" r:id="rId4"/>
    <p:sldLayoutId id="2147483847" r:id="rId5"/>
    <p:sldLayoutId id="2147483848" r:id="rId6"/>
    <p:sldLayoutId id="2147483849" r:id="rId7"/>
    <p:sldLayoutId id="2147483850" r:id="rId8"/>
    <p:sldLayoutId id="2147483851" r:id="rId9"/>
    <p:sldLayoutId id="2147483852" r:id="rId10"/>
    <p:sldLayoutId id="214748385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5" Type="http://schemas.openxmlformats.org/officeDocument/2006/relationships/image" Target="../media/image48.png"/><Relationship Id="rId4"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2.gif"/><Relationship Id="rId2" Type="http://schemas.openxmlformats.org/officeDocument/2006/relationships/image" Target="../media/image51.gi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02A19-36BD-DECE-B0F1-F303ED5DA61E}"/>
              </a:ext>
            </a:extLst>
          </p:cNvPr>
          <p:cNvSpPr>
            <a:spLocks noGrp="1"/>
          </p:cNvSpPr>
          <p:nvPr>
            <p:ph type="title"/>
          </p:nvPr>
        </p:nvSpPr>
        <p:spPr>
          <a:xfrm>
            <a:off x="3382767" y="615823"/>
            <a:ext cx="7889836" cy="1297115"/>
          </a:xfrm>
        </p:spPr>
        <p:txBody>
          <a:bodyPr vert="horz" lIns="91440" tIns="45720" rIns="91440" bIns="45720" rtlCol="0" anchor="t">
            <a:normAutofit/>
          </a:bodyPr>
          <a:lstStyle/>
          <a:p>
            <a:r>
              <a:rPr lang="en-US" sz="4000" kern="1200">
                <a:solidFill>
                  <a:schemeClr val="tx2"/>
                </a:solidFill>
                <a:latin typeface="+mj-lt"/>
                <a:ea typeface="+mj-ea"/>
                <a:cs typeface="+mj-cs"/>
              </a:rPr>
              <a:t>Capacitated Vehicle Routing Problem</a:t>
            </a:r>
            <a:endParaRPr lang="en-US" sz="4000" kern="1200" dirty="0">
              <a:solidFill>
                <a:schemeClr val="tx2"/>
              </a:solidFill>
              <a:latin typeface="+mj-lt"/>
              <a:ea typeface="+mj-ea"/>
              <a:cs typeface="+mj-cs"/>
            </a:endParaRPr>
          </a:p>
        </p:txBody>
      </p:sp>
      <p:pic>
        <p:nvPicPr>
          <p:cNvPr id="7" name="Graphic 6" descr="Car">
            <a:extLst>
              <a:ext uri="{FF2B5EF4-FFF2-40B4-BE49-F238E27FC236}">
                <a16:creationId xmlns:a16="http://schemas.microsoft.com/office/drawing/2014/main" id="{4906BA37-CE71-E634-2118-1148A3ACD9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sp>
        <p:nvSpPr>
          <p:cNvPr id="8" name="Title 1">
            <a:extLst>
              <a:ext uri="{FF2B5EF4-FFF2-40B4-BE49-F238E27FC236}">
                <a16:creationId xmlns:a16="http://schemas.microsoft.com/office/drawing/2014/main" id="{CF87F11E-8026-FDE1-C8CE-40C970954911}"/>
              </a:ext>
            </a:extLst>
          </p:cNvPr>
          <p:cNvSpPr txBox="1">
            <a:spLocks/>
          </p:cNvSpPr>
          <p:nvPr/>
        </p:nvSpPr>
        <p:spPr>
          <a:xfrm>
            <a:off x="3429139" y="1731201"/>
            <a:ext cx="7797092" cy="762706"/>
          </a:xfrm>
          <a:prstGeom prst="rect">
            <a:avLst/>
          </a:prstGeom>
        </p:spPr>
        <p:txBody>
          <a:bodyPr vert="horz" lIns="91440" tIns="45720" rIns="91440" bIns="45720" rtlCol="0" anchor="t">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l-GR" sz="4000" dirty="0">
                <a:solidFill>
                  <a:schemeClr val="tx2"/>
                </a:solidFill>
              </a:rPr>
              <a:t>Μοντελοποίηση </a:t>
            </a:r>
            <a:r>
              <a:rPr lang="en-US" sz="4000" dirty="0">
                <a:solidFill>
                  <a:schemeClr val="tx2"/>
                </a:solidFill>
              </a:rPr>
              <a:t>MILP</a:t>
            </a:r>
            <a:r>
              <a:rPr lang="el-GR" sz="4000" dirty="0">
                <a:solidFill>
                  <a:schemeClr val="tx2"/>
                </a:solidFill>
              </a:rPr>
              <a:t>, πειραματικά σενάρια και εφαρμογή στο οδικό δίκτυο της Αθήνας </a:t>
            </a:r>
            <a:endParaRPr lang="en-US" sz="4000" dirty="0">
              <a:solidFill>
                <a:schemeClr val="tx2"/>
              </a:solidFill>
            </a:endParaRPr>
          </a:p>
        </p:txBody>
      </p:sp>
      <p:sp>
        <p:nvSpPr>
          <p:cNvPr id="9" name="Title 1">
            <a:extLst>
              <a:ext uri="{FF2B5EF4-FFF2-40B4-BE49-F238E27FC236}">
                <a16:creationId xmlns:a16="http://schemas.microsoft.com/office/drawing/2014/main" id="{2A7CBB80-2CA2-B4CE-8EC0-F9BE7EC5CD25}"/>
              </a:ext>
            </a:extLst>
          </p:cNvPr>
          <p:cNvSpPr txBox="1">
            <a:spLocks/>
          </p:cNvSpPr>
          <p:nvPr/>
        </p:nvSpPr>
        <p:spPr>
          <a:xfrm>
            <a:off x="6444076" y="5112128"/>
            <a:ext cx="6391931" cy="762706"/>
          </a:xfrm>
          <a:prstGeom prst="rect">
            <a:avLst/>
          </a:prstGeom>
        </p:spPr>
        <p:txBody>
          <a:bodyPr vert="horz" lIns="91440" tIns="45720" rIns="91440" bIns="45720" rtlCol="0" anchor="t">
            <a:normAutofit fontScale="7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l-GR" sz="4000" dirty="0">
                <a:solidFill>
                  <a:schemeClr val="tx2"/>
                </a:solidFill>
              </a:rPr>
              <a:t>Μάριος Ιωάννης Παπαδόπουλος</a:t>
            </a:r>
          </a:p>
          <a:p>
            <a:r>
              <a:rPr lang="el-GR" sz="4000" dirty="0">
                <a:solidFill>
                  <a:schemeClr val="tx2"/>
                </a:solidFill>
              </a:rPr>
              <a:t>ΑΜ 1092834</a:t>
            </a:r>
            <a:endParaRPr lang="en-US" sz="4000" dirty="0">
              <a:solidFill>
                <a:schemeClr val="tx2"/>
              </a:solidFill>
            </a:endParaRPr>
          </a:p>
        </p:txBody>
      </p:sp>
    </p:spTree>
    <p:extLst>
      <p:ext uri="{BB962C8B-B14F-4D97-AF65-F5344CB8AC3E}">
        <p14:creationId xmlns:p14="http://schemas.microsoft.com/office/powerpoint/2010/main" val="3119000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C9398-3EAD-AC4B-80A5-097E7CC19BE3}"/>
              </a:ext>
            </a:extLst>
          </p:cNvPr>
          <p:cNvSpPr>
            <a:spLocks noGrp="1"/>
          </p:cNvSpPr>
          <p:nvPr>
            <p:ph type="ctrTitle"/>
          </p:nvPr>
        </p:nvSpPr>
        <p:spPr>
          <a:xfrm>
            <a:off x="5426438" y="307299"/>
            <a:ext cx="6228414" cy="771993"/>
          </a:xfrm>
        </p:spPr>
        <p:txBody>
          <a:bodyPr>
            <a:normAutofit fontScale="90000"/>
          </a:bodyPr>
          <a:lstStyle/>
          <a:p>
            <a:r>
              <a:rPr lang="el-GR" dirty="0"/>
              <a:t>Πρόβλημα και Στόχος</a:t>
            </a:r>
            <a:endParaRPr lang="en-US" dirty="0"/>
          </a:p>
        </p:txBody>
      </p:sp>
      <p:sp>
        <p:nvSpPr>
          <p:cNvPr id="3" name="Subtitle 2">
            <a:extLst>
              <a:ext uri="{FF2B5EF4-FFF2-40B4-BE49-F238E27FC236}">
                <a16:creationId xmlns:a16="http://schemas.microsoft.com/office/drawing/2014/main" id="{3B8600F3-62A1-A718-0140-147F85081785}"/>
              </a:ext>
            </a:extLst>
          </p:cNvPr>
          <p:cNvSpPr>
            <a:spLocks noGrp="1"/>
          </p:cNvSpPr>
          <p:nvPr>
            <p:ph type="subTitle" idx="1"/>
          </p:nvPr>
        </p:nvSpPr>
        <p:spPr>
          <a:xfrm>
            <a:off x="680871" y="3093920"/>
            <a:ext cx="4044846" cy="670159"/>
          </a:xfrm>
        </p:spPr>
        <p:txBody>
          <a:bodyPr>
            <a:normAutofit fontScale="85000" lnSpcReduction="10000"/>
          </a:bodyPr>
          <a:lstStyle/>
          <a:p>
            <a:r>
              <a:rPr lang="el-GR" dirty="0"/>
              <a:t>Κάθε όχημα ξεκινά κι επιστρέφει στην δική του αποθήκη</a:t>
            </a:r>
            <a:endParaRPr lang="en-US" dirty="0"/>
          </a:p>
        </p:txBody>
      </p:sp>
      <p:pic>
        <p:nvPicPr>
          <p:cNvPr id="5" name="Picture 4">
            <a:extLst>
              <a:ext uri="{FF2B5EF4-FFF2-40B4-BE49-F238E27FC236}">
                <a16:creationId xmlns:a16="http://schemas.microsoft.com/office/drawing/2014/main" id="{99DAD8AF-3B3F-C7C1-5819-363E0730C742}"/>
              </a:ext>
            </a:extLst>
          </p:cNvPr>
          <p:cNvPicPr>
            <a:picLocks noChangeAspect="1"/>
          </p:cNvPicPr>
          <p:nvPr/>
        </p:nvPicPr>
        <p:blipFill>
          <a:blip r:embed="rId3"/>
          <a:stretch>
            <a:fillRect/>
          </a:stretch>
        </p:blipFill>
        <p:spPr>
          <a:xfrm>
            <a:off x="680871" y="241130"/>
            <a:ext cx="4138528" cy="2681952"/>
          </a:xfrm>
          <a:prstGeom prst="rect">
            <a:avLst/>
          </a:prstGeom>
        </p:spPr>
      </p:pic>
      <p:sp>
        <p:nvSpPr>
          <p:cNvPr id="9" name="TextBox 8">
            <a:extLst>
              <a:ext uri="{FF2B5EF4-FFF2-40B4-BE49-F238E27FC236}">
                <a16:creationId xmlns:a16="http://schemas.microsoft.com/office/drawing/2014/main" id="{E2A3FD1A-8759-60B1-F881-29C9881289AF}"/>
              </a:ext>
            </a:extLst>
          </p:cNvPr>
          <p:cNvSpPr txBox="1"/>
          <p:nvPr/>
        </p:nvSpPr>
        <p:spPr>
          <a:xfrm>
            <a:off x="5515550" y="1766331"/>
            <a:ext cx="6139301" cy="1754326"/>
          </a:xfrm>
          <a:prstGeom prst="rect">
            <a:avLst/>
          </a:prstGeom>
          <a:noFill/>
        </p:spPr>
        <p:txBody>
          <a:bodyPr wrap="square">
            <a:spAutoFit/>
          </a:bodyPr>
          <a:lstStyle/>
          <a:p>
            <a:r>
              <a:rPr lang="el-GR" sz="2400" dirty="0"/>
              <a:t>Το μοντέλο αποφασίζει</a:t>
            </a:r>
            <a:r>
              <a:rPr lang="en-US" sz="2400" dirty="0"/>
              <a:t>: </a:t>
            </a:r>
          </a:p>
          <a:p>
            <a:endParaRPr lang="en-US" sz="2400" dirty="0"/>
          </a:p>
          <a:p>
            <a:pPr marL="342900" indent="-342900">
              <a:buFont typeface="Arial" panose="020B0604020202020204" pitchFamily="34" charset="0"/>
              <a:buChar char="•"/>
            </a:pPr>
            <a:r>
              <a:rPr lang="el-GR" sz="2000" dirty="0">
                <a:solidFill>
                  <a:schemeClr val="bg2">
                    <a:lumMod val="50000"/>
                  </a:schemeClr>
                </a:solidFill>
              </a:rPr>
              <a:t>Ποια οχήματα θα ενεργοποιηθούν</a:t>
            </a:r>
          </a:p>
          <a:p>
            <a:pPr marL="342900" indent="-342900">
              <a:buFont typeface="Arial" panose="020B0604020202020204" pitchFamily="34" charset="0"/>
              <a:buChar char="•"/>
            </a:pPr>
            <a:r>
              <a:rPr lang="el-GR" sz="2000" dirty="0">
                <a:solidFill>
                  <a:schemeClr val="bg2">
                    <a:lumMod val="50000"/>
                  </a:schemeClr>
                </a:solidFill>
              </a:rPr>
              <a:t>Ποιο όχημα θα εξυπηρετήσει κάθε πελάτη</a:t>
            </a:r>
          </a:p>
          <a:p>
            <a:pPr marL="342900" indent="-342900">
              <a:buFont typeface="Arial" panose="020B0604020202020204" pitchFamily="34" charset="0"/>
              <a:buChar char="•"/>
            </a:pPr>
            <a:r>
              <a:rPr lang="el-GR" sz="2000" dirty="0">
                <a:solidFill>
                  <a:schemeClr val="bg2">
                    <a:lumMod val="50000"/>
                  </a:schemeClr>
                </a:solidFill>
              </a:rPr>
              <a:t>Ποια διαδρομή θα ακολουθήσει κάθε όχημα </a:t>
            </a:r>
            <a:endParaRPr lang="en-US" sz="2000" dirty="0">
              <a:solidFill>
                <a:schemeClr val="bg2">
                  <a:lumMod val="50000"/>
                </a:schemeClr>
              </a:solidFill>
            </a:endParaRPr>
          </a:p>
        </p:txBody>
      </p:sp>
      <p:sp>
        <p:nvSpPr>
          <p:cNvPr id="11" name="TextBox 10">
            <a:extLst>
              <a:ext uri="{FF2B5EF4-FFF2-40B4-BE49-F238E27FC236}">
                <a16:creationId xmlns:a16="http://schemas.microsoft.com/office/drawing/2014/main" id="{B905C9FF-18DE-FE35-B7C0-4AC7745F4232}"/>
              </a:ext>
            </a:extLst>
          </p:cNvPr>
          <p:cNvSpPr txBox="1"/>
          <p:nvPr/>
        </p:nvSpPr>
        <p:spPr>
          <a:xfrm>
            <a:off x="714274" y="4341261"/>
            <a:ext cx="6097044" cy="1200329"/>
          </a:xfrm>
          <a:prstGeom prst="rect">
            <a:avLst/>
          </a:prstGeom>
          <a:noFill/>
        </p:spPr>
        <p:txBody>
          <a:bodyPr wrap="square">
            <a:spAutoFit/>
          </a:bodyPr>
          <a:lstStyle/>
          <a:p>
            <a:r>
              <a:rPr lang="el-GR" sz="2400" dirty="0"/>
              <a:t>Στόχος</a:t>
            </a:r>
            <a:r>
              <a:rPr lang="en-US" sz="2400" dirty="0"/>
              <a:t>:</a:t>
            </a:r>
            <a:endParaRPr lang="el-GR" sz="2400" dirty="0"/>
          </a:p>
          <a:p>
            <a:endParaRPr lang="en-US" sz="2400" dirty="0"/>
          </a:p>
          <a:p>
            <a:r>
              <a:rPr lang="el-GR" sz="2400" dirty="0">
                <a:solidFill>
                  <a:schemeClr val="bg2">
                    <a:lumMod val="50000"/>
                  </a:schemeClr>
                </a:solidFill>
              </a:rPr>
              <a:t>Η ελαχιστοποίηση του συνολικού κόστους</a:t>
            </a:r>
            <a:endParaRPr lang="en-US" sz="2400" dirty="0">
              <a:solidFill>
                <a:schemeClr val="bg2">
                  <a:lumMod val="50000"/>
                </a:schemeClr>
              </a:solidFill>
            </a:endParaRPr>
          </a:p>
        </p:txBody>
      </p:sp>
      <p:sp>
        <p:nvSpPr>
          <p:cNvPr id="12" name="Arrow: Down 11">
            <a:extLst>
              <a:ext uri="{FF2B5EF4-FFF2-40B4-BE49-F238E27FC236}">
                <a16:creationId xmlns:a16="http://schemas.microsoft.com/office/drawing/2014/main" id="{88F826EA-0F6D-070F-866E-488F6306EAD6}"/>
              </a:ext>
            </a:extLst>
          </p:cNvPr>
          <p:cNvSpPr/>
          <p:nvPr/>
        </p:nvSpPr>
        <p:spPr>
          <a:xfrm>
            <a:off x="3475972" y="5541590"/>
            <a:ext cx="225469" cy="38204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264C575D-E896-63E9-27B0-3C1DE50A3AC7}"/>
              </a:ext>
            </a:extLst>
          </p:cNvPr>
          <p:cNvSpPr txBox="1"/>
          <p:nvPr/>
        </p:nvSpPr>
        <p:spPr>
          <a:xfrm>
            <a:off x="1216589" y="5954218"/>
            <a:ext cx="9086067" cy="461665"/>
          </a:xfrm>
          <a:prstGeom prst="rect">
            <a:avLst/>
          </a:prstGeom>
          <a:noFill/>
        </p:spPr>
        <p:txBody>
          <a:bodyPr wrap="square">
            <a:spAutoFit/>
          </a:bodyPr>
          <a:lstStyle/>
          <a:p>
            <a:r>
              <a:rPr lang="el-GR" sz="2400" dirty="0"/>
              <a:t>Σταθερό κόστος οχημάτων + κόστος απόστασης + κόστος χρόνου</a:t>
            </a:r>
            <a:endParaRPr lang="en-US" sz="2400" dirty="0"/>
          </a:p>
        </p:txBody>
      </p:sp>
    </p:spTree>
    <p:extLst>
      <p:ext uri="{BB962C8B-B14F-4D97-AF65-F5344CB8AC3E}">
        <p14:creationId xmlns:p14="http://schemas.microsoft.com/office/powerpoint/2010/main" val="2215144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A4A76FAC-B2B2-6F9C-80FD-C6FB7D191681}"/>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kern="1200">
                <a:solidFill>
                  <a:schemeClr val="tx1"/>
                </a:solidFill>
                <a:latin typeface="+mj-lt"/>
                <a:ea typeface="+mj-ea"/>
                <a:cs typeface="+mj-cs"/>
              </a:rPr>
              <a:t>Μοντέλο MILP</a:t>
            </a:r>
          </a:p>
        </p:txBody>
      </p:sp>
      <p:sp>
        <p:nvSpPr>
          <p:cNvPr id="11" name="Arc 10">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EEF4348-B659-3DD7-F787-C04D22E69156}"/>
                  </a:ext>
                </a:extLst>
              </p:cNvPr>
              <p:cNvSpPr txBox="1"/>
              <p:nvPr/>
            </p:nvSpPr>
            <p:spPr>
              <a:xfrm>
                <a:off x="838200" y="1825625"/>
                <a:ext cx="10515600" cy="4351338"/>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dirty="0" err="1"/>
                  <a:t>Μετ</a:t>
                </a:r>
                <a:r>
                  <a:rPr lang="en-US" dirty="0"/>
                  <a:t>αβλητές Απόφασης</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𝑥</m:t>
                        </m:r>
                      </m:e>
                      <m:sub>
                        <m:r>
                          <a:rPr lang="en-US" b="0" i="1">
                            <a:latin typeface="Cambria Math" panose="02040503050406030204" pitchFamily="18" charset="0"/>
                          </a:rPr>
                          <m:t>𝑖𝑗𝑘</m:t>
                        </m:r>
                      </m:sub>
                    </m:sSub>
                  </m:oMath>
                </a14:m>
                <a:r>
                  <a:rPr lang="en-US" dirty="0"/>
                  <a:t>: </a:t>
                </a:r>
                <a:r>
                  <a:rPr lang="en-US" dirty="0" err="1"/>
                  <a:t>χρήση</a:t>
                </a:r>
                <a:r>
                  <a:rPr lang="en-US" dirty="0"/>
                  <a:t> </a:t>
                </a:r>
                <a:r>
                  <a:rPr lang="en-US" dirty="0" err="1"/>
                  <a:t>της</a:t>
                </a:r>
                <a:r>
                  <a:rPr lang="en-US" dirty="0"/>
                  <a:t> α</a:t>
                </a:r>
                <a:r>
                  <a:rPr lang="en-US" dirty="0" err="1"/>
                  <a:t>κμής</a:t>
                </a:r>
                <a:r>
                  <a:rPr lang="en-US" dirty="0"/>
                  <a:t> </a:t>
                </a:r>
                <a14:m>
                  <m:oMath xmlns:m="http://schemas.openxmlformats.org/officeDocument/2006/math">
                    <m:r>
                      <a:rPr lang="en-US" b="0" i="1">
                        <a:latin typeface="Cambria Math" panose="02040503050406030204" pitchFamily="18" charset="0"/>
                      </a:rPr>
                      <m:t>𝑖</m:t>
                    </m:r>
                    <m:r>
                      <a:rPr lang="en-US" b="0" i="1">
                        <a:latin typeface="Cambria Math" panose="02040503050406030204" pitchFamily="18" charset="0"/>
                      </a:rPr>
                      <m:t>→</m:t>
                    </m:r>
                    <m:r>
                      <a:rPr lang="en-US" b="0" i="1">
                        <a:latin typeface="Cambria Math" panose="02040503050406030204" pitchFamily="18" charset="0"/>
                      </a:rPr>
                      <m:t>𝑗</m:t>
                    </m:r>
                  </m:oMath>
                </a14:m>
                <a:r>
                  <a:rPr lang="en-US" dirty="0"/>
                  <a:t> από </a:t>
                </a:r>
                <a:r>
                  <a:rPr lang="en-US" dirty="0" err="1"/>
                  <a:t>το</a:t>
                </a:r>
                <a:r>
                  <a:rPr lang="en-US" dirty="0"/>
                  <a:t> </a:t>
                </a:r>
                <a:r>
                  <a:rPr lang="en-US" dirty="0" err="1"/>
                  <a:t>όχημ</a:t>
                </a:r>
                <a:r>
                  <a:rPr lang="en-US" dirty="0"/>
                  <a:t>α k</a:t>
                </a:r>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𝑦</m:t>
                        </m:r>
                      </m:e>
                      <m:sub>
                        <m:r>
                          <a:rPr lang="en-US" b="0" i="1">
                            <a:latin typeface="Cambria Math" panose="02040503050406030204" pitchFamily="18" charset="0"/>
                          </a:rPr>
                          <m:t>𝑖𝑘</m:t>
                        </m:r>
                      </m:sub>
                    </m:sSub>
                    <m:r>
                      <a:rPr lang="en-US" b="0" i="1">
                        <a:latin typeface="Cambria Math" panose="02040503050406030204" pitchFamily="18" charset="0"/>
                      </a:rPr>
                      <m:t>:</m:t>
                    </m:r>
                  </m:oMath>
                </a14:m>
                <a:r>
                  <a:rPr lang="en-US" dirty="0"/>
                  <a:t> α</a:t>
                </a:r>
                <a:r>
                  <a:rPr lang="en-US" dirty="0" err="1"/>
                  <a:t>νάθεση</a:t>
                </a:r>
                <a:r>
                  <a:rPr lang="en-US" dirty="0"/>
                  <a:t> </a:t>
                </a:r>
                <a:r>
                  <a:rPr lang="en-US" dirty="0" err="1"/>
                  <a:t>του</a:t>
                </a:r>
                <a:r>
                  <a:rPr lang="en-US" dirty="0"/>
                  <a:t> π</a:t>
                </a:r>
                <a:r>
                  <a:rPr lang="en-US" dirty="0" err="1"/>
                  <a:t>ελάτη</a:t>
                </a:r>
                <a:r>
                  <a:rPr lang="en-US" dirty="0"/>
                  <a:t> </a:t>
                </a:r>
                <a14:m>
                  <m:oMath xmlns:m="http://schemas.openxmlformats.org/officeDocument/2006/math">
                    <m:r>
                      <a:rPr lang="en-US" b="0" i="1">
                        <a:latin typeface="Cambria Math" panose="02040503050406030204" pitchFamily="18" charset="0"/>
                      </a:rPr>
                      <m:t>𝑖</m:t>
                    </m:r>
                  </m:oMath>
                </a14:m>
                <a:r>
                  <a:rPr lang="en-US" dirty="0"/>
                  <a:t> </a:t>
                </a:r>
                <a:r>
                  <a:rPr lang="en-US" dirty="0" err="1"/>
                  <a:t>στο</a:t>
                </a:r>
                <a:r>
                  <a:rPr lang="en-US" dirty="0"/>
                  <a:t> </a:t>
                </a:r>
                <a:r>
                  <a:rPr lang="en-US" dirty="0" err="1"/>
                  <a:t>όχημ</a:t>
                </a:r>
                <a:r>
                  <a:rPr lang="en-US" dirty="0"/>
                  <a:t>α k</a:t>
                </a:r>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𝑧</m:t>
                        </m:r>
                      </m:e>
                      <m:sub>
                        <m:r>
                          <a:rPr lang="en-US" b="0" i="1">
                            <a:latin typeface="Cambria Math" panose="02040503050406030204" pitchFamily="18" charset="0"/>
                          </a:rPr>
                          <m:t>𝑘</m:t>
                        </m:r>
                      </m:sub>
                    </m:sSub>
                    <m:r>
                      <a:rPr lang="en-US" b="0" i="1">
                        <a:latin typeface="Cambria Math" panose="02040503050406030204" pitchFamily="18" charset="0"/>
                      </a:rPr>
                      <m:t>:</m:t>
                    </m:r>
                    <m:r>
                      <a:rPr lang="en-US" b="0" i="0">
                        <a:latin typeface="Cambria Math" panose="02040503050406030204" pitchFamily="18" charset="0"/>
                      </a:rPr>
                      <m:t> </m:t>
                    </m:r>
                  </m:oMath>
                </a14:m>
                <a:r>
                  <a:rPr lang="en-US" dirty="0" err="1"/>
                  <a:t>ενεργο</a:t>
                </a:r>
                <a:r>
                  <a:rPr lang="en-US" dirty="0"/>
                  <a:t>ποίηση του οχήματος k </a:t>
                </a:r>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𝑖𝑘</m:t>
                        </m:r>
                      </m:sub>
                    </m:sSub>
                  </m:oMath>
                </a14:m>
                <a:r>
                  <a:rPr lang="en-US" dirty="0"/>
                  <a:t>: </a:t>
                </a:r>
                <a:r>
                  <a:rPr lang="en-US" dirty="0" err="1"/>
                  <a:t>συσσωρευτικό</a:t>
                </a:r>
                <a:r>
                  <a:rPr lang="en-US" dirty="0"/>
                  <a:t> </a:t>
                </a:r>
                <a:r>
                  <a:rPr lang="en-US" dirty="0" err="1"/>
                  <a:t>φορτίο</a:t>
                </a:r>
                <a:r>
                  <a:rPr lang="en-US" dirty="0"/>
                  <a:t> και απ</a:t>
                </a:r>
                <a:r>
                  <a:rPr lang="en-US" dirty="0" err="1"/>
                  <a:t>οτρο</a:t>
                </a:r>
                <a:r>
                  <a:rPr lang="en-US" dirty="0"/>
                  <a:t>πή υποκύκλων</a:t>
                </a:r>
              </a:p>
              <a:p>
                <a:pPr indent="-228600">
                  <a:lnSpc>
                    <a:spcPct val="90000"/>
                  </a:lnSpc>
                  <a:spcAft>
                    <a:spcPts val="600"/>
                  </a:spcAft>
                  <a:buFont typeface="Arial" panose="020B0604020202020204" pitchFamily="34" charset="0"/>
                  <a:buChar char="•"/>
                </a:pPr>
                <a14:m>
                  <m:oMath xmlns:m="http://schemas.openxmlformats.org/officeDocument/2006/math">
                    <m:sSub>
                      <m:sSubPr>
                        <m:ctrlPr>
                          <a:rPr lang="en-US" b="0" i="1">
                            <a:latin typeface="Cambria Math" panose="02040503050406030204" pitchFamily="18" charset="0"/>
                          </a:rPr>
                        </m:ctrlPr>
                      </m:sSubPr>
                      <m:e>
                        <m:r>
                          <a:rPr lang="en-US" b="0" i="1">
                            <a:latin typeface="Cambria Math" panose="02040503050406030204" pitchFamily="18" charset="0"/>
                          </a:rPr>
                          <m:t>𝑇</m:t>
                        </m:r>
                      </m:e>
                      <m:sub>
                        <m:r>
                          <a:rPr lang="en-US" b="0" i="1">
                            <a:latin typeface="Cambria Math" panose="02040503050406030204" pitchFamily="18" charset="0"/>
                          </a:rPr>
                          <m:t>𝑖𝑘</m:t>
                        </m:r>
                      </m:sub>
                    </m:sSub>
                    <m:r>
                      <a:rPr lang="en-US" b="0" i="1">
                        <a:latin typeface="Cambria Math" panose="02040503050406030204" pitchFamily="18" charset="0"/>
                      </a:rPr>
                      <m:t>, </m:t>
                    </m:r>
                    <m:sSub>
                      <m:sSubPr>
                        <m:ctrlPr>
                          <a:rPr lang="en-US" b="0" i="1">
                            <a:latin typeface="Cambria Math" panose="02040503050406030204" pitchFamily="18" charset="0"/>
                          </a:rPr>
                        </m:ctrlPr>
                      </m:sSubPr>
                      <m:e>
                        <m:r>
                          <a:rPr lang="en-US" b="0" i="1">
                            <a:latin typeface="Cambria Math" panose="02040503050406030204" pitchFamily="18" charset="0"/>
                          </a:rPr>
                          <m:t>𝑃</m:t>
                        </m:r>
                      </m:e>
                      <m:sub>
                        <m:r>
                          <a:rPr lang="en-US" b="0" i="1">
                            <a:latin typeface="Cambria Math" panose="02040503050406030204" pitchFamily="18" charset="0"/>
                          </a:rPr>
                          <m:t>𝑘</m:t>
                        </m:r>
                      </m:sub>
                    </m:sSub>
                    <m:r>
                      <a:rPr lang="en-US" b="0" i="1">
                        <a:latin typeface="Cambria Math" panose="02040503050406030204" pitchFamily="18" charset="0"/>
                      </a:rPr>
                      <m:t>, </m:t>
                    </m:r>
                    <m:sSub>
                      <m:sSubPr>
                        <m:ctrlPr>
                          <a:rPr lang="en-US" b="0" i="1">
                            <a:latin typeface="Cambria Math" panose="02040503050406030204" pitchFamily="18" charset="0"/>
                          </a:rPr>
                        </m:ctrlPr>
                      </m:sSubPr>
                      <m:e>
                        <m:r>
                          <a:rPr lang="en-US" b="0" i="1">
                            <a:latin typeface="Cambria Math" panose="02040503050406030204" pitchFamily="18" charset="0"/>
                          </a:rPr>
                          <m:t>𝑅</m:t>
                        </m:r>
                      </m:e>
                      <m:sub>
                        <m:r>
                          <a:rPr lang="en-US" b="0" i="1">
                            <a:latin typeface="Cambria Math" panose="02040503050406030204" pitchFamily="18" charset="0"/>
                          </a:rPr>
                          <m:t>𝑘</m:t>
                        </m:r>
                      </m:sub>
                    </m:sSub>
                    <m:r>
                      <a:rPr lang="en-US" b="0" i="1">
                        <a:latin typeface="Cambria Math" panose="02040503050406030204" pitchFamily="18" charset="0"/>
                      </a:rPr>
                      <m:t>:</m:t>
                    </m:r>
                  </m:oMath>
                </a14:m>
                <a:r>
                  <a:rPr lang="en-US" dirty="0"/>
                  <a:t> </a:t>
                </a:r>
                <a:r>
                  <a:rPr lang="en-US" dirty="0" err="1"/>
                  <a:t>εξυ</a:t>
                </a:r>
                <a:r>
                  <a:rPr lang="en-US" dirty="0"/>
                  <a:t>πηρέτηση, αναχώρηση κι επιστροφή</a:t>
                </a:r>
              </a:p>
            </p:txBody>
          </p:sp>
        </mc:Choice>
        <mc:Fallback xmlns="">
          <p:sp>
            <p:nvSpPr>
              <p:cNvPr id="5" name="TextBox 4">
                <a:extLst>
                  <a:ext uri="{FF2B5EF4-FFF2-40B4-BE49-F238E27FC236}">
                    <a16:creationId xmlns:a16="http://schemas.microsoft.com/office/drawing/2014/main" id="{8EEF4348-B659-3DD7-F787-C04D22E69156}"/>
                  </a:ext>
                </a:extLst>
              </p:cNvPr>
              <p:cNvSpPr txBox="1">
                <a:spLocks noRot="1" noChangeAspect="1" noMove="1" noResize="1" noEditPoints="1" noAdjustHandles="1" noChangeArrowheads="1" noChangeShapeType="1" noTextEdit="1"/>
              </p:cNvSpPr>
              <p:nvPr/>
            </p:nvSpPr>
            <p:spPr>
              <a:xfrm>
                <a:off x="838200" y="1825625"/>
                <a:ext cx="10515600" cy="4351338"/>
              </a:xfrm>
              <a:prstGeom prst="rect">
                <a:avLst/>
              </a:prstGeom>
              <a:blipFill>
                <a:blip r:embed="rId2"/>
                <a:stretch>
                  <a:fillRect l="-406" t="-12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31CAB1B-A869-E9C3-E783-A31F0A3C40E9}"/>
                  </a:ext>
                </a:extLst>
              </p:cNvPr>
              <p:cNvSpPr txBox="1"/>
              <p:nvPr/>
            </p:nvSpPr>
            <p:spPr>
              <a:xfrm>
                <a:off x="6834821" y="1833361"/>
                <a:ext cx="5257938" cy="3073790"/>
              </a:xfrm>
              <a:prstGeom prst="rect">
                <a:avLst/>
              </a:prstGeom>
              <a:noFill/>
            </p:spPr>
            <p:txBody>
              <a:bodyPr wrap="square">
                <a:spAutoFit/>
              </a:bodyPr>
              <a:lstStyle/>
              <a:p>
                <a:pPr>
                  <a:spcAft>
                    <a:spcPts val="600"/>
                  </a:spcAft>
                </a:pPr>
                <a:r>
                  <a:rPr lang="el-GR" sz="2400" dirty="0"/>
                  <a:t>Αντικειμενική Συνάρτηση</a:t>
                </a:r>
                <a:endParaRPr lang="en-US" sz="2400" dirty="0"/>
              </a:p>
              <a:p>
                <a:pPr>
                  <a:spcAft>
                    <a:spcPts val="600"/>
                  </a:spcAft>
                </a:pPr>
                <a:endParaRPr lang="el-GR" sz="2400" dirty="0"/>
              </a:p>
              <a:p>
                <a:pPr>
                  <a:spcAft>
                    <a:spcPts val="600"/>
                  </a:spcAft>
                </a:pPr>
                <a14:m>
                  <m:oMathPara xmlns:m="http://schemas.openxmlformats.org/officeDocument/2006/math">
                    <m:oMath>
                      <m:r>
                        <m:rPr>
                          <m:nor/>
                        </m:rPr>
                        <a:rPr lang="en-US" i="0"/>
                        <m:t>min </m:t>
                      </m:r>
                      <m:r>
                        <a:rPr lang="en-US" i="1">
                          <a:latin typeface="Cambria Math" panose="02040503050406030204" pitchFamily="18" charset="0"/>
                        </a:rPr>
                        <m:t>𝑍</m:t>
                      </m:r>
                      <m:r>
                        <a:rPr lang="en-US" i="1">
                          <a:latin typeface="Cambria Math" panose="02040503050406030204" pitchFamily="18" charset="0"/>
                        </a:rPr>
                        <m:t>=</m:t>
                      </m:r>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𝐾</m:t>
                          </m:r>
                        </m:sub>
                        <m:sup/>
                        <m:e>
                          <m:sSub>
                            <m:sSubPr>
                              <m:ctrlPr>
                                <a:rPr lang="en-US" i="1">
                                  <a:latin typeface="Cambria Math" panose="02040503050406030204" pitchFamily="18" charset="0"/>
                                </a:rPr>
                              </m:ctrlPr>
                            </m:sSubPr>
                            <m:e>
                              <m:r>
                                <a:rPr lang="en-US" i="1">
                                  <a:latin typeface="Cambria Math" panose="02040503050406030204" pitchFamily="18" charset="0"/>
                                </a:rPr>
                                <m:t>𝐹</m:t>
                              </m:r>
                            </m:e>
                            <m:sub>
                              <m:r>
                                <a:rPr lang="en-US" i="1">
                                  <a:latin typeface="Cambria Math" panose="02040503050406030204" pitchFamily="18" charset="0"/>
                                </a:rPr>
                                <m:t>𝑘</m:t>
                              </m:r>
                            </m:sub>
                          </m:sSub>
                        </m:e>
                      </m:nary>
                      <m:sSub>
                        <m:sSubPr>
                          <m:ctrlPr>
                            <a:rPr lang="en-US" i="1">
                              <a:latin typeface="Cambria Math" panose="02040503050406030204" pitchFamily="18" charset="0"/>
                            </a:rPr>
                          </m:ctrlPr>
                        </m:sSubPr>
                        <m:e>
                          <m:r>
                            <a:rPr lang="en-US" i="1">
                              <a:latin typeface="Cambria Math" panose="02040503050406030204" pitchFamily="18" charset="0"/>
                            </a:rPr>
                            <m:t>𝑧</m:t>
                          </m:r>
                        </m:e>
                        <m:sub>
                          <m:r>
                            <a:rPr lang="en-US" i="1">
                              <a:latin typeface="Cambria Math" panose="02040503050406030204" pitchFamily="18" charset="0"/>
                            </a:rPr>
                            <m:t>𝑘</m:t>
                          </m:r>
                        </m:sub>
                      </m:sSub>
                      <m:r>
                        <a:rPr lang="en-US" i="1">
                          <a:latin typeface="Cambria Math" panose="02040503050406030204" pitchFamily="18" charset="0"/>
                        </a:rPr>
                        <m:t>+</m:t>
                      </m:r>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𝑘</m:t>
                          </m:r>
                          <m:r>
                            <a:rPr lang="en-US" i="1">
                              <a:latin typeface="Cambria Math" panose="02040503050406030204" pitchFamily="18" charset="0"/>
                            </a:rPr>
                            <m:t>∈</m:t>
                          </m:r>
                          <m:r>
                            <a:rPr lang="en-US" i="1">
                              <a:latin typeface="Cambria Math" panose="02040503050406030204" pitchFamily="18" charset="0"/>
                            </a:rPr>
                            <m:t>𝐾</m:t>
                          </m:r>
                        </m:sub>
                        <m:sup/>
                        <m:e>
                          <m:nary>
                            <m:naryPr>
                              <m:chr m:val="∑"/>
                              <m:limLoc m:val="undOvr"/>
                              <m:supHide m:val="on"/>
                              <m:ctrlPr>
                                <a:rPr lang="en-US" i="1">
                                  <a:latin typeface="Cambria Math" panose="02040503050406030204" pitchFamily="18" charset="0"/>
                                </a:rPr>
                              </m:ctrlPr>
                            </m:naryPr>
                            <m:sub>
                              <m:d>
                                <m:dPr>
                                  <m:ctrlPr>
                                    <a:rPr lang="en-US" i="1">
                                      <a:latin typeface="Cambria Math" panose="02040503050406030204" pitchFamily="18" charset="0"/>
                                    </a:rPr>
                                  </m:ctrlPr>
                                </m:dPr>
                                <m:e>
                                  <m:r>
                                    <a:rPr lang="en-US" i="1">
                                      <a:latin typeface="Cambria Math" panose="02040503050406030204" pitchFamily="18" charset="0"/>
                                    </a:rPr>
                                    <m:t>𝑖</m:t>
                                  </m:r>
                                  <m:r>
                                    <a:rPr lang="en-US" i="1">
                                      <a:latin typeface="Cambria Math" panose="02040503050406030204" pitchFamily="18" charset="0"/>
                                    </a:rPr>
                                    <m:t>,</m:t>
                                  </m:r>
                                  <m:r>
                                    <a:rPr lang="en-US" i="1">
                                      <a:latin typeface="Cambria Math" panose="02040503050406030204" pitchFamily="18" charset="0"/>
                                    </a:rPr>
                                    <m:t>𝑗</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𝑘</m:t>
                                  </m:r>
                                </m:sub>
                              </m:sSub>
                            </m:sub>
                            <m:sup/>
                            <m:e>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𝑖𝑗𝑘</m:t>
                                  </m:r>
                                </m:sub>
                              </m:sSub>
                            </m:e>
                          </m:nary>
                        </m:e>
                      </m:nary>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𝑖𝑗𝑘</m:t>
                          </m:r>
                        </m:sub>
                      </m:sSub>
                    </m:oMath>
                  </m:oMathPara>
                </a14:m>
                <a:endParaRPr lang="en-US" dirty="0"/>
              </a:p>
              <a:p>
                <a:pPr>
                  <a:spcAft>
                    <a:spcPts val="600"/>
                  </a:spcAft>
                </a:pPr>
                <a:endParaRPr lang="en-US" dirty="0"/>
              </a:p>
              <a:p>
                <a:pPr>
                  <a:spcAft>
                    <a:spcPts val="600"/>
                  </a:spcAft>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𝑖𝑗𝑘</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𝑐</m:t>
                        </m:r>
                      </m:e>
                      <m:sub>
                        <m:r>
                          <a:rPr lang="en-US" i="1">
                            <a:latin typeface="Cambria Math" panose="02040503050406030204" pitchFamily="18" charset="0"/>
                          </a:rPr>
                          <m:t>𝑘</m:t>
                        </m:r>
                      </m:sub>
                      <m:sup>
                        <m:r>
                          <a:rPr lang="en-US" i="1">
                            <a:latin typeface="Cambria Math" panose="02040503050406030204" pitchFamily="18" charset="0"/>
                          </a:rPr>
                          <m:t>𝑑</m:t>
                        </m:r>
                      </m:sup>
                    </m:sSubSup>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𝑖𝑗</m:t>
                        </m:r>
                      </m:sub>
                    </m:sSub>
                    <m:r>
                      <a:rPr lang="en-US" i="1">
                        <a:latin typeface="Cambria Math" panose="02040503050406030204" pitchFamily="18" charset="0"/>
                      </a:rPr>
                      <m:t>+</m:t>
                    </m:r>
                    <m:sSubSup>
                      <m:sSubSupPr>
                        <m:ctrlPr>
                          <a:rPr lang="en-US" i="1">
                            <a:latin typeface="Cambria Math" panose="02040503050406030204" pitchFamily="18" charset="0"/>
                          </a:rPr>
                        </m:ctrlPr>
                      </m:sSubSupPr>
                      <m:e>
                        <m:r>
                          <a:rPr lang="en-US" i="1">
                            <a:latin typeface="Cambria Math" panose="02040503050406030204" pitchFamily="18" charset="0"/>
                          </a:rPr>
                          <m:t>𝑐</m:t>
                        </m:r>
                      </m:e>
                      <m:sub>
                        <m:r>
                          <a:rPr lang="en-US" i="1">
                            <a:latin typeface="Cambria Math" panose="02040503050406030204" pitchFamily="18" charset="0"/>
                          </a:rPr>
                          <m:t>𝑘</m:t>
                        </m:r>
                      </m:sub>
                      <m:sup>
                        <m:r>
                          <a:rPr lang="en-US" i="1">
                            <a:latin typeface="Cambria Math" panose="02040503050406030204" pitchFamily="18" charset="0"/>
                          </a:rPr>
                          <m:t>𝑡</m:t>
                        </m:r>
                      </m:sup>
                    </m:sSubSup>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𝑖𝑗</m:t>
                        </m:r>
                      </m:sub>
                    </m:sSub>
                  </m:oMath>
                </a14:m>
                <a:r>
                  <a:rPr lang="el-GR" dirty="0"/>
                  <a:t>, το κόστος μετακίνησης του οχήματος </a:t>
                </a:r>
                <a:r>
                  <a:rPr lang="en-US" dirty="0"/>
                  <a:t>k </a:t>
                </a:r>
                <a:r>
                  <a:rPr lang="el-GR" dirty="0"/>
                  <a:t>στην διαδρομή</a:t>
                </a:r>
                <a:endParaRPr lang="en-US" dirty="0"/>
              </a:p>
              <a:p>
                <a:pPr>
                  <a:spcAft>
                    <a:spcPts val="600"/>
                  </a:spcAft>
                </a:pPr>
                <a:endParaRPr lang="en-US" dirty="0"/>
              </a:p>
            </p:txBody>
          </p:sp>
        </mc:Choice>
        <mc:Fallback xmlns="">
          <p:sp>
            <p:nvSpPr>
              <p:cNvPr id="7" name="TextBox 6">
                <a:extLst>
                  <a:ext uri="{FF2B5EF4-FFF2-40B4-BE49-F238E27FC236}">
                    <a16:creationId xmlns:a16="http://schemas.microsoft.com/office/drawing/2014/main" id="{531CAB1B-A869-E9C3-E783-A31F0A3C40E9}"/>
                  </a:ext>
                </a:extLst>
              </p:cNvPr>
              <p:cNvSpPr txBox="1">
                <a:spLocks noRot="1" noChangeAspect="1" noMove="1" noResize="1" noEditPoints="1" noAdjustHandles="1" noChangeArrowheads="1" noChangeShapeType="1" noTextEdit="1"/>
              </p:cNvSpPr>
              <p:nvPr/>
            </p:nvSpPr>
            <p:spPr>
              <a:xfrm>
                <a:off x="6834821" y="1833361"/>
                <a:ext cx="5257938" cy="3073790"/>
              </a:xfrm>
              <a:prstGeom prst="rect">
                <a:avLst/>
              </a:prstGeom>
              <a:blipFill>
                <a:blip r:embed="rId3"/>
                <a:stretch>
                  <a:fillRect l="-1738" t="-1587"/>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A9EDFF96-0323-0F1C-8A0B-84A5794E5418}"/>
              </a:ext>
            </a:extLst>
          </p:cNvPr>
          <p:cNvSpPr txBox="1"/>
          <p:nvPr/>
        </p:nvSpPr>
        <p:spPr>
          <a:xfrm>
            <a:off x="6989944" y="4914887"/>
            <a:ext cx="1804252" cy="369332"/>
          </a:xfrm>
          <a:prstGeom prst="rect">
            <a:avLst/>
          </a:prstGeom>
          <a:noFill/>
        </p:spPr>
        <p:txBody>
          <a:bodyPr wrap="square" rtlCol="0">
            <a:spAutoFit/>
          </a:bodyPr>
          <a:lstStyle/>
          <a:p>
            <a:r>
              <a:rPr lang="el-GR" dirty="0"/>
              <a:t>Επίλυση με </a:t>
            </a:r>
            <a:r>
              <a:rPr lang="en-US" dirty="0"/>
              <a:t>CBC</a:t>
            </a:r>
          </a:p>
        </p:txBody>
      </p:sp>
    </p:spTree>
    <p:extLst>
      <p:ext uri="{BB962C8B-B14F-4D97-AF65-F5344CB8AC3E}">
        <p14:creationId xmlns:p14="http://schemas.microsoft.com/office/powerpoint/2010/main" val="521238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E76BA-9762-C672-9236-03995C1C310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CEB92F0-55EA-FA68-E3E4-0D480FF081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C575D35-C2A7-1C8F-A5EB-0914F45B72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173CF5DF-7BF9-CF3D-BDAB-4A54DF90786A}"/>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9A877D18-935E-D5A6-9964-7BB14EF66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3E41E06B-69C1-530D-D0C2-4071C28E07E1}"/>
              </a:ext>
            </a:extLst>
          </p:cNvPr>
          <p:cNvSpPr txBox="1"/>
          <p:nvPr/>
        </p:nvSpPr>
        <p:spPr>
          <a:xfrm>
            <a:off x="2151346" y="238560"/>
            <a:ext cx="5425781" cy="568701"/>
          </a:xfrm>
          <a:prstGeom prst="rect">
            <a:avLst/>
          </a:prstGeom>
        </p:spPr>
        <p:txBody>
          <a:bodyPr vert="horz" lIns="91440" tIns="45720" rIns="91440" bIns="45720" rtlCol="0" anchor="b">
            <a:normAutofit/>
          </a:bodyPr>
          <a:lstStyle/>
          <a:p>
            <a:pPr lvl="0">
              <a:lnSpc>
                <a:spcPct val="90000"/>
              </a:lnSpc>
              <a:spcBef>
                <a:spcPct val="0"/>
              </a:spcBef>
              <a:spcAft>
                <a:spcPts val="800"/>
              </a:spcAft>
            </a:pPr>
            <a:r>
              <a:rPr lang="en-US" sz="2400" kern="1200" dirty="0" err="1">
                <a:solidFill>
                  <a:schemeClr val="tx1"/>
                </a:solidFill>
                <a:effectLst/>
                <a:latin typeface="+mj-lt"/>
                <a:ea typeface="+mj-ea"/>
                <a:cs typeface="+mj-cs"/>
              </a:rPr>
              <a:t>Περιορισμοί</a:t>
            </a:r>
            <a:r>
              <a:rPr lang="en-US" sz="2400" kern="1200" dirty="0">
                <a:solidFill>
                  <a:schemeClr val="tx1"/>
                </a:solidFill>
                <a:effectLst/>
                <a:latin typeface="+mj-lt"/>
                <a:ea typeface="+mj-ea"/>
                <a:cs typeface="+mj-cs"/>
              </a:rPr>
              <a:t> CVRP</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81F5B89-2E00-6415-AE3F-5473E7233E37}"/>
                  </a:ext>
                </a:extLst>
              </p:cNvPr>
              <p:cNvSpPr txBox="1"/>
              <p:nvPr/>
            </p:nvSpPr>
            <p:spPr>
              <a:xfrm>
                <a:off x="2151346" y="1027906"/>
                <a:ext cx="6080918" cy="5133136"/>
              </a:xfrm>
              <a:prstGeom prst="rect">
                <a:avLst/>
              </a:prstGeom>
              <a:noFill/>
            </p:spPr>
            <p:txBody>
              <a:bodyPr wrap="square">
                <a:spAutoFit/>
              </a:bodyPr>
              <a:lstStyle/>
              <a:p>
                <a:pPr marL="342900" lvl="0" indent="-342900">
                  <a:lnSpc>
                    <a:spcPct val="100000"/>
                  </a:lnSpc>
                  <a:buFont typeface="Wingdings" panose="05000000000000000000" pitchFamily="2" charset="2"/>
                  <a:buChar char=""/>
                </a:pPr>
                <a14:m>
                  <m:oMath xmlns:m="http://schemas.openxmlformats.org/officeDocument/2006/math">
                    <m:nary>
                      <m:naryPr>
                        <m:chr m:val="∑"/>
                        <m:limLoc m:val="undOvr"/>
                        <m:supHide m:val="on"/>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naryPr>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𝐾</m:t>
                        </m:r>
                      </m:sub>
                      <m:sup/>
                      <m:e>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=1</m:t>
                        </m:r>
                      </m:e>
                    </m:nary>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l-GR" sz="1400" kern="100" dirty="0">
                    <a:effectLst/>
                    <a:ea typeface="Times New Roman" panose="02020603050405020304" pitchFamily="18" charset="0"/>
                    <a:cs typeface="Times New Roman" panose="02020603050405020304" pitchFamily="18" charset="0"/>
                  </a:rPr>
                  <a:t>, κάθε πελάτης εξυπηρετείται μόνο μια φορά</a:t>
                </a:r>
                <a:endParaRPr lang="en-US" sz="1400" kern="100" dirty="0">
                  <a:ea typeface="Times New Roman" panose="02020603050405020304" pitchFamily="18" charset="0"/>
                  <a:cs typeface="Times New Roman" panose="02020603050405020304" pitchFamily="18" charset="0"/>
                </a:endParaRPr>
              </a:p>
              <a:p>
                <a:pPr lvl="0">
                  <a:lnSpc>
                    <a:spcPct val="100000"/>
                  </a:lnSpc>
                </a:pPr>
                <a:endParaRPr lang="en-US" sz="1400" kern="100" dirty="0">
                  <a:effectLst/>
                  <a:ea typeface="Times New Roman" panose="02020603050405020304" pitchFamily="18" charset="0"/>
                  <a:cs typeface="Times New Roman" panose="02020603050405020304" pitchFamily="18" charset="0"/>
                </a:endParaRPr>
              </a:p>
              <a:p>
                <a:pPr marL="342900" lvl="0" indent="-342900">
                  <a:lnSpc>
                    <a:spcPct val="100000"/>
                  </a:lnSpc>
                  <a:buFont typeface="Wingdings" panose="05000000000000000000" pitchFamily="2" charset="2"/>
                  <a:buChar char=""/>
                </a:pPr>
                <a14:m>
                  <m:oMath xmlns:m="http://schemas.openxmlformats.org/officeDocument/2006/math">
                    <m:nary>
                      <m:naryPr>
                        <m:chr m:val="∑"/>
                        <m:limLoc m:val="undOvr"/>
                        <m:supHide m:val="on"/>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naryPr>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𝑗</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𝑗</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sub>
                      <m:sup/>
                      <m:e>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𝑥</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𝑗𝑖𝑘</m:t>
                            </m:r>
                          </m:sub>
                        </m:sSub>
                      </m:e>
                    </m:nary>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𝐶</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𝐾</m:t>
                    </m:r>
                  </m:oMath>
                </a14:m>
                <a:r>
                  <a:rPr lang="el-GR" sz="1400" kern="100" dirty="0">
                    <a:effectLst/>
                    <a:ea typeface="Times New Roman" panose="02020603050405020304" pitchFamily="18" charset="0"/>
                    <a:cs typeface="Times New Roman" panose="02020603050405020304" pitchFamily="18" charset="0"/>
                  </a:rPr>
                  <a:t>, αν ο πελάτης έχει ανατεθεί στο όχημα </a:t>
                </a:r>
                <a:r>
                  <a:rPr lang="en-US" sz="1400" kern="100" dirty="0">
                    <a:effectLst/>
                    <a:ea typeface="Times New Roman" panose="02020603050405020304" pitchFamily="18" charset="0"/>
                    <a:cs typeface="Times New Roman" panose="02020603050405020304" pitchFamily="18" charset="0"/>
                  </a:rPr>
                  <a:t>k</a:t>
                </a:r>
                <a:r>
                  <a:rPr lang="el-GR" sz="1400" kern="100" dirty="0">
                    <a:effectLst/>
                    <a:ea typeface="Times New Roman" panose="02020603050405020304" pitchFamily="18" charset="0"/>
                    <a:cs typeface="Times New Roman" panose="02020603050405020304" pitchFamily="18" charset="0"/>
                  </a:rPr>
                  <a:t>, τότε το όχημα πρέπει να φτάσει σε αυτόν από κάποιον κόμβο (είσοδος στον πελάτη)</a:t>
                </a:r>
                <a:endParaRPr lang="en-US" sz="1400" kern="100" dirty="0">
                  <a:effectLst/>
                  <a:ea typeface="Times New Roman" panose="02020603050405020304" pitchFamily="18" charset="0"/>
                  <a:cs typeface="Times New Roman" panose="02020603050405020304" pitchFamily="18" charset="0"/>
                </a:endParaRPr>
              </a:p>
              <a:p>
                <a:pPr lvl="0">
                  <a:lnSpc>
                    <a:spcPct val="100000"/>
                  </a:lnSpc>
                </a:pPr>
                <a:endParaRPr lang="en-US" sz="1400" kern="100" dirty="0">
                  <a:effectLst/>
                  <a:ea typeface="Aptos" panose="020B0004020202020204" pitchFamily="34" charset="0"/>
                  <a:cs typeface="Times New Roman" panose="02020603050405020304" pitchFamily="18" charset="0"/>
                </a:endParaRPr>
              </a:p>
              <a:p>
                <a:pPr marL="342900" lvl="0" indent="-342900">
                  <a:lnSpc>
                    <a:spcPct val="100000"/>
                  </a:lnSpc>
                  <a:buFont typeface="Wingdings" panose="05000000000000000000" pitchFamily="2" charset="2"/>
                  <a:buChar char=""/>
                </a:pPr>
                <a14:m>
                  <m:oMath xmlns:m="http://schemas.openxmlformats.org/officeDocument/2006/math">
                    <m:nary>
                      <m:naryPr>
                        <m:chr m:val="∑"/>
                        <m:limLoc m:val="undOvr"/>
                        <m:supHide m:val="on"/>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naryPr>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𝑗</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𝑁</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𝑗</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sub>
                      <m:sup/>
                      <m:e>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𝑥</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𝑖𝑗𝑘</m:t>
                            </m:r>
                          </m:sub>
                        </m:sSub>
                      </m:e>
                    </m:nary>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𝐶</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𝐾</m:t>
                    </m:r>
                  </m:oMath>
                </a14:m>
                <a:r>
                  <a:rPr lang="el-GR" sz="1400" kern="100" dirty="0">
                    <a:effectLst/>
                    <a:ea typeface="Times New Roman" panose="02020603050405020304" pitchFamily="18" charset="0"/>
                    <a:cs typeface="Times New Roman" panose="02020603050405020304" pitchFamily="18" charset="0"/>
                  </a:rPr>
                  <a:t>, αν αντίστοιχα το όχημα εξυπηρετήσει τον πελάτη, πρέπει να φύγει από αυτόν (έξοδος από τον πελάτη)</a:t>
                </a:r>
                <a:endParaRPr lang="en-US" sz="1400" kern="100" dirty="0">
                  <a:effectLst/>
                  <a:ea typeface="Times New Roman" panose="02020603050405020304" pitchFamily="18" charset="0"/>
                  <a:cs typeface="Times New Roman" panose="02020603050405020304" pitchFamily="18" charset="0"/>
                </a:endParaRPr>
              </a:p>
              <a:p>
                <a:pPr lvl="0">
                  <a:lnSpc>
                    <a:spcPct val="100000"/>
                  </a:lnSpc>
                </a:pPr>
                <a:endParaRPr lang="en-US" sz="1400" kern="100" dirty="0">
                  <a:effectLst/>
                  <a:ea typeface="Aptos" panose="020B0004020202020204" pitchFamily="34" charset="0"/>
                  <a:cs typeface="Times New Roman" panose="02020603050405020304" pitchFamily="18" charset="0"/>
                </a:endParaRPr>
              </a:p>
              <a:p>
                <a:pPr marL="342900" lvl="0" indent="-342900">
                  <a:lnSpc>
                    <a:spcPct val="100000"/>
                  </a:lnSpc>
                  <a:buFont typeface="Wingdings" panose="05000000000000000000" pitchFamily="2" charset="2"/>
                  <a:buChar char=""/>
                </a:pPr>
                <a14:m>
                  <m:oMath xmlns:m="http://schemas.openxmlformats.org/officeDocument/2006/math">
                    <m:nary>
                      <m:naryPr>
                        <m:chr m:val="∑"/>
                        <m:limLoc m:val="undOvr"/>
                        <m:supHide m:val="on"/>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naryPr>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𝐶</m:t>
                        </m:r>
                      </m:sub>
                      <m:sup/>
                      <m:e>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𝑥</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ℎ</m:t>
                            </m:r>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e>
                            </m:d>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e>
                    </m:nary>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𝐾</m:t>
                    </m:r>
                  </m:oMath>
                </a14:m>
                <a:r>
                  <a:rPr lang="el-GR" sz="1400" kern="100" dirty="0">
                    <a:effectLst/>
                    <a:ea typeface="Times New Roman" panose="02020603050405020304" pitchFamily="18" charset="0"/>
                    <a:cs typeface="Times New Roman" panose="02020603050405020304" pitchFamily="18" charset="0"/>
                  </a:rPr>
                  <a:t>, αν ένα όχημα χρησιμοποιείται, πρέπει να αναχωρήσει από το </a:t>
                </a:r>
                <a:r>
                  <a:rPr lang="en-US" sz="1400" kern="100" dirty="0">
                    <a:effectLst/>
                    <a:ea typeface="Times New Roman" panose="02020603050405020304" pitchFamily="18" charset="0"/>
                    <a:cs typeface="Times New Roman" panose="02020603050405020304" pitchFamily="18" charset="0"/>
                  </a:rPr>
                  <a:t>depot </a:t>
                </a:r>
                <a:r>
                  <a:rPr lang="el-GR" sz="1400" kern="100" dirty="0">
                    <a:effectLst/>
                    <a:ea typeface="Times New Roman" panose="02020603050405020304" pitchFamily="18" charset="0"/>
                    <a:cs typeface="Times New Roman" panose="02020603050405020304" pitchFamily="18" charset="0"/>
                  </a:rPr>
                  <a:t>στο οποίο ανήκει (αναχώρηση από το </a:t>
                </a:r>
                <a:r>
                  <a:rPr lang="en-US" sz="1400" kern="100" dirty="0">
                    <a:effectLst/>
                    <a:ea typeface="Times New Roman" panose="02020603050405020304" pitchFamily="18" charset="0"/>
                    <a:cs typeface="Times New Roman" panose="02020603050405020304" pitchFamily="18" charset="0"/>
                  </a:rPr>
                  <a:t>depot</a:t>
                </a:r>
                <a:r>
                  <a:rPr lang="el-GR" sz="1400" kern="100" dirty="0">
                    <a:effectLst/>
                    <a:ea typeface="Times New Roman" panose="02020603050405020304" pitchFamily="18" charset="0"/>
                    <a:cs typeface="Times New Roman" panose="02020603050405020304" pitchFamily="18" charset="0"/>
                  </a:rPr>
                  <a:t>)</a:t>
                </a:r>
                <a:endParaRPr lang="en-US" sz="1400" kern="100" dirty="0">
                  <a:effectLst/>
                  <a:ea typeface="Times New Roman" panose="02020603050405020304" pitchFamily="18" charset="0"/>
                  <a:cs typeface="Times New Roman" panose="02020603050405020304" pitchFamily="18" charset="0"/>
                </a:endParaRPr>
              </a:p>
              <a:p>
                <a:pPr lvl="0">
                  <a:lnSpc>
                    <a:spcPct val="100000"/>
                  </a:lnSpc>
                </a:pPr>
                <a:endParaRPr lang="en-US" sz="1400" kern="100" dirty="0">
                  <a:effectLst/>
                  <a:ea typeface="Aptos" panose="020B0004020202020204" pitchFamily="34" charset="0"/>
                  <a:cs typeface="Times New Roman" panose="02020603050405020304" pitchFamily="18" charset="0"/>
                </a:endParaRPr>
              </a:p>
              <a:p>
                <a:pPr marL="342900" lvl="0" indent="-342900">
                  <a:lnSpc>
                    <a:spcPct val="100000"/>
                  </a:lnSpc>
                  <a:buFont typeface="Wingdings" panose="05000000000000000000" pitchFamily="2" charset="2"/>
                  <a:buChar char=""/>
                </a:pPr>
                <a14:m>
                  <m:oMath xmlns:m="http://schemas.openxmlformats.org/officeDocument/2006/math">
                    <m:nary>
                      <m:naryPr>
                        <m:chr m:val="∑"/>
                        <m:limLoc m:val="undOvr"/>
                        <m:supHide m:val="on"/>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naryPr>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𝐶</m:t>
                        </m:r>
                      </m:sub>
                      <m:sup/>
                      <m:e>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𝑥</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ℎ</m:t>
                            </m:r>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e>
                            </m:d>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e>
                    </m:nary>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𝐾</m:t>
                    </m:r>
                  </m:oMath>
                </a14:m>
                <a:r>
                  <a:rPr lang="el-GR" sz="1400" kern="100" dirty="0">
                    <a:effectLst/>
                    <a:ea typeface="Times New Roman" panose="02020603050405020304" pitchFamily="18" charset="0"/>
                    <a:cs typeface="Times New Roman" panose="02020603050405020304" pitchFamily="18" charset="0"/>
                  </a:rPr>
                  <a:t>, αν ένα όχημα χρησιμοποιείται, πρέπει στο τέλος της διαδροής να επιστρέψει στο </a:t>
                </a:r>
                <a:r>
                  <a:rPr lang="en-US" sz="1400" kern="100" dirty="0">
                    <a:effectLst/>
                    <a:ea typeface="Times New Roman" panose="02020603050405020304" pitchFamily="18" charset="0"/>
                    <a:cs typeface="Times New Roman" panose="02020603050405020304" pitchFamily="18" charset="0"/>
                  </a:rPr>
                  <a:t>depot</a:t>
                </a:r>
                <a:r>
                  <a:rPr lang="el-GR" sz="1400" kern="100" dirty="0">
                    <a:effectLst/>
                    <a:ea typeface="Times New Roman" panose="02020603050405020304" pitchFamily="18" charset="0"/>
                    <a:cs typeface="Times New Roman" panose="02020603050405020304" pitchFamily="18" charset="0"/>
                  </a:rPr>
                  <a:t> που ανήκει (επιστροφή στο </a:t>
                </a:r>
                <a:r>
                  <a:rPr lang="en-US" sz="1400" kern="100" dirty="0">
                    <a:effectLst/>
                    <a:ea typeface="Times New Roman" panose="02020603050405020304" pitchFamily="18" charset="0"/>
                    <a:cs typeface="Times New Roman" panose="02020603050405020304" pitchFamily="18" charset="0"/>
                  </a:rPr>
                  <a:t>depot</a:t>
                </a:r>
                <a:r>
                  <a:rPr lang="el-GR" sz="1400" kern="100" dirty="0">
                    <a:effectLst/>
                    <a:ea typeface="Times New Roman" panose="02020603050405020304" pitchFamily="18" charset="0"/>
                    <a:cs typeface="Times New Roman" panose="02020603050405020304" pitchFamily="18" charset="0"/>
                  </a:rPr>
                  <a:t>)</a:t>
                </a:r>
                <a:endParaRPr lang="en-US" sz="1400" kern="100" dirty="0">
                  <a:effectLst/>
                  <a:ea typeface="Times New Roman" panose="02020603050405020304" pitchFamily="18" charset="0"/>
                  <a:cs typeface="Times New Roman" panose="02020603050405020304" pitchFamily="18" charset="0"/>
                </a:endParaRPr>
              </a:p>
              <a:p>
                <a:pPr lvl="0">
                  <a:lnSpc>
                    <a:spcPct val="100000"/>
                  </a:lnSpc>
                </a:pPr>
                <a:endParaRPr lang="en-US" sz="1400" kern="100" dirty="0">
                  <a:effectLst/>
                  <a:ea typeface="Aptos" panose="020B0004020202020204" pitchFamily="34" charset="0"/>
                  <a:cs typeface="Times New Roman" panose="02020603050405020304" pitchFamily="18" charset="0"/>
                </a:endParaRPr>
              </a:p>
              <a:p>
                <a:pPr marL="342900" lvl="0" indent="-342900">
                  <a:lnSpc>
                    <a:spcPct val="100000"/>
                  </a:lnSpc>
                  <a:buFont typeface="Wingdings" panose="05000000000000000000" pitchFamily="2" charset="2"/>
                  <a:buChar char=""/>
                </a:pPr>
                <a14:m>
                  <m:oMath xmlns:m="http://schemas.openxmlformats.org/officeDocument/2006/math">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𝐾</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l-GR" sz="1400" kern="100" dirty="0">
                    <a:effectLst/>
                    <a:ea typeface="Times New Roman" panose="02020603050405020304" pitchFamily="18" charset="0"/>
                    <a:cs typeface="Times New Roman" panose="02020603050405020304" pitchFamily="18" charset="0"/>
                  </a:rPr>
                  <a:t> ένας πελάτης μπορεί να ανατεθεί μόνο σε ενεργό όχημα</a:t>
                </a:r>
                <a:endParaRPr lang="en-US" sz="1400" kern="100" dirty="0">
                  <a:effectLst/>
                  <a:ea typeface="Times New Roman" panose="02020603050405020304" pitchFamily="18" charset="0"/>
                  <a:cs typeface="Times New Roman" panose="02020603050405020304" pitchFamily="18" charset="0"/>
                </a:endParaRPr>
              </a:p>
              <a:p>
                <a:pPr lvl="0">
                  <a:lnSpc>
                    <a:spcPct val="100000"/>
                  </a:lnSpc>
                </a:pPr>
                <a:endParaRPr lang="en-US" sz="1400" kern="100" dirty="0">
                  <a:effectLst/>
                  <a:ea typeface="Aptos" panose="020B0004020202020204" pitchFamily="34" charset="0"/>
                  <a:cs typeface="Times New Roman" panose="02020603050405020304" pitchFamily="18" charset="0"/>
                </a:endParaRPr>
              </a:p>
              <a:p>
                <a:pPr marL="342900" lvl="0" indent="-342900">
                  <a:lnSpc>
                    <a:spcPct val="100000"/>
                  </a:lnSpc>
                  <a:spcAft>
                    <a:spcPts val="800"/>
                  </a:spcAft>
                  <a:buFont typeface="Wingdings" panose="05000000000000000000" pitchFamily="2" charset="2"/>
                  <a:buChar char=""/>
                </a:pPr>
                <a14:m>
                  <m:oMath xmlns:m="http://schemas.openxmlformats.org/officeDocument/2006/math">
                    <m:nary>
                      <m:naryPr>
                        <m:chr m:val="∑"/>
                        <m:limLoc m:val="undOvr"/>
                        <m:supHide m:val="on"/>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naryPr>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𝐶</m:t>
                        </m:r>
                      </m:sub>
                      <m:sup/>
                      <m:e>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𝑞</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sub>
                        </m:sSub>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Sub>
                      </m:e>
                    </m:nary>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Sub>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𝑧</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𝐾</m:t>
                    </m:r>
                  </m:oMath>
                </a14:m>
                <a:r>
                  <a:rPr lang="el-GR" sz="1400" kern="100" dirty="0">
                    <a:effectLst/>
                    <a:ea typeface="Times New Roman" panose="02020603050405020304" pitchFamily="18" charset="0"/>
                    <a:cs typeface="Times New Roman" panose="02020603050405020304" pitchFamily="18" charset="0"/>
                  </a:rPr>
                  <a:t>, το άθροισμα της ζήτησης όλων των πελατών που ανατίθενται σε ένα όχημα δεν πρέπει να ξεπερνά τη χωρητικότητά του</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8" name="TextBox 7">
                <a:extLst>
                  <a:ext uri="{FF2B5EF4-FFF2-40B4-BE49-F238E27FC236}">
                    <a16:creationId xmlns:a16="http://schemas.microsoft.com/office/drawing/2014/main" id="{A81F5B89-2E00-6415-AE3F-5473E7233E37}"/>
                  </a:ext>
                </a:extLst>
              </p:cNvPr>
              <p:cNvSpPr txBox="1">
                <a:spLocks noRot="1" noChangeAspect="1" noMove="1" noResize="1" noEditPoints="1" noAdjustHandles="1" noChangeArrowheads="1" noChangeShapeType="1" noTextEdit="1"/>
              </p:cNvSpPr>
              <p:nvPr/>
            </p:nvSpPr>
            <p:spPr>
              <a:xfrm>
                <a:off x="2151346" y="1027906"/>
                <a:ext cx="6080918" cy="5133136"/>
              </a:xfrm>
              <a:prstGeom prst="rect">
                <a:avLst/>
              </a:prstGeom>
              <a:blipFill>
                <a:blip r:embed="rId2"/>
                <a:stretch>
                  <a:fillRect l="-201" t="-6176" b="-356"/>
                </a:stretch>
              </a:blipFill>
            </p:spPr>
            <p:txBody>
              <a:bodyPr/>
              <a:lstStyle/>
              <a:p>
                <a:r>
                  <a:rPr lang="en-US">
                    <a:noFill/>
                  </a:rPr>
                  <a:t> </a:t>
                </a:r>
              </a:p>
            </p:txBody>
          </p:sp>
        </mc:Fallback>
      </mc:AlternateContent>
    </p:spTree>
    <p:extLst>
      <p:ext uri="{BB962C8B-B14F-4D97-AF65-F5344CB8AC3E}">
        <p14:creationId xmlns:p14="http://schemas.microsoft.com/office/powerpoint/2010/main" val="307499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A9AEA-CABF-E843-9E62-D6BDAFD3683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AFE1579-EDD6-BD42-8263-423927E361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F83874B-1A0F-FFC2-83C2-AB70B79B01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1546439A-4F8A-F675-AFC4-1676EED01314}"/>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E0BFACDF-1E64-F635-AA84-98E2FB39DA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E618640-C339-D870-4E96-0026A2624826}"/>
                  </a:ext>
                </a:extLst>
              </p:cNvPr>
              <p:cNvSpPr txBox="1"/>
              <p:nvPr/>
            </p:nvSpPr>
            <p:spPr>
              <a:xfrm>
                <a:off x="1447514" y="112539"/>
                <a:ext cx="9138642" cy="6380336"/>
              </a:xfrm>
              <a:prstGeom prst="rect">
                <a:avLst/>
              </a:prstGeom>
              <a:noFill/>
            </p:spPr>
            <p:txBody>
              <a:bodyPr wrap="square">
                <a:spAutoFit/>
              </a:bodyPr>
              <a:lstStyle/>
              <a:p>
                <a:pPr marL="171450" lvl="0" indent="-171450">
                  <a:buFont typeface="Wingdings" panose="05000000000000000000" pitchFamily="2" charset="2"/>
                  <a:buChar char="Ø"/>
                </a:pPr>
                <a14:m>
                  <m:oMath xmlns:m="http://schemas.openxmlformats.org/officeDocument/2006/math">
                    <m:sSub>
                      <m:sSubPr>
                        <m:ctrlPr>
                          <a:rPr lang="el-GR" sz="1400" b="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l-GR" sz="1400" b="0" i="1" kern="10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𝑞</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Sub>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𝑦</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𝐶</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𝐾</m:t>
                    </m:r>
                  </m:oMath>
                </a14:m>
                <a:r>
                  <a:rPr lang="el-GR" sz="1400" kern="100" dirty="0">
                    <a:effectLst/>
                    <a:ea typeface="Times New Roman" panose="02020603050405020304" pitchFamily="18" charset="0"/>
                    <a:cs typeface="Times New Roman" panose="02020603050405020304" pitchFamily="18" charset="0"/>
                  </a:rPr>
                  <a:t>, </a:t>
                </a:r>
                <a:r>
                  <a:rPr lang="el-GR" sz="1400" dirty="0"/>
                  <a:t>όταν το όχημα επισκεφθεί τον πελάτη </a:t>
                </a:r>
                <a14:m>
                  <m:oMath xmlns:m="http://schemas.openxmlformats.org/officeDocument/2006/math">
                    <m:r>
                      <a:rPr lang="en-US" sz="1400" i="1">
                        <a:latin typeface="Cambria Math" panose="02040503050406030204" pitchFamily="18" charset="0"/>
                      </a:rPr>
                      <m:t>𝑖</m:t>
                    </m:r>
                  </m:oMath>
                </a14:m>
                <a:r>
                  <a:rPr lang="el-GR" sz="1400" dirty="0"/>
                  <a:t> το συνολικό φορτίο που έχει ήδη εξυπηρετήσει πρέπει</a:t>
                </a:r>
                <a:r>
                  <a:rPr lang="en-US" sz="1400" dirty="0"/>
                  <a:t> </a:t>
                </a:r>
                <a:r>
                  <a:rPr lang="el-GR" sz="1400" dirty="0"/>
                  <a:t>να είναι τουλάχιστον ίσο με τη ζήτηση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𝑞</m:t>
                        </m:r>
                      </m:e>
                      <m:sub>
                        <m:r>
                          <a:rPr lang="en-US" sz="1400" i="1">
                            <a:latin typeface="Cambria Math" panose="02040503050406030204" pitchFamily="18" charset="0"/>
                          </a:rPr>
                          <m:t>𝑖</m:t>
                        </m:r>
                      </m:sub>
                    </m:sSub>
                  </m:oMath>
                </a14:m>
                <a:r>
                  <a:rPr lang="el-GR" sz="1400" dirty="0"/>
                  <a:t> του συγκεκριμένου πελάτη και να μην ξεπερνά ποτέ τη χωρητικότητα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𝑄</m:t>
                        </m:r>
                      </m:e>
                      <m:sub>
                        <m:r>
                          <a:rPr lang="en-US" sz="1400" i="1">
                            <a:latin typeface="Cambria Math" panose="02040503050406030204" pitchFamily="18" charset="0"/>
                          </a:rPr>
                          <m:t>𝑘</m:t>
                        </m:r>
                      </m:sub>
                    </m:sSub>
                  </m:oMath>
                </a14:m>
                <a:r>
                  <a:rPr lang="en-US" sz="1400" dirty="0"/>
                  <a:t> </a:t>
                </a:r>
                <a:r>
                  <a:rPr lang="el-GR" sz="1400" dirty="0"/>
                  <a:t>του οχήματος.</a:t>
                </a:r>
                <a:r>
                  <a:rPr lang="en-US" sz="1400" kern="100" dirty="0">
                    <a:effectLst/>
                    <a:ea typeface="Times New Roman" panose="02020603050405020304" pitchFamily="18" charset="0"/>
                    <a:cs typeface="Times New Roman" panose="02020603050405020304" pitchFamily="18" charset="0"/>
                  </a:rPr>
                  <a:t> </a:t>
                </a:r>
                <a:endParaRPr lang="el-GR" sz="1400" kern="100" dirty="0">
                  <a:effectLst/>
                  <a:ea typeface="Times New Roman" panose="02020603050405020304" pitchFamily="18" charset="0"/>
                  <a:cs typeface="Times New Roman" panose="02020603050405020304" pitchFamily="18" charset="0"/>
                </a:endParaRPr>
              </a:p>
              <a:p>
                <a:pPr marL="342900" lvl="0" indent="-342900">
                  <a:lnSpc>
                    <a:spcPct val="100000"/>
                  </a:lnSpc>
                  <a:buFont typeface="Wingdings" panose="05000000000000000000" pitchFamily="2" charset="2"/>
                  <a:buChar char=""/>
                </a:pPr>
                <a:endParaRPr lang="el-GR" sz="1400" i="1" kern="100" dirty="0">
                  <a:ea typeface="Times New Roman" panose="02020603050405020304" pitchFamily="18" charset="0"/>
                  <a:cs typeface="Times New Roman" panose="02020603050405020304" pitchFamily="18" charset="0"/>
                </a:endParaRPr>
              </a:p>
              <a:p>
                <a:pPr marL="342900" lvl="0" indent="-342900">
                  <a:lnSpc>
                    <a:spcPct val="100000"/>
                  </a:lnSpc>
                  <a:buFont typeface="Wingdings" panose="05000000000000000000" pitchFamily="2" charset="2"/>
                  <a:buChar char=""/>
                </a:pPr>
                <a14:m>
                  <m:oMath xmlns:m="http://schemas.openxmlformats.org/officeDocument/2006/math">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𝑗𝑘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𝑢</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𝑞</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𝑗</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𝑀</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𝑗𝑘</m:t>
                        </m:r>
                      </m:sub>
                      <m:sup>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𝑢</m:t>
                        </m:r>
                      </m:sup>
                    </m:sSubSup>
                    <m:d>
                      <m:d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𝑥</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𝑖𝑗𝑘</m:t>
                            </m:r>
                          </m:sub>
                        </m:sSub>
                      </m:e>
                    </m:d>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𝐾</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𝑗</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𝐶</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𝑗</m:t>
                    </m:r>
                    <m:r>
                      <a:rPr lang="el-GR" sz="1400" b="0" i="1" kern="100" smtClean="0">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n-US" sz="1400" i="1">
                            <a:latin typeface="Cambria Math" panose="02040503050406030204" pitchFamily="18" charset="0"/>
                          </a:rPr>
                        </m:ctrlPr>
                      </m:sSubSupPr>
                      <m:e>
                        <m:r>
                          <a:rPr lang="en-US" sz="1400" i="1">
                            <a:latin typeface="Cambria Math" panose="02040503050406030204" pitchFamily="18" charset="0"/>
                          </a:rPr>
                          <m:t>𝛭</m:t>
                        </m:r>
                      </m:e>
                      <m:sub>
                        <m:r>
                          <a:rPr lang="en-US" sz="1400" i="1">
                            <a:latin typeface="Cambria Math" panose="02040503050406030204" pitchFamily="18" charset="0"/>
                          </a:rPr>
                          <m:t>𝑗𝑘</m:t>
                        </m:r>
                      </m:sub>
                      <m:sup>
                        <m:r>
                          <a:rPr lang="en-US" sz="1400" i="1">
                            <a:latin typeface="Cambria Math" panose="02040503050406030204" pitchFamily="18" charset="0"/>
                          </a:rPr>
                          <m:t>𝑢</m:t>
                        </m:r>
                      </m:sup>
                    </m:sSubSup>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𝑄</m:t>
                        </m:r>
                      </m:e>
                      <m:sub>
                        <m:r>
                          <a:rPr lang="en-US" sz="1400" i="1">
                            <a:latin typeface="Cambria Math" panose="02040503050406030204" pitchFamily="18" charset="0"/>
                          </a:rPr>
                          <m:t>𝑘</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𝑞</m:t>
                        </m:r>
                      </m:e>
                      <m:sub>
                        <m:r>
                          <a:rPr lang="en-US" sz="1400" i="1">
                            <a:latin typeface="Cambria Math" panose="02040503050406030204" pitchFamily="18" charset="0"/>
                          </a:rPr>
                          <m:t>𝑗</m:t>
                        </m:r>
                      </m:sub>
                    </m:sSub>
                  </m:oMath>
                </a14:m>
                <a:endParaRPr lang="el-GR" sz="1400" i="1" kern="100" dirty="0">
                  <a:effectLst/>
                  <a:ea typeface="Times New Roman" panose="02020603050405020304" pitchFamily="18" charset="0"/>
                  <a:cs typeface="Times New Roman" panose="02020603050405020304" pitchFamily="18" charset="0"/>
                </a:endParaRPr>
              </a:p>
              <a:p>
                <a:pPr marL="342900" lvl="0" indent="-342900">
                  <a:lnSpc>
                    <a:spcPct val="100000"/>
                  </a:lnSpc>
                  <a:buFont typeface="Wingdings" panose="05000000000000000000" pitchFamily="2" charset="2"/>
                  <a:buChar char=""/>
                </a:pPr>
                <a:endParaRPr lang="el-GR" sz="1400" i="1" kern="100" dirty="0">
                  <a:effectLst/>
                  <a:ea typeface="Aptos" panose="020B0004020202020204" pitchFamily="34" charset="0"/>
                  <a:cs typeface="Times New Roman" panose="02020603050405020304" pitchFamily="18" charset="0"/>
                </a:endParaRPr>
              </a:p>
              <a:p>
                <a:pPr marL="342900" lvl="0" indent="-342900">
                  <a:lnSpc>
                    <a:spcPct val="100000"/>
                  </a:lnSpc>
                  <a:buFont typeface="Wingdings" panose="05000000000000000000" pitchFamily="2" charset="2"/>
                  <a:buChar char=""/>
                </a:pPr>
                <a14:m>
                  <m:oMath xmlns:m="http://schemas.openxmlformats.org/officeDocument/2006/math">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𝑎</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sub>
                    </m:sSub>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𝑇</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𝑏</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sub>
                    </m:sSub>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𝑦</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𝐶</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𝐾</m:t>
                    </m:r>
                  </m:oMath>
                </a14:m>
                <a:r>
                  <a:rPr lang="el-GR" sz="1400" kern="100" dirty="0">
                    <a:effectLst/>
                    <a:ea typeface="Times New Roman" panose="02020603050405020304" pitchFamily="18" charset="0"/>
                    <a:cs typeface="Times New Roman" panose="02020603050405020304" pitchFamily="18" charset="0"/>
                  </a:rPr>
                  <a:t>, η έναρξη εξυπηρέτησης πρέπει να ανήκει στο χρονικό παράθυρο του πελάτη</a:t>
                </a:r>
              </a:p>
              <a:p>
                <a:pPr marL="342900" lvl="0" indent="-342900">
                  <a:lnSpc>
                    <a:spcPct val="100000"/>
                  </a:lnSpc>
                  <a:buFont typeface="Wingdings" panose="05000000000000000000" pitchFamily="2" charset="2"/>
                  <a:buChar char=""/>
                </a:pPr>
                <a:endParaRPr lang="en-US" sz="1400" kern="100" dirty="0">
                  <a:effectLst/>
                  <a:ea typeface="Aptos" panose="020B0004020202020204" pitchFamily="34" charset="0"/>
                  <a:cs typeface="Times New Roman" panose="02020603050405020304" pitchFamily="18" charset="0"/>
                </a:endParaRPr>
              </a:p>
              <a:p>
                <a:pPr marL="342900" lvl="0" indent="-342900">
                  <a:lnSpc>
                    <a:spcPct val="100000"/>
                  </a:lnSpc>
                  <a:spcAft>
                    <a:spcPts val="800"/>
                  </a:spcAft>
                  <a:buFont typeface="Wingdings" panose="05000000000000000000" pitchFamily="2" charset="2"/>
                  <a:buChar char=""/>
                </a:pPr>
                <a14:m>
                  <m:oMath xmlns:m="http://schemas.openxmlformats.org/officeDocument/2006/math">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𝑇</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𝑗𝑘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𝑇</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𝑠</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𝑡</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𝑖𝑗</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𝑀</m:t>
                    </m:r>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1−</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𝑥</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𝑖𝑗𝑘</m:t>
                            </m:r>
                          </m:sub>
                        </m:sSub>
                      </m:e>
                    </m:d>
                  </m:oMath>
                </a14:m>
                <a:r>
                  <a:rPr lang="el-GR" sz="1400" kern="100" dirty="0">
                    <a:effectLst/>
                    <a:ea typeface="Aptos" panose="020B0004020202020204" pitchFamily="34" charset="0"/>
                    <a:cs typeface="Times New Roman" panose="02020603050405020304" pitchFamily="18" charset="0"/>
                  </a:rPr>
                  <a:t>, χρονική συνέχεια μεταξύ των πελατών, </a:t>
                </a:r>
                <a14:m>
                  <m:oMath xmlns:m="http://schemas.openxmlformats.org/officeDocument/2006/math">
                    <m:r>
                      <a:rPr lang="en-US" sz="1400" i="1">
                        <a:latin typeface="Cambria Math" panose="02040503050406030204" pitchFamily="18" charset="0"/>
                      </a:rPr>
                      <m:t>𝛭</m:t>
                    </m:r>
                    <m:r>
                      <a:rPr lang="en-US" sz="1400" i="1">
                        <a:latin typeface="Cambria Math" panose="02040503050406030204" pitchFamily="18" charset="0"/>
                      </a:rPr>
                      <m:t>= </m:t>
                    </m:r>
                    <m:sSub>
                      <m:sSubPr>
                        <m:ctrlPr>
                          <a:rPr lang="en-US" sz="1400" i="1">
                            <a:latin typeface="Cambria Math" panose="02040503050406030204" pitchFamily="18" charset="0"/>
                          </a:rPr>
                        </m:ctrlPr>
                      </m:sSubPr>
                      <m:e>
                        <m:r>
                          <a:rPr lang="en-US" sz="1400" i="1">
                            <a:latin typeface="Cambria Math" panose="02040503050406030204" pitchFamily="18" charset="0"/>
                          </a:rPr>
                          <m:t>𝑏</m:t>
                        </m:r>
                      </m:e>
                      <m:sub>
                        <m:r>
                          <a:rPr lang="en-US" sz="1400" i="1">
                            <a:latin typeface="Cambria Math" panose="02040503050406030204" pitchFamily="18" charset="0"/>
                          </a:rPr>
                          <m:t>𝑖</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𝑠</m:t>
                        </m:r>
                      </m:e>
                      <m:sub>
                        <m:r>
                          <a:rPr lang="en-US" sz="1400" i="1">
                            <a:latin typeface="Cambria Math" panose="02040503050406030204" pitchFamily="18" charset="0"/>
                          </a:rPr>
                          <m:t>𝑖</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𝑡</m:t>
                        </m:r>
                      </m:e>
                      <m:sub>
                        <m:r>
                          <a:rPr lang="en-US" sz="1400" i="1">
                            <a:latin typeface="Cambria Math" panose="02040503050406030204" pitchFamily="18" charset="0"/>
                          </a:rPr>
                          <m:t>𝑖𝑗𝑘</m:t>
                        </m:r>
                      </m:sub>
                    </m:sSub>
                  </m:oMath>
                </a14:m>
                <a:endParaRPr lang="en-US" sz="1400" kern="100" dirty="0">
                  <a:effectLst/>
                  <a:ea typeface="Aptos" panose="020B0004020202020204" pitchFamily="34" charset="0"/>
                  <a:cs typeface="Times New Roman" panose="02020603050405020304" pitchFamily="18" charset="0"/>
                </a:endParaRPr>
              </a:p>
              <a:p>
                <a:pPr>
                  <a:lnSpc>
                    <a:spcPct val="100000"/>
                  </a:lnSpc>
                  <a:spcAft>
                    <a:spcPts val="800"/>
                  </a:spcAft>
                  <a:buNone/>
                </a:pPr>
                <a:r>
                  <a:rPr lang="el-GR" sz="1400" kern="100" dirty="0">
                    <a:effectLst/>
                    <a:ea typeface="Aptos" panose="020B0004020202020204" pitchFamily="34" charset="0"/>
                    <a:cs typeface="Times New Roman" panose="02020603050405020304" pitchFamily="18" charset="0"/>
                  </a:rPr>
                  <a:t>Χρόνος από το </a:t>
                </a:r>
                <a:r>
                  <a:rPr lang="en-US" sz="1400" kern="100" dirty="0">
                    <a:effectLst/>
                    <a:ea typeface="Aptos" panose="020B0004020202020204" pitchFamily="34" charset="0"/>
                    <a:cs typeface="Times New Roman" panose="02020603050405020304" pitchFamily="18" charset="0"/>
                  </a:rPr>
                  <a:t>depot</a:t>
                </a:r>
                <a:r>
                  <a:rPr lang="el-GR" sz="1400" kern="100" dirty="0">
                    <a:effectLst/>
                    <a:ea typeface="Aptos" panose="020B0004020202020204" pitchFamily="34" charset="0"/>
                    <a:cs typeface="Times New Roman" panose="02020603050405020304" pitchFamily="18" charset="0"/>
                  </a:rPr>
                  <a:t> προς τον πρώτο πελάτη </a:t>
                </a:r>
                <a14:m>
                  <m:oMath xmlns:m="http://schemas.openxmlformats.org/officeDocument/2006/math">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oMath>
                </a14:m>
                <a:r>
                  <a:rPr lang="el-GR" sz="1400" kern="100" dirty="0">
                    <a:effectLst/>
                    <a:ea typeface="Aptos" panose="020B0004020202020204" pitchFamily="34" charset="0"/>
                    <a:cs typeface="Times New Roman" panose="02020603050405020304" pitchFamily="18" charset="0"/>
                  </a:rPr>
                  <a:t>:</a:t>
                </a:r>
                <a:endParaRPr lang="en-US" sz="1400" kern="100" dirty="0">
                  <a:effectLst/>
                  <a:ea typeface="Aptos" panose="020B0004020202020204" pitchFamily="34" charset="0"/>
                  <a:cs typeface="Times New Roman" panose="02020603050405020304" pitchFamily="18" charset="0"/>
                </a:endParaRPr>
              </a:p>
              <a:p>
                <a:pPr marL="342900" lvl="0" indent="-342900">
                  <a:lnSpc>
                    <a:spcPct val="100000"/>
                  </a:lnSpc>
                  <a:spcAft>
                    <a:spcPts val="800"/>
                  </a:spcAft>
                  <a:buFont typeface="Wingdings" panose="05000000000000000000" pitchFamily="2" charset="2"/>
                  <a:buChar char=""/>
                </a:pPr>
                <a14:m>
                  <m:oMath xmlns:m="http://schemas.openxmlformats.org/officeDocument/2006/math">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𝑇</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𝑃</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𝑡</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ℎ</m:t>
                        </m:r>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e>
                        </m:d>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𝑀</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𝑑𝑒𝑝</m:t>
                        </m:r>
                      </m:sup>
                    </m:sSub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(1−</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𝑥</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ℎ</m:t>
                        </m:r>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e>
                        </m:d>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oMath>
                </a14:m>
                <a:r>
                  <a:rPr lang="el-GR" sz="1400" kern="100" dirty="0">
                    <a:effectLst/>
                    <a:ea typeface="Times New Roman" panose="02020603050405020304" pitchFamily="18" charset="0"/>
                    <a:cs typeface="Times New Roman" panose="02020603050405020304" pitchFamily="18" charset="0"/>
                  </a:rPr>
                  <a:t>), αναχώρηση από την αποθήκη, </a:t>
                </a:r>
                <a14:m>
                  <m:oMath xmlns:m="http://schemas.openxmlformats.org/officeDocument/2006/math">
                    <m:sSubSup>
                      <m:sSub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𝑀</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𝑑𝑒𝑝</m:t>
                        </m:r>
                      </m:sup>
                    </m:sSubSup>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n-US" sz="1400" b="0" i="1" kern="100" smtClean="0">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1400" b="0" i="1" kern="100" smtClean="0">
                            <a:effectLst/>
                            <a:latin typeface="Cambria Math" panose="02040503050406030204" pitchFamily="18" charset="0"/>
                            <a:ea typeface="Times New Roman" panose="02020603050405020304" pitchFamily="18" charset="0"/>
                            <a:cs typeface="Times New Roman" panose="02020603050405020304" pitchFamily="18" charset="0"/>
                          </a:rPr>
                          <m:t>𝐵</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sub>
                      <m:sup>
                        <m:r>
                          <a:rPr lang="en-US" sz="1400" b="0" i="1" kern="100" smtClean="0">
                            <a:effectLst/>
                            <a:latin typeface="Cambria Math" panose="02040503050406030204" pitchFamily="18" charset="0"/>
                            <a:ea typeface="Times New Roman" panose="02020603050405020304" pitchFamily="18" charset="0"/>
                            <a:cs typeface="Times New Roman" panose="02020603050405020304" pitchFamily="18" charset="0"/>
                          </a:rPr>
                          <m:t>𝑟𝑒𝑡𝑢𝑟𝑛</m:t>
                        </m:r>
                      </m:sup>
                    </m:sSubSup>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ℎ</m:t>
                        </m:r>
                        <m:d>
                          <m:d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e>
                        </m:d>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oMath>
                </a14:m>
                <a:endParaRPr lang="en-US" sz="1400" kern="100" dirty="0">
                  <a:effectLst/>
                  <a:ea typeface="Aptos" panose="020B0004020202020204" pitchFamily="34" charset="0"/>
                  <a:cs typeface="Times New Roman" panose="02020603050405020304" pitchFamily="18" charset="0"/>
                </a:endParaRPr>
              </a:p>
              <a:p>
                <a:pPr>
                  <a:lnSpc>
                    <a:spcPct val="100000"/>
                  </a:lnSpc>
                  <a:spcAft>
                    <a:spcPts val="800"/>
                  </a:spcAft>
                  <a:buNone/>
                </a:pPr>
                <a:r>
                  <a:rPr lang="el-GR" sz="1400" kern="100" dirty="0">
                    <a:effectLst/>
                    <a:ea typeface="Aptos" panose="020B0004020202020204" pitchFamily="34" charset="0"/>
                    <a:cs typeface="Times New Roman" panose="02020603050405020304" pitchFamily="18" charset="0"/>
                  </a:rPr>
                  <a:t>Χρόνος επιστροφής στο </a:t>
                </a:r>
                <a:r>
                  <a:rPr lang="en-US" sz="1400" kern="100" dirty="0">
                    <a:effectLst/>
                    <a:ea typeface="Aptos" panose="020B0004020202020204" pitchFamily="34" charset="0"/>
                    <a:cs typeface="Times New Roman" panose="02020603050405020304" pitchFamily="18" charset="0"/>
                  </a:rPr>
                  <a:t>depot </a:t>
                </a:r>
                <a:r>
                  <a:rPr lang="el-GR" sz="1400" kern="100" dirty="0">
                    <a:effectLst/>
                    <a:ea typeface="Aptos" panose="020B0004020202020204" pitchFamily="34" charset="0"/>
                    <a:cs typeface="Times New Roman" panose="02020603050405020304" pitchFamily="18" charset="0"/>
                  </a:rPr>
                  <a:t>αν </a:t>
                </a:r>
                <a14:m>
                  <m:oMath xmlns:m="http://schemas.openxmlformats.org/officeDocument/2006/math">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 </m:t>
                    </m:r>
                  </m:oMath>
                </a14:m>
                <a:r>
                  <a:rPr lang="el-GR" sz="1400" kern="100" dirty="0">
                    <a:effectLst/>
                    <a:ea typeface="Times New Roman" panose="02020603050405020304" pitchFamily="18" charset="0"/>
                    <a:cs typeface="Times New Roman" panose="02020603050405020304" pitchFamily="18" charset="0"/>
                  </a:rPr>
                  <a:t>είναι ο τελευταίος πελάτης</a:t>
                </a:r>
                <a:r>
                  <a:rPr lang="el-GR" sz="1400" kern="100" dirty="0">
                    <a:effectLst/>
                    <a:ea typeface="Aptos" panose="020B0004020202020204" pitchFamily="34" charset="0"/>
                    <a:cs typeface="Times New Roman" panose="02020603050405020304" pitchFamily="18" charset="0"/>
                  </a:rPr>
                  <a:t>:</a:t>
                </a:r>
                <a:endParaRPr lang="en-US" sz="1400" kern="100" dirty="0">
                  <a:effectLst/>
                  <a:ea typeface="Aptos" panose="020B0004020202020204" pitchFamily="34" charset="0"/>
                  <a:cs typeface="Times New Roman" panose="02020603050405020304" pitchFamily="18" charset="0"/>
                </a:endParaRPr>
              </a:p>
              <a:p>
                <a:pPr marL="342900" lvl="0" indent="-342900">
                  <a:lnSpc>
                    <a:spcPct val="100000"/>
                  </a:lnSpc>
                  <a:spcAft>
                    <a:spcPts val="800"/>
                  </a:spcAft>
                  <a:buFont typeface="Wingdings" panose="05000000000000000000" pitchFamily="2" charset="2"/>
                  <a:buChar char=""/>
                </a:pPr>
                <a14:m>
                  <m:oMath xmlns:m="http://schemas.openxmlformats.org/officeDocument/2006/math">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𝑅</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𝑇</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𝑠</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𝑡</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ℎ</m:t>
                        </m:r>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e>
                        </m:d>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𝑀</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𝑟𝑒𝑡𝑢𝑟𝑛</m:t>
                        </m:r>
                      </m:sup>
                    </m:sSub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(1−</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𝑥</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ℎ</m:t>
                        </m:r>
                        <m:d>
                          <m:d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e>
                        </m:d>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oMath>
                </a14:m>
                <a:r>
                  <a:rPr lang="el-GR" sz="1400" kern="100" dirty="0">
                    <a:effectLst/>
                    <a:ea typeface="Times New Roman" panose="02020603050405020304" pitchFamily="18" charset="0"/>
                    <a:cs typeface="Times New Roman" panose="02020603050405020304" pitchFamily="18" charset="0"/>
                  </a:rPr>
                  <a:t>, επιστροφή στην αποθήκη, </a:t>
                </a:r>
                <a14:m>
                  <m:oMath xmlns:m="http://schemas.openxmlformats.org/officeDocument/2006/math">
                    <m:sSubSup>
                      <m:sSub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𝑀</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𝑖𝑘</m:t>
                        </m:r>
                      </m:sub>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𝑟𝑒𝑡𝑢𝑟𝑛</m:t>
                        </m:r>
                      </m:sup>
                    </m:sSubSup>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𝑠</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𝑡</m:t>
                        </m:r>
                      </m:e>
                      <m: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𝑖</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ℎ</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sub>
                    </m:sSub>
                  </m:oMath>
                </a14:m>
                <a:endParaRPr lang="en-US" sz="1400" kern="100" dirty="0">
                  <a:effectLst/>
                  <a:ea typeface="Aptos" panose="020B0004020202020204" pitchFamily="34" charset="0"/>
                  <a:cs typeface="Times New Roman" panose="02020603050405020304" pitchFamily="18" charset="0"/>
                </a:endParaRPr>
              </a:p>
              <a:p>
                <a:pPr>
                  <a:lnSpc>
                    <a:spcPct val="100000"/>
                  </a:lnSpc>
                  <a:spcAft>
                    <a:spcPts val="800"/>
                  </a:spcAft>
                  <a:buNone/>
                </a:pPr>
                <a:r>
                  <a:rPr lang="el-GR" sz="1400" kern="100" dirty="0">
                    <a:effectLst/>
                    <a:ea typeface="Aptos" panose="020B0004020202020204" pitchFamily="34" charset="0"/>
                    <a:cs typeface="Times New Roman" panose="02020603050405020304" pitchFamily="18" charset="0"/>
                  </a:rPr>
                  <a:t>Διαθεσιμότητα οχήματος</a:t>
                </a:r>
                <a:r>
                  <a:rPr lang="en-US" sz="1400" kern="100" dirty="0">
                    <a:effectLst/>
                    <a:ea typeface="Aptos" panose="020B0004020202020204" pitchFamily="34" charset="0"/>
                    <a:cs typeface="Times New Roman" panose="02020603050405020304" pitchFamily="18" charset="0"/>
                  </a:rPr>
                  <a:t>:</a:t>
                </a:r>
              </a:p>
              <a:p>
                <a:pPr marL="342900" lvl="0" indent="-342900">
                  <a:lnSpc>
                    <a:spcPct val="100000"/>
                  </a:lnSpc>
                  <a:spcAft>
                    <a:spcPts val="800"/>
                  </a:spcAft>
                  <a:buFont typeface="Wingdings" panose="05000000000000000000" pitchFamily="2" charset="2"/>
                  <a:buChar char=""/>
                </a:pPr>
                <a14:m>
                  <m:oMath xmlns:m="http://schemas.openxmlformats.org/officeDocument/2006/math">
                    <m:sSubSup>
                      <m:sSub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𝐴</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𝑠𝑡𝑎𝑟𝑡</m:t>
                        </m:r>
                      </m:sup>
                    </m:sSubSup>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𝑧</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𝑃</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𝐵</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𝑟𝑒𝑡𝑢𝑟𝑛</m:t>
                        </m:r>
                      </m:sup>
                    </m:sSubSup>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𝑧</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oMath>
                </a14:m>
                <a:r>
                  <a:rPr lang="en-US" sz="1400" kern="100" dirty="0">
                    <a:effectLst/>
                    <a:ea typeface="Times New Roman" panose="02020603050405020304" pitchFamily="18" charset="0"/>
                    <a:cs typeface="Times New Roman" panose="02020603050405020304" pitchFamily="18" charset="0"/>
                  </a:rPr>
                  <a:t> </a:t>
                </a:r>
                <a:r>
                  <a:rPr lang="el-GR" sz="1400" kern="100" dirty="0">
                    <a:effectLst/>
                    <a:ea typeface="Times New Roman" panose="02020603050405020304" pitchFamily="18" charset="0"/>
                    <a:cs typeface="Times New Roman" panose="02020603050405020304" pitchFamily="18" charset="0"/>
                  </a:rPr>
                  <a:t>και </a:t>
                </a:r>
                <a14:m>
                  <m:oMath xmlns:m="http://schemas.openxmlformats.org/officeDocument/2006/math">
                    <m:sSubSup>
                      <m:sSub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𝐴</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𝑠𝑡𝑎𝑟𝑡</m:t>
                        </m:r>
                      </m:sup>
                    </m:sSubSup>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𝑧</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𝑅</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Sup>
                      <m:sSubSup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Sup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𝐵</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up>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𝑟𝑒𝑡𝑢𝑟𝑛</m:t>
                        </m:r>
                      </m:sup>
                    </m:sSubSup>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𝑧</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oMath>
                </a14:m>
                <a:r>
                  <a:rPr lang="el-GR" sz="1400" kern="100" dirty="0">
                    <a:effectLst/>
                    <a:ea typeface="Times New Roman" panose="02020603050405020304" pitchFamily="18" charset="0"/>
                    <a:cs typeface="Times New Roman" panose="02020603050405020304" pitchFamily="18" charset="0"/>
                  </a:rPr>
                  <a:t>,  ωράριο χρησιμοποιούμενων οχημάτων</a:t>
                </a:r>
                <a:endParaRPr lang="en-US" sz="1400" kern="100" dirty="0">
                  <a:effectLst/>
                  <a:ea typeface="Aptos" panose="020B0004020202020204" pitchFamily="34" charset="0"/>
                  <a:cs typeface="Times New Roman" panose="02020603050405020304" pitchFamily="18" charset="0"/>
                </a:endParaRPr>
              </a:p>
              <a:p>
                <a:pPr>
                  <a:lnSpc>
                    <a:spcPct val="100000"/>
                  </a:lnSpc>
                  <a:spcAft>
                    <a:spcPts val="800"/>
                  </a:spcAft>
                  <a:buNone/>
                </a:pPr>
                <a:r>
                  <a:rPr lang="el-GR" sz="1400" kern="100" dirty="0">
                    <a:effectLst/>
                    <a:ea typeface="Aptos" panose="020B0004020202020204" pitchFamily="34" charset="0"/>
                    <a:cs typeface="Times New Roman" panose="02020603050405020304" pitchFamily="18" charset="0"/>
                  </a:rPr>
                  <a:t>Μέγιστη διάρκεια διαδρομής</a:t>
                </a:r>
                <a:r>
                  <a:rPr lang="en-US" sz="1400" kern="100" dirty="0">
                    <a:effectLst/>
                    <a:ea typeface="Aptos" panose="020B0004020202020204" pitchFamily="34" charset="0"/>
                    <a:cs typeface="Times New Roman" panose="02020603050405020304" pitchFamily="18" charset="0"/>
                  </a:rPr>
                  <a:t>: </a:t>
                </a:r>
              </a:p>
              <a:p>
                <a:pPr marL="342900" lvl="0" indent="-342900">
                  <a:lnSpc>
                    <a:spcPct val="100000"/>
                  </a:lnSpc>
                  <a:spcAft>
                    <a:spcPts val="800"/>
                  </a:spcAft>
                  <a:buFont typeface="Wingdings" panose="05000000000000000000" pitchFamily="2" charset="2"/>
                  <a:buChar char=""/>
                </a:pPr>
                <a14:m>
                  <m:oMath xmlns:m="http://schemas.openxmlformats.org/officeDocument/2006/math">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𝑅</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𝑃</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𝐻</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sSub>
                      <m:sSubPr>
                        <m:ctrlPr>
                          <a:rPr lang="en-US" sz="14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𝑧</m:t>
                        </m:r>
                      </m:e>
                      <m:sub>
                        <m:r>
                          <a:rPr lang="en-US" sz="1400" i="1" kern="100">
                            <a:effectLst/>
                            <a:latin typeface="Cambria Math" panose="02040503050406030204" pitchFamily="18" charset="0"/>
                            <a:ea typeface="Aptos" panose="020B0004020202020204" pitchFamily="34" charset="0"/>
                            <a:cs typeface="Times New Roman" panose="02020603050405020304" pitchFamily="18" charset="0"/>
                          </a:rPr>
                          <m:t>𝑘</m:t>
                        </m:r>
                      </m:sub>
                    </m:sSub>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𝑘</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400" i="1" kern="100">
                        <a:effectLst/>
                        <a:latin typeface="Cambria Math" panose="02040503050406030204" pitchFamily="18" charset="0"/>
                        <a:ea typeface="Times New Roman" panose="02020603050405020304" pitchFamily="18" charset="0"/>
                        <a:cs typeface="Times New Roman" panose="02020603050405020304" pitchFamily="18" charset="0"/>
                      </a:rPr>
                      <m:t>𝐾</m:t>
                    </m:r>
                  </m:oMath>
                </a14:m>
                <a:endParaRPr lang="el-GR" sz="1400" kern="100" dirty="0">
                  <a:effectLst/>
                  <a:ea typeface="Aptos" panose="020B0004020202020204" pitchFamily="34" charset="0"/>
                  <a:cs typeface="Times New Roman" panose="02020603050405020304" pitchFamily="18" charset="0"/>
                </a:endParaRPr>
              </a:p>
              <a:p>
                <a:pPr marL="342900" lvl="0" indent="-342900">
                  <a:lnSpc>
                    <a:spcPct val="100000"/>
                  </a:lnSpc>
                  <a:spcAft>
                    <a:spcPts val="800"/>
                  </a:spcAft>
                  <a:buFont typeface="Wingdings" panose="05000000000000000000" pitchFamily="2" charset="2"/>
                  <a:buChar char=""/>
                </a:pPr>
                <a:endParaRPr lang="el-GR" sz="900" kern="100" dirty="0">
                  <a:ea typeface="Aptos" panose="020B0004020202020204" pitchFamily="34" charset="0"/>
                  <a:cs typeface="Times New Roman" panose="02020603050405020304" pitchFamily="18" charset="0"/>
                </a:endParaRPr>
              </a:p>
              <a:p>
                <a:pPr lvl="0"/>
                <a14:m>
                  <m:oMath xmlns:m="http://schemas.openxmlformats.org/officeDocument/2006/math">
                    <m:sSub>
                      <m:sSubPr>
                        <m:ctrlPr>
                          <a:rPr lang="en-US" sz="1100" i="1">
                            <a:latin typeface="Cambria Math" panose="02040503050406030204" pitchFamily="18" charset="0"/>
                          </a:rPr>
                        </m:ctrlPr>
                      </m:sSubPr>
                      <m:e>
                        <m:r>
                          <a:rPr lang="en-US" sz="1100" i="1">
                            <a:latin typeface="Cambria Math" panose="02040503050406030204" pitchFamily="18" charset="0"/>
                          </a:rPr>
                          <m:t>𝐻</m:t>
                        </m:r>
                      </m:e>
                      <m:sub>
                        <m:r>
                          <a:rPr lang="en-US" sz="1100" i="1">
                            <a:latin typeface="Cambria Math" panose="02040503050406030204" pitchFamily="18" charset="0"/>
                          </a:rPr>
                          <m:t>𝑘</m:t>
                        </m:r>
                      </m:sub>
                    </m:sSub>
                    <m:r>
                      <a:rPr lang="en-US" sz="1100" i="1">
                        <a:latin typeface="Cambria Math" panose="02040503050406030204" pitchFamily="18" charset="0"/>
                      </a:rPr>
                      <m:t>=</m:t>
                    </m:r>
                    <m:sSub>
                      <m:sSubPr>
                        <m:ctrlPr>
                          <a:rPr lang="en-US" sz="1100" i="1">
                            <a:latin typeface="Cambria Math" panose="02040503050406030204" pitchFamily="18" charset="0"/>
                          </a:rPr>
                        </m:ctrlPr>
                      </m:sSubPr>
                      <m:e>
                        <m:r>
                          <a:rPr lang="en-US" sz="1100" i="1">
                            <a:latin typeface="Cambria Math" panose="02040503050406030204" pitchFamily="18" charset="0"/>
                          </a:rPr>
                          <m:t>𝐻</m:t>
                        </m:r>
                      </m:e>
                      <m:sub>
                        <m:r>
                          <a:rPr lang="en-US" sz="1100" i="1">
                            <a:latin typeface="Cambria Math" panose="02040503050406030204" pitchFamily="18" charset="0"/>
                          </a:rPr>
                          <m:t>𝜏</m:t>
                        </m:r>
                        <m:d>
                          <m:dPr>
                            <m:ctrlPr>
                              <a:rPr lang="en-US" sz="1100" i="1">
                                <a:latin typeface="Cambria Math" panose="02040503050406030204" pitchFamily="18" charset="0"/>
                              </a:rPr>
                            </m:ctrlPr>
                          </m:dPr>
                          <m:e>
                            <m:r>
                              <a:rPr lang="en-US" sz="1100" i="1">
                                <a:latin typeface="Cambria Math" panose="02040503050406030204" pitchFamily="18" charset="0"/>
                              </a:rPr>
                              <m:t>𝑘</m:t>
                            </m:r>
                          </m:e>
                        </m:d>
                      </m:sub>
                    </m:sSub>
                    <m:r>
                      <a:rPr lang="en-US" sz="1100" i="1">
                        <a:latin typeface="Cambria Math" panose="02040503050406030204" pitchFamily="18" charset="0"/>
                      </a:rPr>
                      <m:t>, </m:t>
                    </m:r>
                  </m:oMath>
                </a14:m>
                <a:r>
                  <a:rPr lang="el-GR" sz="1100" dirty="0"/>
                  <a:t>μέγιστη διάρκεια διαδρομής</a:t>
                </a:r>
                <a:endParaRPr lang="en-US" sz="1100" dirty="0"/>
              </a:p>
              <a:p>
                <a:pPr lvl="0"/>
                <a14:m>
                  <m:oMath xmlns:m="http://schemas.openxmlformats.org/officeDocument/2006/math">
                    <m:sSubSup>
                      <m:sSubSupPr>
                        <m:ctrlPr>
                          <a:rPr lang="en-US" sz="1100" i="1">
                            <a:latin typeface="Cambria Math" panose="02040503050406030204" pitchFamily="18" charset="0"/>
                          </a:rPr>
                        </m:ctrlPr>
                      </m:sSubSupPr>
                      <m:e>
                        <m:r>
                          <a:rPr lang="en-US" sz="1100" i="1">
                            <a:latin typeface="Cambria Math" panose="02040503050406030204" pitchFamily="18" charset="0"/>
                          </a:rPr>
                          <m:t>𝐴</m:t>
                        </m:r>
                      </m:e>
                      <m:sub>
                        <m:r>
                          <a:rPr lang="en-US" sz="1100" i="1">
                            <a:latin typeface="Cambria Math" panose="02040503050406030204" pitchFamily="18" charset="0"/>
                          </a:rPr>
                          <m:t>𝑘</m:t>
                        </m:r>
                      </m:sub>
                      <m:sup>
                        <m:r>
                          <a:rPr lang="en-US" sz="1100" i="1">
                            <a:latin typeface="Cambria Math" panose="02040503050406030204" pitchFamily="18" charset="0"/>
                          </a:rPr>
                          <m:t>𝑠𝑡𝑎𝑟𝑡</m:t>
                        </m:r>
                      </m:sup>
                    </m:sSubSup>
                    <m:r>
                      <a:rPr lang="en-US" sz="1100" i="1">
                        <a:latin typeface="Cambria Math" panose="02040503050406030204" pitchFamily="18" charset="0"/>
                      </a:rPr>
                      <m:t>=</m:t>
                    </m:r>
                    <m:sSubSup>
                      <m:sSubSupPr>
                        <m:ctrlPr>
                          <a:rPr lang="en-US" sz="1100" i="1">
                            <a:latin typeface="Cambria Math" panose="02040503050406030204" pitchFamily="18" charset="0"/>
                          </a:rPr>
                        </m:ctrlPr>
                      </m:sSubSupPr>
                      <m:e>
                        <m:r>
                          <a:rPr lang="en-US" sz="1100" i="1">
                            <a:latin typeface="Cambria Math" panose="02040503050406030204" pitchFamily="18" charset="0"/>
                          </a:rPr>
                          <m:t>𝐴</m:t>
                        </m:r>
                      </m:e>
                      <m:sub>
                        <m:r>
                          <a:rPr lang="en-US" sz="1100" i="1">
                            <a:latin typeface="Cambria Math" panose="02040503050406030204" pitchFamily="18" charset="0"/>
                          </a:rPr>
                          <m:t>𝜏</m:t>
                        </m:r>
                        <m:d>
                          <m:dPr>
                            <m:ctrlPr>
                              <a:rPr lang="en-US" sz="1100" i="1">
                                <a:latin typeface="Cambria Math" panose="02040503050406030204" pitchFamily="18" charset="0"/>
                              </a:rPr>
                            </m:ctrlPr>
                          </m:dPr>
                          <m:e>
                            <m:r>
                              <a:rPr lang="en-US" sz="1100" i="1">
                                <a:latin typeface="Cambria Math" panose="02040503050406030204" pitchFamily="18" charset="0"/>
                              </a:rPr>
                              <m:t>𝑘</m:t>
                            </m:r>
                          </m:e>
                        </m:d>
                      </m:sub>
                      <m:sup>
                        <m:r>
                          <a:rPr lang="en-US" sz="1100" i="1">
                            <a:latin typeface="Cambria Math" panose="02040503050406030204" pitchFamily="18" charset="0"/>
                          </a:rPr>
                          <m:t>𝑠𝑡𝑎𝑟𝑡</m:t>
                        </m:r>
                      </m:sup>
                    </m:sSubSup>
                  </m:oMath>
                </a14:m>
                <a:r>
                  <a:rPr lang="el-GR" sz="1100" dirty="0"/>
                  <a:t>, νωρίτερη ώρα αναχώρησης</a:t>
                </a:r>
                <a:endParaRPr lang="en-US" sz="1100" dirty="0"/>
              </a:p>
              <a:p>
                <a:pPr lvl="0"/>
                <a14:m>
                  <m:oMath xmlns:m="http://schemas.openxmlformats.org/officeDocument/2006/math">
                    <m:sSubSup>
                      <m:sSubSupPr>
                        <m:ctrlPr>
                          <a:rPr lang="en-US" sz="1100" i="1">
                            <a:latin typeface="Cambria Math" panose="02040503050406030204" pitchFamily="18" charset="0"/>
                          </a:rPr>
                        </m:ctrlPr>
                      </m:sSubSupPr>
                      <m:e>
                        <m:r>
                          <a:rPr lang="en-US" sz="1100" i="1">
                            <a:latin typeface="Cambria Math" panose="02040503050406030204" pitchFamily="18" charset="0"/>
                          </a:rPr>
                          <m:t>𝐵</m:t>
                        </m:r>
                      </m:e>
                      <m:sub>
                        <m:r>
                          <a:rPr lang="en-US" sz="1100" i="1">
                            <a:latin typeface="Cambria Math" panose="02040503050406030204" pitchFamily="18" charset="0"/>
                          </a:rPr>
                          <m:t>𝑘</m:t>
                        </m:r>
                      </m:sub>
                      <m:sup>
                        <m:r>
                          <a:rPr lang="en-US" sz="1100" i="1">
                            <a:latin typeface="Cambria Math" panose="02040503050406030204" pitchFamily="18" charset="0"/>
                          </a:rPr>
                          <m:t>𝑟𝑒𝑡𝑢𝑟𝑛</m:t>
                        </m:r>
                      </m:sup>
                    </m:sSubSup>
                    <m:r>
                      <a:rPr lang="en-US" sz="1100" i="1">
                        <a:latin typeface="Cambria Math" panose="02040503050406030204" pitchFamily="18" charset="0"/>
                      </a:rPr>
                      <m:t>=</m:t>
                    </m:r>
                    <m:sSubSup>
                      <m:sSubSupPr>
                        <m:ctrlPr>
                          <a:rPr lang="en-US" sz="1100" i="1">
                            <a:latin typeface="Cambria Math" panose="02040503050406030204" pitchFamily="18" charset="0"/>
                          </a:rPr>
                        </m:ctrlPr>
                      </m:sSubSupPr>
                      <m:e>
                        <m:r>
                          <a:rPr lang="en-US" sz="1100" i="1">
                            <a:latin typeface="Cambria Math" panose="02040503050406030204" pitchFamily="18" charset="0"/>
                          </a:rPr>
                          <m:t>𝐵</m:t>
                        </m:r>
                      </m:e>
                      <m:sub>
                        <m:r>
                          <a:rPr lang="en-US" sz="1100" i="1">
                            <a:latin typeface="Cambria Math" panose="02040503050406030204" pitchFamily="18" charset="0"/>
                          </a:rPr>
                          <m:t>𝜏</m:t>
                        </m:r>
                        <m:r>
                          <a:rPr lang="en-US" sz="1100" i="1">
                            <a:latin typeface="Cambria Math" panose="02040503050406030204" pitchFamily="18" charset="0"/>
                          </a:rPr>
                          <m:t>(</m:t>
                        </m:r>
                        <m:r>
                          <a:rPr lang="en-US" sz="1100" i="1">
                            <a:latin typeface="Cambria Math" panose="02040503050406030204" pitchFamily="18" charset="0"/>
                          </a:rPr>
                          <m:t>𝑘</m:t>
                        </m:r>
                        <m:r>
                          <a:rPr lang="en-US" sz="1100" i="1">
                            <a:latin typeface="Cambria Math" panose="02040503050406030204" pitchFamily="18" charset="0"/>
                          </a:rPr>
                          <m:t>)</m:t>
                        </m:r>
                      </m:sub>
                      <m:sup>
                        <m:r>
                          <a:rPr lang="en-US" sz="1100" i="1">
                            <a:latin typeface="Cambria Math" panose="02040503050406030204" pitchFamily="18" charset="0"/>
                          </a:rPr>
                          <m:t>𝑟𝑒𝑡𝑢𝑟𝑛</m:t>
                        </m:r>
                      </m:sup>
                    </m:sSubSup>
                    <m:r>
                      <a:rPr lang="en-US" sz="1100" i="1">
                        <a:latin typeface="Cambria Math" panose="02040503050406030204" pitchFamily="18" charset="0"/>
                      </a:rPr>
                      <m:t>,</m:t>
                    </m:r>
                  </m:oMath>
                </a14:m>
                <a:r>
                  <a:rPr lang="el-GR" sz="1100" dirty="0"/>
                  <a:t> αργότερη ώρα επιστροφής</a:t>
                </a:r>
              </a:p>
              <a:p>
                <a:r>
                  <a:rPr lang="el-GR" sz="1100" dirty="0"/>
                  <a:t>Χρονικό παράθυρο: </a:t>
                </a:r>
                <a14:m>
                  <m:oMath xmlns:m="http://schemas.openxmlformats.org/officeDocument/2006/math">
                    <m:r>
                      <a:rPr lang="en-US" sz="1100" i="1">
                        <a:latin typeface="Cambria Math" panose="02040503050406030204" pitchFamily="18" charset="0"/>
                      </a:rPr>
                      <m:t>[</m:t>
                    </m:r>
                    <m:sSub>
                      <m:sSubPr>
                        <m:ctrlPr>
                          <a:rPr lang="en-US" sz="1100" i="1">
                            <a:latin typeface="Cambria Math" panose="02040503050406030204" pitchFamily="18" charset="0"/>
                          </a:rPr>
                        </m:ctrlPr>
                      </m:sSubPr>
                      <m:e>
                        <m:r>
                          <a:rPr lang="en-US" sz="1100" i="1">
                            <a:latin typeface="Cambria Math" panose="02040503050406030204" pitchFamily="18" charset="0"/>
                          </a:rPr>
                          <m:t>𝑎</m:t>
                        </m:r>
                      </m:e>
                      <m:sub>
                        <m:r>
                          <a:rPr lang="en-US" sz="1100" i="1">
                            <a:latin typeface="Cambria Math" panose="02040503050406030204" pitchFamily="18" charset="0"/>
                          </a:rPr>
                          <m:t>𝑖</m:t>
                        </m:r>
                      </m:sub>
                    </m:sSub>
                    <m:r>
                      <a:rPr lang="en-US" sz="1100" i="1">
                        <a:latin typeface="Cambria Math" panose="02040503050406030204" pitchFamily="18" charset="0"/>
                      </a:rPr>
                      <m:t>,</m:t>
                    </m:r>
                    <m:sSub>
                      <m:sSubPr>
                        <m:ctrlPr>
                          <a:rPr lang="en-US" sz="1100" i="1">
                            <a:latin typeface="Cambria Math" panose="02040503050406030204" pitchFamily="18" charset="0"/>
                          </a:rPr>
                        </m:ctrlPr>
                      </m:sSubPr>
                      <m:e>
                        <m:r>
                          <a:rPr lang="en-US" sz="1100" i="1">
                            <a:latin typeface="Cambria Math" panose="02040503050406030204" pitchFamily="18" charset="0"/>
                          </a:rPr>
                          <m:t>𝑏</m:t>
                        </m:r>
                      </m:e>
                      <m:sub>
                        <m:r>
                          <a:rPr lang="en-US" sz="1100" i="1">
                            <a:latin typeface="Cambria Math" panose="02040503050406030204" pitchFamily="18" charset="0"/>
                          </a:rPr>
                          <m:t>𝑖</m:t>
                        </m:r>
                      </m:sub>
                    </m:sSub>
                    <m:r>
                      <a:rPr lang="en-US" sz="1100" i="1">
                        <a:latin typeface="Cambria Math" panose="02040503050406030204" pitchFamily="18" charset="0"/>
                      </a:rPr>
                      <m:t>]</m:t>
                    </m:r>
                  </m:oMath>
                </a14:m>
                <a:endParaRPr lang="en-US" sz="1100" dirty="0"/>
              </a:p>
              <a:p>
                <a:pPr lvl="0"/>
                <a:endParaRPr lang="en-US" sz="1100" dirty="0"/>
              </a:p>
              <a:p>
                <a:pPr lvl="0">
                  <a:lnSpc>
                    <a:spcPct val="100000"/>
                  </a:lnSpc>
                  <a:spcAft>
                    <a:spcPts val="800"/>
                  </a:spcAft>
                </a:pPr>
                <a:endParaRPr lang="en-US" sz="900" kern="100" dirty="0">
                  <a:effectLst/>
                  <a:ea typeface="Aptos" panose="020B0004020202020204" pitchFamily="34" charset="0"/>
                  <a:cs typeface="Times New Roman" panose="02020603050405020304" pitchFamily="18" charset="0"/>
                </a:endParaRPr>
              </a:p>
              <a:p>
                <a:pPr marL="228600">
                  <a:lnSpc>
                    <a:spcPct val="100000"/>
                  </a:lnSpc>
                  <a:spcAft>
                    <a:spcPts val="800"/>
                  </a:spcAft>
                  <a:buNone/>
                </a:pPr>
                <a:r>
                  <a:rPr lang="en-US" sz="900" kern="100" dirty="0">
                    <a:effectLst/>
                    <a:ea typeface="Times New Roman" panose="02020603050405020304" pitchFamily="18" charset="0"/>
                    <a:cs typeface="Times New Roman" panose="02020603050405020304" pitchFamily="18" charset="0"/>
                  </a:rPr>
                  <a:t> </a:t>
                </a:r>
                <a:endParaRPr lang="en-US" sz="9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4" name="TextBox 3">
                <a:extLst>
                  <a:ext uri="{FF2B5EF4-FFF2-40B4-BE49-F238E27FC236}">
                    <a16:creationId xmlns:a16="http://schemas.microsoft.com/office/drawing/2014/main" id="{0E618640-C339-D870-4E96-0026A2624826}"/>
                  </a:ext>
                </a:extLst>
              </p:cNvPr>
              <p:cNvSpPr txBox="1">
                <a:spLocks noRot="1" noChangeAspect="1" noMove="1" noResize="1" noEditPoints="1" noAdjustHandles="1" noChangeArrowheads="1" noChangeShapeType="1" noTextEdit="1"/>
              </p:cNvSpPr>
              <p:nvPr/>
            </p:nvSpPr>
            <p:spPr>
              <a:xfrm>
                <a:off x="1447514" y="112539"/>
                <a:ext cx="9138642" cy="6380336"/>
              </a:xfrm>
              <a:prstGeom prst="rect">
                <a:avLst/>
              </a:prstGeom>
              <a:blipFill>
                <a:blip r:embed="rId2"/>
                <a:stretch>
                  <a:fillRect l="-200" t="-96"/>
                </a:stretch>
              </a:blipFill>
            </p:spPr>
            <p:txBody>
              <a:bodyPr/>
              <a:lstStyle/>
              <a:p>
                <a:r>
                  <a:rPr lang="en-US">
                    <a:noFill/>
                  </a:rPr>
                  <a:t> </a:t>
                </a:r>
              </a:p>
            </p:txBody>
          </p:sp>
        </mc:Fallback>
      </mc:AlternateContent>
    </p:spTree>
    <p:extLst>
      <p:ext uri="{BB962C8B-B14F-4D97-AF65-F5344CB8AC3E}">
        <p14:creationId xmlns:p14="http://schemas.microsoft.com/office/powerpoint/2010/main" val="2838436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B0290-7346-548D-6051-8834AD4AE7F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0A27400-4D73-2F6D-6722-68793826D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07BF94F1-889F-9232-6045-6A5E482DDD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686092EE-F91D-C67A-FAC5-B90B03886822}"/>
              </a:ext>
            </a:extLst>
          </p:cNvPr>
          <p:cNvSpPr txBox="1"/>
          <p:nvPr/>
        </p:nvSpPr>
        <p:spPr>
          <a:xfrm>
            <a:off x="848239" y="34887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B76864E2-C39D-7187-E8DC-0E16538CC8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3EED7FA0-086B-F7F8-7062-1A5BB236F5C9}"/>
              </a:ext>
            </a:extLst>
          </p:cNvPr>
          <p:cNvSpPr txBox="1"/>
          <p:nvPr/>
        </p:nvSpPr>
        <p:spPr>
          <a:xfrm>
            <a:off x="255389" y="348875"/>
            <a:ext cx="6331150" cy="1015663"/>
          </a:xfrm>
          <a:prstGeom prst="rect">
            <a:avLst/>
          </a:prstGeom>
          <a:noFill/>
        </p:spPr>
        <p:txBody>
          <a:bodyPr wrap="square">
            <a:spAutoFit/>
          </a:bodyPr>
          <a:lstStyle/>
          <a:p>
            <a:pPr>
              <a:lnSpc>
                <a:spcPct val="100000"/>
              </a:lnSpc>
              <a:spcBef>
                <a:spcPts val="800"/>
              </a:spcBef>
              <a:spcAft>
                <a:spcPts val="400"/>
              </a:spcAft>
              <a:buNone/>
            </a:pPr>
            <a:r>
              <a:rPr lang="el-GR" sz="1800" b="1" kern="100" dirty="0">
                <a:solidFill>
                  <a:srgbClr val="0070C0"/>
                </a:solidFill>
                <a:effectLst/>
                <a:latin typeface="+mn-lt"/>
                <a:ea typeface="Times New Roman" panose="02020603050405020304" pitchFamily="18" charset="0"/>
                <a:cs typeface="Times New Roman" panose="02020603050405020304" pitchFamily="18" charset="0"/>
              </a:rPr>
              <a:t>Σενάριο 1</a:t>
            </a:r>
            <a:endParaRPr lang="en-US" sz="1800" b="1" kern="100" dirty="0">
              <a:solidFill>
                <a:srgbClr val="0070C0"/>
              </a:solidFill>
              <a:effectLst/>
              <a:latin typeface="+mn-lt"/>
              <a:ea typeface="Times New Roman" panose="02020603050405020304" pitchFamily="18" charset="0"/>
              <a:cs typeface="Times New Roman" panose="02020603050405020304" pitchFamily="18" charset="0"/>
            </a:endParaRPr>
          </a:p>
          <a:p>
            <a:pPr>
              <a:lnSpc>
                <a:spcPct val="100000"/>
              </a:lnSpc>
              <a:spcBef>
                <a:spcPts val="800"/>
              </a:spcBef>
              <a:spcAft>
                <a:spcPts val="400"/>
              </a:spcAft>
              <a:buNone/>
            </a:pPr>
            <a:r>
              <a:rPr lang="el-GR" sz="1600" kern="100" dirty="0">
                <a:solidFill>
                  <a:srgbClr val="0070C0"/>
                </a:solidFill>
                <a:ea typeface="Times New Roman" panose="02020603050405020304" pitchFamily="18" charset="0"/>
                <a:cs typeface="Times New Roman" panose="02020603050405020304" pitchFamily="18" charset="0"/>
              </a:rPr>
              <a:t>Ανάλυση ευαισθησίας ως προς την χωρητικότητα</a:t>
            </a:r>
            <a:r>
              <a:rPr lang="el-GR" sz="1600" kern="100" dirty="0">
                <a:solidFill>
                  <a:schemeClr val="tx1"/>
                </a:solidFill>
                <a:effectLst/>
                <a:latin typeface="+mn-lt"/>
                <a:ea typeface="Times New Roman" panose="02020603050405020304" pitchFamily="18" charset="0"/>
                <a:cs typeface="Times New Roman" panose="02020603050405020304" pitchFamily="18" charset="0"/>
              </a:rPr>
              <a:t>, επίδραση της κατανομής ζήτησης και </a:t>
            </a:r>
            <a:r>
              <a:rPr lang="en-US" sz="1600" kern="100" dirty="0">
                <a:solidFill>
                  <a:schemeClr val="tx1"/>
                </a:solidFill>
                <a:effectLst/>
                <a:latin typeface="+mn-lt"/>
                <a:ea typeface="Times New Roman" panose="02020603050405020304" pitchFamily="18" charset="0"/>
                <a:cs typeface="Times New Roman" panose="02020603050405020304" pitchFamily="18" charset="0"/>
              </a:rPr>
              <a:t>LP </a:t>
            </a:r>
            <a:r>
              <a:rPr lang="el-GR" sz="1600" kern="100" dirty="0">
                <a:solidFill>
                  <a:schemeClr val="tx1"/>
                </a:solidFill>
                <a:effectLst/>
                <a:latin typeface="+mn-lt"/>
                <a:ea typeface="Times New Roman" panose="02020603050405020304" pitchFamily="18" charset="0"/>
                <a:cs typeface="Times New Roman" panose="02020603050405020304" pitchFamily="18" charset="0"/>
              </a:rPr>
              <a:t>χαλάρωση</a:t>
            </a:r>
            <a:endParaRPr lang="en-US" sz="1600" kern="10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AED517F1-74AB-201D-880C-CB70D83BF841}"/>
              </a:ext>
            </a:extLst>
          </p:cNvPr>
          <p:cNvPicPr>
            <a:picLocks noChangeAspect="1"/>
          </p:cNvPicPr>
          <p:nvPr/>
        </p:nvPicPr>
        <p:blipFill>
          <a:blip r:embed="rId2"/>
          <a:stretch>
            <a:fillRect/>
          </a:stretch>
        </p:blipFill>
        <p:spPr>
          <a:xfrm>
            <a:off x="371378" y="1350224"/>
            <a:ext cx="3861270" cy="2915994"/>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00CA7B2-7007-6225-EC6D-87890370B6F5}"/>
                  </a:ext>
                </a:extLst>
              </p:cNvPr>
              <p:cNvSpPr txBox="1"/>
              <p:nvPr/>
            </p:nvSpPr>
            <p:spPr>
              <a:xfrm>
                <a:off x="614936" y="4388986"/>
                <a:ext cx="2599752" cy="702756"/>
              </a:xfrm>
              <a:prstGeom prst="rect">
                <a:avLst/>
              </a:prstGeom>
              <a:noFill/>
            </p:spPr>
            <p:txBody>
              <a:bodyPr wrap="square">
                <a:spAutoFit/>
              </a:bodyPr>
              <a:lstStyle/>
              <a:p>
                <a:pPr>
                  <a:lnSpc>
                    <a:spcPct val="100000"/>
                  </a:lnSpc>
                  <a:spcAft>
                    <a:spcPts val="800"/>
                  </a:spcAft>
                  <a:buNone/>
                </a:pPr>
                <a:r>
                  <a:rPr lang="el-GR" sz="1100" kern="100" dirty="0">
                    <a:effectLst/>
                    <a:latin typeface="+mn-lt"/>
                    <a:ea typeface="Times New Roman" panose="02020603050405020304" pitchFamily="18" charset="0"/>
                    <a:cs typeface="Times New Roman" panose="02020603050405020304" pitchFamily="18" charset="0"/>
                  </a:rPr>
                  <a:t>Διατίθενται δύο όμοια οχήματα τύπου “</a:t>
                </a:r>
                <a:r>
                  <a:rPr lang="en-US" sz="1100" kern="100" dirty="0">
                    <a:effectLst/>
                    <a:latin typeface="+mn-lt"/>
                    <a:ea typeface="Times New Roman" panose="02020603050405020304" pitchFamily="18" charset="0"/>
                    <a:cs typeface="Times New Roman" panose="02020603050405020304" pitchFamily="18" charset="0"/>
                  </a:rPr>
                  <a:t>van</a:t>
                </a:r>
                <a:r>
                  <a:rPr lang="el-GR" sz="1100" kern="100" dirty="0">
                    <a:effectLst/>
                    <a:latin typeface="+mn-lt"/>
                    <a:ea typeface="Times New Roman" panose="02020603050405020304" pitchFamily="18" charset="0"/>
                    <a:cs typeface="Times New Roman" panose="02020603050405020304" pitchFamily="18" charset="0"/>
                  </a:rPr>
                  <a:t>” και εξετάζονται οι χωρητικότητες:</a:t>
                </a:r>
                <a:endParaRPr lang="en-US" sz="1100" kern="100" dirty="0">
                  <a:effectLst/>
                  <a:latin typeface="+mn-lt"/>
                  <a:ea typeface="Aptos" panose="020B0004020202020204" pitchFamily="34" charset="0"/>
                  <a:cs typeface="Times New Roman" panose="02020603050405020304" pitchFamily="18" charset="0"/>
                </a:endParaRPr>
              </a:p>
              <a:p>
                <a:pPr>
                  <a:buNone/>
                </a:pPr>
                <a14:m>
                  <m:oMathPara xmlns:m="http://schemas.openxmlformats.org/officeDocument/2006/math">
                    <m:oMath>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𝑄</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 ∈ {8, 10, 11, 12, 16, 21, 22}.</m:t>
                      </m:r>
                    </m:oMath>
                  </m:oMathPara>
                </a14:m>
                <a:endParaRPr lang="en-US" sz="1100" dirty="0"/>
              </a:p>
            </p:txBody>
          </p:sp>
        </mc:Choice>
        <mc:Fallback xmlns="">
          <p:sp>
            <p:nvSpPr>
              <p:cNvPr id="13" name="TextBox 12">
                <a:extLst>
                  <a:ext uri="{FF2B5EF4-FFF2-40B4-BE49-F238E27FC236}">
                    <a16:creationId xmlns:a16="http://schemas.microsoft.com/office/drawing/2014/main" id="{400CA7B2-7007-6225-EC6D-87890370B6F5}"/>
                  </a:ext>
                </a:extLst>
              </p:cNvPr>
              <p:cNvSpPr txBox="1">
                <a:spLocks noRot="1" noChangeAspect="1" noMove="1" noResize="1" noEditPoints="1" noAdjustHandles="1" noChangeArrowheads="1" noChangeShapeType="1" noTextEdit="1"/>
              </p:cNvSpPr>
              <p:nvPr/>
            </p:nvSpPr>
            <p:spPr>
              <a:xfrm>
                <a:off x="614936" y="4388986"/>
                <a:ext cx="2599752" cy="702756"/>
              </a:xfrm>
              <a:prstGeom prst="rect">
                <a:avLst/>
              </a:prstGeom>
              <a:blipFill>
                <a:blip r:embed="rId3"/>
                <a:stretch>
                  <a:fillRect t="-870" b="-870"/>
                </a:stretch>
              </a:blipFill>
            </p:spPr>
            <p:txBody>
              <a:bodyPr/>
              <a:lstStyle/>
              <a:p>
                <a:r>
                  <a:rPr lang="en-US">
                    <a:noFill/>
                  </a:rPr>
                  <a:t> </a:t>
                </a:r>
              </a:p>
            </p:txBody>
          </p:sp>
        </mc:Fallback>
      </mc:AlternateContent>
      <p:pic>
        <p:nvPicPr>
          <p:cNvPr id="16" name="Picture 15">
            <a:extLst>
              <a:ext uri="{FF2B5EF4-FFF2-40B4-BE49-F238E27FC236}">
                <a16:creationId xmlns:a16="http://schemas.microsoft.com/office/drawing/2014/main" id="{D14D1B3F-AFE4-3DAE-5858-2F13A05FD1D8}"/>
              </a:ext>
            </a:extLst>
          </p:cNvPr>
          <p:cNvPicPr>
            <a:picLocks noChangeAspect="1"/>
          </p:cNvPicPr>
          <p:nvPr/>
        </p:nvPicPr>
        <p:blipFill>
          <a:blip r:embed="rId4"/>
          <a:stretch>
            <a:fillRect/>
          </a:stretch>
        </p:blipFill>
        <p:spPr>
          <a:xfrm>
            <a:off x="6702528" y="708596"/>
            <a:ext cx="4921164" cy="1220234"/>
          </a:xfrm>
          <a:prstGeom prst="rect">
            <a:avLst/>
          </a:prstGeom>
        </p:spPr>
      </p:pic>
      <p:pic>
        <p:nvPicPr>
          <p:cNvPr id="18" name="Picture 17">
            <a:extLst>
              <a:ext uri="{FF2B5EF4-FFF2-40B4-BE49-F238E27FC236}">
                <a16:creationId xmlns:a16="http://schemas.microsoft.com/office/drawing/2014/main" id="{BD275FD8-F4C0-CE37-9222-4B7FD3A0AD15}"/>
              </a:ext>
            </a:extLst>
          </p:cNvPr>
          <p:cNvPicPr>
            <a:picLocks noChangeAspect="1"/>
          </p:cNvPicPr>
          <p:nvPr/>
        </p:nvPicPr>
        <p:blipFill>
          <a:blip r:embed="rId5"/>
          <a:stretch>
            <a:fillRect/>
          </a:stretch>
        </p:blipFill>
        <p:spPr>
          <a:xfrm>
            <a:off x="49113" y="5391409"/>
            <a:ext cx="6331150" cy="967258"/>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0DF3BDC-E642-0E09-DE48-49D20919580A}"/>
                  </a:ext>
                </a:extLst>
              </p:cNvPr>
              <p:cNvSpPr txBox="1"/>
              <p:nvPr/>
            </p:nvSpPr>
            <p:spPr>
              <a:xfrm>
                <a:off x="6586539" y="2021742"/>
                <a:ext cx="2439615" cy="430887"/>
              </a:xfrm>
              <a:prstGeom prst="rect">
                <a:avLst/>
              </a:prstGeom>
              <a:noFill/>
            </p:spPr>
            <p:txBody>
              <a:bodyPr wrap="square">
                <a:spAutoFit/>
              </a:bodyPr>
              <a:lstStyle/>
              <a:p>
                <a:pPr/>
                <a14:m>
                  <m:oMathPara xmlns:m="http://schemas.openxmlformats.org/officeDocument/2006/math">
                    <m:oMath>
                      <m:r>
                        <a:rPr lang="en-US" sz="1100" i="1" smtClean="0">
                          <a:effectLst/>
                          <a:latin typeface="Cambria Math" panose="02040503050406030204" pitchFamily="18" charset="0"/>
                          <a:ea typeface="Times New Roman" panose="02020603050405020304" pitchFamily="18" charset="0"/>
                          <a:cs typeface="Times New Roman" panose="02020603050405020304" pitchFamily="18" charset="0"/>
                        </a:rPr>
                        <m:t>𝐿𝐵</m:t>
                      </m:r>
                      <m:r>
                        <a:rPr lang="en-US" sz="1100" i="1" smtClean="0">
                          <a:effectLst/>
                          <a:latin typeface="Cambria Math" panose="02040503050406030204" pitchFamily="18" charset="0"/>
                          <a:ea typeface="Times New Roman" panose="02020603050405020304" pitchFamily="18" charset="0"/>
                          <a:cs typeface="Times New Roman" panose="02020603050405020304" pitchFamily="18" charset="0"/>
                        </a:rPr>
                        <m:t>_</m:t>
                      </m:r>
                      <m:r>
                        <a:rPr lang="en-US" sz="1100" i="1" smtClean="0">
                          <a:effectLst/>
                          <a:latin typeface="Cambria Math" panose="02040503050406030204" pitchFamily="18" charset="0"/>
                          <a:ea typeface="Times New Roman" panose="02020603050405020304" pitchFamily="18" charset="0"/>
                          <a:cs typeface="Times New Roman" panose="02020603050405020304" pitchFamily="18" charset="0"/>
                        </a:rPr>
                        <m:t>𝑎𝑔𝑔𝑟𝑒𝑔𝑎𝑡𝑒</m:t>
                      </m:r>
                      <m:d>
                        <m:dPr>
                          <m:ctrlPr>
                            <a:rPr lang="en-US" sz="11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𝑄</m:t>
                          </m:r>
                        </m:e>
                      </m:d>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𝑐𝑒𝑖𝑙</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𝛴</m:t>
                      </m:r>
                      <m:r>
                        <a:rPr lang="en-US" sz="1100" i="1">
                          <a:effectLst/>
                          <a:latin typeface="Cambria Math" panose="02040503050406030204" pitchFamily="18" charset="0"/>
                          <a:ea typeface="Times New Roman" panose="02020603050405020304" pitchFamily="18" charset="0"/>
                          <a:cs typeface="Arial" panose="020B0604020202020204" pitchFamily="34" charset="0"/>
                        </a:rPr>
                        <m:t>ᵢ</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𝑞</m:t>
                      </m:r>
                      <m:r>
                        <a:rPr lang="en-US" sz="1100" i="1">
                          <a:effectLst/>
                          <a:latin typeface="Cambria Math" panose="02040503050406030204" pitchFamily="18" charset="0"/>
                          <a:ea typeface="Times New Roman" panose="02020603050405020304" pitchFamily="18" charset="0"/>
                          <a:cs typeface="Arial" panose="020B0604020202020204" pitchFamily="34" charset="0"/>
                        </a:rPr>
                        <m:t>ᵢ</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 / </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𝑄</m:t>
                      </m:r>
                      <m:r>
                        <a:rPr lang="en-US" sz="11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l-GR" sz="1100" dirty="0">
                  <a:effectLst/>
                  <a:ea typeface="Times New Roman" panose="02020603050405020304" pitchFamily="18" charset="0"/>
                  <a:cs typeface="Times New Roman" panose="02020603050405020304" pitchFamily="18" charset="0"/>
                </a:endParaRPr>
              </a:p>
              <a:p>
                <a14:m>
                  <m:oMath xmlns:m="http://schemas.openxmlformats.org/officeDocument/2006/math">
                    <m:r>
                      <a:rPr lang="en-US" sz="1100" b="0" i="1" smtClean="0">
                        <a:effectLst/>
                        <a:latin typeface="Cambria Math" panose="02040503050406030204" pitchFamily="18" charset="0"/>
                        <a:ea typeface="Times New Roman" panose="02020603050405020304" pitchFamily="18" charset="0"/>
                        <a:cs typeface="Times New Roman" panose="02020603050405020304" pitchFamily="18" charset="0"/>
                      </a:rPr>
                      <m:t>𝑓𝑖𝑥𝑒𝑑</m:t>
                    </m:r>
                    <m:r>
                      <a:rPr lang="en-US" sz="1100" b="0" i="1" smtClean="0">
                        <a:effectLst/>
                        <a:latin typeface="Cambria Math" panose="02040503050406030204" pitchFamily="18" charset="0"/>
                        <a:ea typeface="Times New Roman" panose="02020603050405020304" pitchFamily="18" charset="0"/>
                        <a:cs typeface="Times New Roman" panose="02020603050405020304" pitchFamily="18" charset="0"/>
                      </a:rPr>
                      <m:t>_</m:t>
                    </m:r>
                    <m:r>
                      <a:rPr lang="en-US" sz="1100" b="0" i="1" smtClean="0">
                        <a:effectLst/>
                        <a:latin typeface="Cambria Math" panose="02040503050406030204" pitchFamily="18" charset="0"/>
                        <a:ea typeface="Times New Roman" panose="02020603050405020304" pitchFamily="18" charset="0"/>
                        <a:cs typeface="Times New Roman" panose="02020603050405020304" pitchFamily="18" charset="0"/>
                      </a:rPr>
                      <m:t>𝑐𝑜𝑠𝑡</m:t>
                    </m:r>
                    <m:r>
                      <a:rPr lang="en-US" sz="1100" b="0" i="1" smtClean="0">
                        <a:effectLst/>
                        <a:latin typeface="Cambria Math" panose="02040503050406030204" pitchFamily="18" charset="0"/>
                        <a:ea typeface="Times New Roman" panose="02020603050405020304" pitchFamily="18" charset="0"/>
                        <a:cs typeface="Times New Roman" panose="02020603050405020304" pitchFamily="18" charset="0"/>
                      </a:rPr>
                      <m:t>=15</m:t>
                    </m:r>
                  </m:oMath>
                </a14:m>
                <a:r>
                  <a:rPr lang="el-GR" sz="1100" dirty="0">
                    <a:effectLst/>
                    <a:ea typeface="Times New Roman" panose="02020603050405020304" pitchFamily="18" charset="0"/>
                    <a:cs typeface="Times New Roman" panose="02020603050405020304" pitchFamily="18" charset="0"/>
                  </a:rPr>
                  <a:t> </a:t>
                </a:r>
                <a:endParaRPr lang="en-US" sz="1100" dirty="0"/>
              </a:p>
            </p:txBody>
          </p:sp>
        </mc:Choice>
        <mc:Fallback xmlns="">
          <p:sp>
            <p:nvSpPr>
              <p:cNvPr id="20" name="TextBox 19">
                <a:extLst>
                  <a:ext uri="{FF2B5EF4-FFF2-40B4-BE49-F238E27FC236}">
                    <a16:creationId xmlns:a16="http://schemas.microsoft.com/office/drawing/2014/main" id="{B0DF3BDC-E642-0E09-DE48-49D20919580A}"/>
                  </a:ext>
                </a:extLst>
              </p:cNvPr>
              <p:cNvSpPr txBox="1">
                <a:spLocks noRot="1" noChangeAspect="1" noMove="1" noResize="1" noEditPoints="1" noAdjustHandles="1" noChangeArrowheads="1" noChangeShapeType="1" noTextEdit="1"/>
              </p:cNvSpPr>
              <p:nvPr/>
            </p:nvSpPr>
            <p:spPr>
              <a:xfrm>
                <a:off x="6586539" y="2021742"/>
                <a:ext cx="2439615" cy="430887"/>
              </a:xfrm>
              <a:prstGeom prst="rect">
                <a:avLst/>
              </a:prstGeom>
              <a:blipFill>
                <a:blip r:embed="rId6"/>
                <a:stretch>
                  <a:fillRect b="-2857"/>
                </a:stretch>
              </a:blipFill>
            </p:spPr>
            <p:txBody>
              <a:bodyPr/>
              <a:lstStyle/>
              <a:p>
                <a:r>
                  <a:rPr lang="en-US">
                    <a:noFill/>
                  </a:rPr>
                  <a:t> </a:t>
                </a:r>
              </a:p>
            </p:txBody>
          </p:sp>
        </mc:Fallback>
      </mc:AlternateContent>
      <p:pic>
        <p:nvPicPr>
          <p:cNvPr id="22" name="Picture 21">
            <a:extLst>
              <a:ext uri="{FF2B5EF4-FFF2-40B4-BE49-F238E27FC236}">
                <a16:creationId xmlns:a16="http://schemas.microsoft.com/office/drawing/2014/main" id="{BF180D59-5EE6-3C48-FDEE-D1C366E5A9B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72263" y="3485213"/>
            <a:ext cx="5344178" cy="2973170"/>
          </a:xfrm>
          <a:prstGeom prst="rect">
            <a:avLst/>
          </a:prstGeom>
        </p:spPr>
      </p:pic>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600ACD3-0E25-3CE5-E358-21A6948FFAA4}"/>
                  </a:ext>
                </a:extLst>
              </p:cNvPr>
              <p:cNvSpPr txBox="1"/>
              <p:nvPr/>
            </p:nvSpPr>
            <p:spPr>
              <a:xfrm>
                <a:off x="6380263" y="2559976"/>
                <a:ext cx="4509326" cy="923330"/>
              </a:xfrm>
              <a:prstGeom prst="rect">
                <a:avLst/>
              </a:prstGeom>
              <a:noFill/>
            </p:spPr>
            <p:txBody>
              <a:bodyPr wrap="square" rtlCol="0">
                <a:spAutoFit/>
              </a:bodyPr>
              <a:lstStyle/>
              <a:p>
                <a14:m>
                  <m:oMath xmlns:m="http://schemas.openxmlformats.org/officeDocument/2006/math">
                    <m:r>
                      <a:rPr lang="el-GR" i="1" dirty="0" smtClean="0">
                        <a:latin typeface="Cambria Math" panose="02040503050406030204" pitchFamily="18" charset="0"/>
                      </a:rPr>
                      <m:t>0.96%</m:t>
                    </m:r>
                  </m:oMath>
                </a14:m>
                <a:r>
                  <a:rPr lang="el-GR" dirty="0"/>
                  <a:t>         της συνολικής απόστασης</a:t>
                </a:r>
              </a:p>
              <a:p>
                <a14:m>
                  <m:oMath xmlns:m="http://schemas.openxmlformats.org/officeDocument/2006/math">
                    <m:r>
                      <a:rPr lang="el-GR" i="1" dirty="0" smtClean="0">
                        <a:latin typeface="Cambria Math" panose="02040503050406030204" pitchFamily="18" charset="0"/>
                      </a:rPr>
                      <m:t>25.95%</m:t>
                    </m:r>
                  </m:oMath>
                </a14:m>
                <a:r>
                  <a:rPr lang="el-GR" dirty="0"/>
                  <a:t>      του συνολικού κόστους</a:t>
                </a:r>
              </a:p>
              <a:p>
                <a:endParaRPr lang="en-US" dirty="0"/>
              </a:p>
            </p:txBody>
          </p:sp>
        </mc:Choice>
        <mc:Fallback xmlns="">
          <p:sp>
            <p:nvSpPr>
              <p:cNvPr id="23" name="TextBox 22">
                <a:extLst>
                  <a:ext uri="{FF2B5EF4-FFF2-40B4-BE49-F238E27FC236}">
                    <a16:creationId xmlns:a16="http://schemas.microsoft.com/office/drawing/2014/main" id="{B600ACD3-0E25-3CE5-E358-21A6948FFAA4}"/>
                  </a:ext>
                </a:extLst>
              </p:cNvPr>
              <p:cNvSpPr txBox="1">
                <a:spLocks noRot="1" noChangeAspect="1" noMove="1" noResize="1" noEditPoints="1" noAdjustHandles="1" noChangeArrowheads="1" noChangeShapeType="1" noTextEdit="1"/>
              </p:cNvSpPr>
              <p:nvPr/>
            </p:nvSpPr>
            <p:spPr>
              <a:xfrm>
                <a:off x="6380263" y="2559976"/>
                <a:ext cx="4509326" cy="923330"/>
              </a:xfrm>
              <a:prstGeom prst="rect">
                <a:avLst/>
              </a:prstGeom>
              <a:blipFill>
                <a:blip r:embed="rId8"/>
                <a:stretch>
                  <a:fillRect t="-3311"/>
                </a:stretch>
              </a:blipFill>
            </p:spPr>
            <p:txBody>
              <a:bodyPr/>
              <a:lstStyle/>
              <a:p>
                <a:r>
                  <a:rPr lang="en-US">
                    <a:noFill/>
                  </a:rPr>
                  <a:t> </a:t>
                </a:r>
              </a:p>
            </p:txBody>
          </p:sp>
        </mc:Fallback>
      </mc:AlternateContent>
      <p:sp>
        <p:nvSpPr>
          <p:cNvPr id="24" name="Arrow: Down 23">
            <a:extLst>
              <a:ext uri="{FF2B5EF4-FFF2-40B4-BE49-F238E27FC236}">
                <a16:creationId xmlns:a16="http://schemas.microsoft.com/office/drawing/2014/main" id="{898978D0-4997-BF15-F05D-1ABA936E4F42}"/>
              </a:ext>
            </a:extLst>
          </p:cNvPr>
          <p:cNvSpPr/>
          <p:nvPr/>
        </p:nvSpPr>
        <p:spPr>
          <a:xfrm>
            <a:off x="7237483" y="2637426"/>
            <a:ext cx="96128" cy="17694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Arrow: Down 25">
            <a:extLst>
              <a:ext uri="{FF2B5EF4-FFF2-40B4-BE49-F238E27FC236}">
                <a16:creationId xmlns:a16="http://schemas.microsoft.com/office/drawing/2014/main" id="{3FD608D5-2480-CEE1-C31E-9B0206290C33}"/>
              </a:ext>
            </a:extLst>
          </p:cNvPr>
          <p:cNvSpPr/>
          <p:nvPr/>
        </p:nvSpPr>
        <p:spPr>
          <a:xfrm>
            <a:off x="7333611" y="2933169"/>
            <a:ext cx="96128" cy="17694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3842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52486-5704-B450-16D7-2BBBE445D1B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4FD03B-7DFD-AADE-33AF-B49115EFCB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F192F742-8953-C061-F8AA-CB3A1A5090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7CFA177E-E901-AF40-7ADC-586F95C5A319}"/>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A7E80CDF-B602-AC48-0ED1-75D9AE3124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4F60AAFE-EE09-1D6A-372C-94E04D0E19FE}"/>
              </a:ext>
            </a:extLst>
          </p:cNvPr>
          <p:cNvSpPr txBox="1"/>
          <p:nvPr/>
        </p:nvSpPr>
        <p:spPr>
          <a:xfrm>
            <a:off x="419695" y="252790"/>
            <a:ext cx="3145036" cy="338554"/>
          </a:xfrm>
          <a:prstGeom prst="rect">
            <a:avLst/>
          </a:prstGeom>
          <a:noFill/>
        </p:spPr>
        <p:txBody>
          <a:bodyPr wrap="square">
            <a:spAutoFit/>
          </a:bodyPr>
          <a:lstStyle/>
          <a:p>
            <a:r>
              <a:rPr lang="el-GR" sz="1600" kern="100" dirty="0">
                <a:solidFill>
                  <a:srgbClr val="0070C0"/>
                </a:solidFill>
                <a:effectLst/>
                <a:latin typeface="+mn-lt"/>
                <a:ea typeface="Times New Roman" panose="02020603050405020304" pitchFamily="18" charset="0"/>
                <a:cs typeface="Times New Roman" panose="02020603050405020304" pitchFamily="18" charset="0"/>
              </a:rPr>
              <a:t>Επίδραση</a:t>
            </a:r>
            <a:r>
              <a:rPr lang="en-US" sz="1600" kern="100" dirty="0">
                <a:solidFill>
                  <a:srgbClr val="0070C0"/>
                </a:solidFill>
                <a:effectLst/>
                <a:latin typeface="+mn-lt"/>
                <a:ea typeface="Times New Roman" panose="02020603050405020304" pitchFamily="18" charset="0"/>
                <a:cs typeface="Times New Roman" panose="02020603050405020304" pitchFamily="18" charset="0"/>
              </a:rPr>
              <a:t> </a:t>
            </a:r>
            <a:r>
              <a:rPr lang="el-GR" sz="1600" kern="100" dirty="0">
                <a:solidFill>
                  <a:srgbClr val="0070C0"/>
                </a:solidFill>
                <a:effectLst/>
                <a:latin typeface="+mn-lt"/>
                <a:ea typeface="Times New Roman" panose="02020603050405020304" pitchFamily="18" charset="0"/>
                <a:cs typeface="Times New Roman" panose="02020603050405020304" pitchFamily="18" charset="0"/>
              </a:rPr>
              <a:t>της κατανομής ζήτησης</a:t>
            </a:r>
            <a:endParaRPr lang="en-US" dirty="0">
              <a:solidFill>
                <a:srgbClr val="0070C0"/>
              </a:solidFill>
            </a:endParaRPr>
          </a:p>
        </p:txBody>
      </p:sp>
      <p:pic>
        <p:nvPicPr>
          <p:cNvPr id="6" name="Picture 5">
            <a:extLst>
              <a:ext uri="{FF2B5EF4-FFF2-40B4-BE49-F238E27FC236}">
                <a16:creationId xmlns:a16="http://schemas.microsoft.com/office/drawing/2014/main" id="{8EDB58D1-1610-D956-16E2-D6B04AB0CFE9}"/>
              </a:ext>
            </a:extLst>
          </p:cNvPr>
          <p:cNvPicPr>
            <a:picLocks noChangeAspect="1"/>
          </p:cNvPicPr>
          <p:nvPr/>
        </p:nvPicPr>
        <p:blipFill>
          <a:blip r:embed="rId3"/>
          <a:stretch>
            <a:fillRect/>
          </a:stretch>
        </p:blipFill>
        <p:spPr>
          <a:xfrm>
            <a:off x="84832" y="693770"/>
            <a:ext cx="7158473" cy="5966254"/>
          </a:xfrm>
          <a:prstGeom prst="rect">
            <a:avLst/>
          </a:prstGeom>
        </p:spPr>
      </p:pic>
      <p:pic>
        <p:nvPicPr>
          <p:cNvPr id="8" name="Picture 7">
            <a:extLst>
              <a:ext uri="{FF2B5EF4-FFF2-40B4-BE49-F238E27FC236}">
                <a16:creationId xmlns:a16="http://schemas.microsoft.com/office/drawing/2014/main" id="{BA2F30A1-1A7E-0B47-A2D0-EA8E07C1679A}"/>
              </a:ext>
            </a:extLst>
          </p:cNvPr>
          <p:cNvPicPr>
            <a:picLocks noChangeAspect="1"/>
          </p:cNvPicPr>
          <p:nvPr/>
        </p:nvPicPr>
        <p:blipFill>
          <a:blip r:embed="rId4"/>
          <a:stretch>
            <a:fillRect/>
          </a:stretch>
        </p:blipFill>
        <p:spPr>
          <a:xfrm>
            <a:off x="6914407" y="1095248"/>
            <a:ext cx="5277593" cy="2526633"/>
          </a:xfrm>
          <a:prstGeom prst="rect">
            <a:avLst/>
          </a:prstGeom>
        </p:spPr>
      </p:pic>
      <p:pic>
        <p:nvPicPr>
          <p:cNvPr id="15" name="Picture 14">
            <a:extLst>
              <a:ext uri="{FF2B5EF4-FFF2-40B4-BE49-F238E27FC236}">
                <a16:creationId xmlns:a16="http://schemas.microsoft.com/office/drawing/2014/main" id="{AD551E66-BC6C-3C77-8DA0-5177B5184880}"/>
              </a:ext>
            </a:extLst>
          </p:cNvPr>
          <p:cNvPicPr>
            <a:picLocks noChangeAspect="1"/>
          </p:cNvPicPr>
          <p:nvPr/>
        </p:nvPicPr>
        <p:blipFill>
          <a:blip r:embed="rId5"/>
          <a:stretch>
            <a:fillRect/>
          </a:stretch>
        </p:blipFill>
        <p:spPr>
          <a:xfrm>
            <a:off x="7051538" y="3789173"/>
            <a:ext cx="3823968" cy="2794264"/>
          </a:xfrm>
          <a:prstGeom prst="rect">
            <a:avLst/>
          </a:prstGeom>
        </p:spPr>
      </p:pic>
      <p:pic>
        <p:nvPicPr>
          <p:cNvPr id="17" name="Picture 16">
            <a:extLst>
              <a:ext uri="{FF2B5EF4-FFF2-40B4-BE49-F238E27FC236}">
                <a16:creationId xmlns:a16="http://schemas.microsoft.com/office/drawing/2014/main" id="{A27E69F5-FA78-D031-1CC0-A57237E27835}"/>
              </a:ext>
            </a:extLst>
          </p:cNvPr>
          <p:cNvPicPr>
            <a:picLocks noChangeAspect="1"/>
          </p:cNvPicPr>
          <p:nvPr/>
        </p:nvPicPr>
        <p:blipFill>
          <a:blip r:embed="rId6"/>
          <a:stretch>
            <a:fillRect/>
          </a:stretch>
        </p:blipFill>
        <p:spPr>
          <a:xfrm>
            <a:off x="5030498" y="43990"/>
            <a:ext cx="4589182" cy="952551"/>
          </a:xfrm>
          <a:prstGeom prst="rect">
            <a:avLst/>
          </a:prstGeom>
        </p:spPr>
      </p:pic>
    </p:spTree>
    <p:extLst>
      <p:ext uri="{BB962C8B-B14F-4D97-AF65-F5344CB8AC3E}">
        <p14:creationId xmlns:p14="http://schemas.microsoft.com/office/powerpoint/2010/main" val="39541028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26750-A479-318E-86E0-0B7C3AC4C93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6BBF371-7EA1-E88E-9353-E4344E9A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CD1156A-2C35-664E-5A60-93606DCE2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494EB5A4-3769-8C57-89C3-FB9A69E7BC8F}"/>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5758B436-C273-B9F4-107B-A665B99A1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3D7C086C-7CB0-B6CE-642F-CC93F2CF5A3B}"/>
              </a:ext>
            </a:extLst>
          </p:cNvPr>
          <p:cNvSpPr txBox="1"/>
          <p:nvPr/>
        </p:nvSpPr>
        <p:spPr>
          <a:xfrm>
            <a:off x="441126" y="238999"/>
            <a:ext cx="6097190" cy="338554"/>
          </a:xfrm>
          <a:prstGeom prst="rect">
            <a:avLst/>
          </a:prstGeom>
          <a:noFill/>
        </p:spPr>
        <p:txBody>
          <a:bodyPr wrap="square">
            <a:spAutoFit/>
          </a:bodyPr>
          <a:lstStyle/>
          <a:p>
            <a:r>
              <a:rPr lang="en-US" sz="1600" kern="100" dirty="0">
                <a:solidFill>
                  <a:srgbClr val="0070C0"/>
                </a:solidFill>
                <a:cs typeface="Times New Roman" panose="02020603050405020304" pitchFamily="18" charset="0"/>
              </a:rPr>
              <a:t>LP relaxation</a:t>
            </a:r>
            <a:endParaRPr lang="en-US" sz="1800" dirty="0">
              <a:solidFill>
                <a:srgbClr val="0070C0"/>
              </a:solidFill>
            </a:endParaRPr>
          </a:p>
        </p:txBody>
      </p:sp>
      <p:pic>
        <p:nvPicPr>
          <p:cNvPr id="7" name="Picture 6">
            <a:extLst>
              <a:ext uri="{FF2B5EF4-FFF2-40B4-BE49-F238E27FC236}">
                <a16:creationId xmlns:a16="http://schemas.microsoft.com/office/drawing/2014/main" id="{EB7DDB20-0317-EAB7-446C-9E621482A7BC}"/>
              </a:ext>
            </a:extLst>
          </p:cNvPr>
          <p:cNvPicPr>
            <a:picLocks noChangeAspect="1"/>
          </p:cNvPicPr>
          <p:nvPr/>
        </p:nvPicPr>
        <p:blipFill>
          <a:blip r:embed="rId2"/>
          <a:stretch>
            <a:fillRect/>
          </a:stretch>
        </p:blipFill>
        <p:spPr>
          <a:xfrm>
            <a:off x="441126" y="591344"/>
            <a:ext cx="3843007" cy="2774033"/>
          </a:xfrm>
          <a:prstGeom prst="rect">
            <a:avLst/>
          </a:prstGeom>
        </p:spPr>
      </p:pic>
      <p:pic>
        <p:nvPicPr>
          <p:cNvPr id="8" name="Picture 7">
            <a:extLst>
              <a:ext uri="{FF2B5EF4-FFF2-40B4-BE49-F238E27FC236}">
                <a16:creationId xmlns:a16="http://schemas.microsoft.com/office/drawing/2014/main" id="{396D2674-376C-2F81-64F1-5EDFD90AAB52}"/>
              </a:ext>
            </a:extLst>
          </p:cNvPr>
          <p:cNvPicPr>
            <a:picLocks noChangeAspect="1"/>
          </p:cNvPicPr>
          <p:nvPr/>
        </p:nvPicPr>
        <p:blipFill>
          <a:blip r:embed="rId3"/>
          <a:stretch>
            <a:fillRect/>
          </a:stretch>
        </p:blipFill>
        <p:spPr>
          <a:xfrm>
            <a:off x="1228558" y="3603801"/>
            <a:ext cx="8914054" cy="1584149"/>
          </a:xfrm>
          <a:prstGeom prst="rect">
            <a:avLst/>
          </a:prstGeom>
        </p:spPr>
      </p:pic>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97D06BF-AC29-50F8-4597-822D6F7AFA1A}"/>
                  </a:ext>
                </a:extLst>
              </p:cNvPr>
              <p:cNvSpPr txBox="1"/>
              <p:nvPr/>
            </p:nvSpPr>
            <p:spPr>
              <a:xfrm>
                <a:off x="4445000" y="703679"/>
                <a:ext cx="6096000" cy="1077218"/>
              </a:xfrm>
              <a:prstGeom prst="rect">
                <a:avLst/>
              </a:prstGeom>
              <a:noFill/>
            </p:spPr>
            <p:txBody>
              <a:bodyPr wrap="square">
                <a:spAutoFit/>
              </a:bodyPr>
              <a:lstStyle/>
              <a:p>
                <a:pPr>
                  <a:lnSpc>
                    <a:spcPct val="100000"/>
                  </a:lnSpc>
                  <a:spcAft>
                    <a:spcPts val="800"/>
                  </a:spcAft>
                  <a:buNone/>
                </a:pPr>
                <a:r>
                  <a:rPr lang="el-GR" sz="1100" kern="100" dirty="0">
                    <a:effectLst/>
                    <a:latin typeface="+mn-lt"/>
                    <a:ea typeface="Times New Roman" panose="02020603050405020304" pitchFamily="18" charset="0"/>
                    <a:cs typeface="Times New Roman" panose="02020603050405020304" pitchFamily="18" charset="0"/>
                  </a:rPr>
                  <a:t>Στη γραμμική χαλάρωση οι δυαδικές μεταβλητές αντικαθίστανται από συνεχείς μεταβλητές:</a:t>
                </a:r>
                <a:endParaRPr lang="en-US" sz="11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14:m>
                  <m:oMathPara xmlns:m="http://schemas.openxmlformats.org/officeDocument/2006/math">
                    <m:oMath>
                      <m:r>
                        <a:rPr lang="en-US" sz="1100" i="1" kern="100">
                          <a:effectLst/>
                          <a:latin typeface="Cambria Math" panose="02040503050406030204" pitchFamily="18" charset="0"/>
                          <a:ea typeface="Times New Roman" panose="02020603050405020304" pitchFamily="18" charset="0"/>
                          <a:cs typeface="Times New Roman" panose="02020603050405020304" pitchFamily="18" charset="0"/>
                        </a:rPr>
                        <m:t>0 ≤ </m:t>
                      </m:r>
                      <m:r>
                        <a:rPr lang="en-US" sz="1100" i="1" kern="100">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1100" i="1" kern="100">
                          <a:effectLst/>
                          <a:latin typeface="Cambria Math" panose="02040503050406030204" pitchFamily="18" charset="0"/>
                          <a:ea typeface="Times New Roman" panose="02020603050405020304" pitchFamily="18" charset="0"/>
                          <a:cs typeface="Arial" panose="020B0604020202020204" pitchFamily="34" charset="0"/>
                        </a:rPr>
                        <m:t>ᵢⱼ</m:t>
                      </m:r>
                      <m:r>
                        <a:rPr lang="en-US" sz="1100" i="1" kern="100">
                          <a:effectLst/>
                          <a:latin typeface="Cambria Math" panose="02040503050406030204" pitchFamily="18" charset="0"/>
                          <a:ea typeface="Times New Roman" panose="02020603050405020304" pitchFamily="18" charset="0"/>
                          <a:cs typeface="Cambria Math" panose="02040503050406030204" pitchFamily="18" charset="0"/>
                        </a:rPr>
                        <m:t>ₖ</m:t>
                      </m:r>
                      <m:r>
                        <a:rPr lang="en-US" sz="1100" i="1" kern="100">
                          <a:effectLst/>
                          <a:latin typeface="Cambria Math" panose="02040503050406030204" pitchFamily="18" charset="0"/>
                          <a:ea typeface="Times New Roman" panose="02020603050405020304" pitchFamily="18" charset="0"/>
                          <a:cs typeface="Times New Roman" panose="02020603050405020304" pitchFamily="18" charset="0"/>
                        </a:rPr>
                        <m:t> ≤ 1,</m:t>
                      </m:r>
                    </m:oMath>
                  </m:oMathPara>
                </a14:m>
                <a:endParaRPr lang="en-US" sz="11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14:m>
                  <m:oMathPara xmlns:m="http://schemas.openxmlformats.org/officeDocument/2006/math">
                    <m:oMath>
                      <m:r>
                        <a:rPr lang="en-US" sz="1100" i="1" kern="100">
                          <a:effectLst/>
                          <a:latin typeface="Cambria Math" panose="02040503050406030204" pitchFamily="18" charset="0"/>
                          <a:ea typeface="Times New Roman" panose="02020603050405020304" pitchFamily="18" charset="0"/>
                          <a:cs typeface="Times New Roman" panose="02020603050405020304" pitchFamily="18" charset="0"/>
                        </a:rPr>
                        <m:t>0 ≤ </m:t>
                      </m:r>
                      <m:r>
                        <a:rPr lang="en-US" sz="1100" i="1" kern="100">
                          <a:effectLst/>
                          <a:latin typeface="Cambria Math" panose="02040503050406030204" pitchFamily="18" charset="0"/>
                          <a:ea typeface="Times New Roman" panose="02020603050405020304" pitchFamily="18" charset="0"/>
                          <a:cs typeface="Times New Roman" panose="02020603050405020304" pitchFamily="18" charset="0"/>
                        </a:rPr>
                        <m:t>𝑦</m:t>
                      </m:r>
                      <m:r>
                        <a:rPr lang="en-US" sz="1100" i="1" kern="100">
                          <a:effectLst/>
                          <a:latin typeface="Cambria Math" panose="02040503050406030204" pitchFamily="18" charset="0"/>
                          <a:ea typeface="Times New Roman" panose="02020603050405020304" pitchFamily="18" charset="0"/>
                          <a:cs typeface="Arial" panose="020B0604020202020204" pitchFamily="34" charset="0"/>
                        </a:rPr>
                        <m:t>ᵢ</m:t>
                      </m:r>
                      <m:r>
                        <a:rPr lang="en-US" sz="1100" i="1" kern="100">
                          <a:effectLst/>
                          <a:latin typeface="Cambria Math" panose="02040503050406030204" pitchFamily="18" charset="0"/>
                          <a:ea typeface="Times New Roman" panose="02020603050405020304" pitchFamily="18" charset="0"/>
                          <a:cs typeface="Cambria Math" panose="02040503050406030204" pitchFamily="18" charset="0"/>
                        </a:rPr>
                        <m:t>ₖ</m:t>
                      </m:r>
                      <m:r>
                        <a:rPr lang="en-US" sz="1100" i="1" kern="100">
                          <a:effectLst/>
                          <a:latin typeface="Cambria Math" panose="02040503050406030204" pitchFamily="18" charset="0"/>
                          <a:ea typeface="Times New Roman" panose="02020603050405020304" pitchFamily="18" charset="0"/>
                          <a:cs typeface="Times New Roman" panose="02020603050405020304" pitchFamily="18" charset="0"/>
                        </a:rPr>
                        <m:t> ≤ 1,</m:t>
                      </m:r>
                    </m:oMath>
                  </m:oMathPara>
                </a14:m>
                <a:endParaRPr lang="en-US" sz="11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14:m>
                  <m:oMathPara xmlns:m="http://schemas.openxmlformats.org/officeDocument/2006/math">
                    <m:oMath>
                      <m:r>
                        <a:rPr lang="en-US" sz="1100" i="1" kern="100">
                          <a:effectLst/>
                          <a:latin typeface="Cambria Math" panose="02040503050406030204" pitchFamily="18" charset="0"/>
                          <a:ea typeface="Times New Roman" panose="02020603050405020304" pitchFamily="18" charset="0"/>
                          <a:cs typeface="Times New Roman" panose="02020603050405020304" pitchFamily="18" charset="0"/>
                        </a:rPr>
                        <m:t>0 ≤ </m:t>
                      </m:r>
                      <m:r>
                        <a:rPr lang="en-US" sz="1100" i="1" kern="100">
                          <a:effectLst/>
                          <a:latin typeface="Cambria Math" panose="02040503050406030204" pitchFamily="18" charset="0"/>
                          <a:ea typeface="Times New Roman" panose="02020603050405020304" pitchFamily="18" charset="0"/>
                          <a:cs typeface="Times New Roman" panose="02020603050405020304" pitchFamily="18" charset="0"/>
                        </a:rPr>
                        <m:t>𝑧</m:t>
                      </m:r>
                      <m:r>
                        <a:rPr lang="en-US" sz="1100" i="1" kern="100">
                          <a:effectLst/>
                          <a:latin typeface="Cambria Math" panose="02040503050406030204" pitchFamily="18" charset="0"/>
                          <a:ea typeface="Times New Roman" panose="02020603050405020304" pitchFamily="18" charset="0"/>
                          <a:cs typeface="Cambria Math" panose="02040503050406030204" pitchFamily="18" charset="0"/>
                        </a:rPr>
                        <m:t>ₖ</m:t>
                      </m:r>
                      <m:r>
                        <a:rPr lang="en-US" sz="1100" i="1" kern="10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1100" i="1" kern="100">
                          <a:effectLst/>
                          <a:latin typeface="Cambria Math" panose="02040503050406030204" pitchFamily="18" charset="0"/>
                          <a:ea typeface="Times New Roman" panose="02020603050405020304" pitchFamily="18" charset="0"/>
                          <a:cs typeface="Aptos" panose="020B0004020202020204" pitchFamily="34" charset="0"/>
                        </a:rPr>
                        <m:t>≤</m:t>
                      </m:r>
                      <m:r>
                        <a:rPr lang="en-US" sz="1100" i="1" kern="100">
                          <a:effectLst/>
                          <a:latin typeface="Cambria Math" panose="02040503050406030204" pitchFamily="18" charset="0"/>
                          <a:ea typeface="Times New Roman" panose="02020603050405020304" pitchFamily="18" charset="0"/>
                          <a:cs typeface="Times New Roman" panose="02020603050405020304" pitchFamily="18" charset="0"/>
                        </a:rPr>
                        <m:t> 1.</m:t>
                      </m:r>
                    </m:oMath>
                  </m:oMathPara>
                </a14:m>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897D06BF-AC29-50F8-4597-822D6F7AFA1A}"/>
                  </a:ext>
                </a:extLst>
              </p:cNvPr>
              <p:cNvSpPr txBox="1">
                <a:spLocks noRot="1" noChangeAspect="1" noMove="1" noResize="1" noEditPoints="1" noAdjustHandles="1" noChangeArrowheads="1" noChangeShapeType="1" noTextEdit="1"/>
              </p:cNvSpPr>
              <p:nvPr/>
            </p:nvSpPr>
            <p:spPr>
              <a:xfrm>
                <a:off x="4445000" y="703679"/>
                <a:ext cx="6096000" cy="1077218"/>
              </a:xfrm>
              <a:prstGeom prst="rect">
                <a:avLst/>
              </a:prstGeom>
              <a:blipFill>
                <a:blip r:embed="rId4"/>
                <a:stretch>
                  <a:fillRect t="-5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0BA85E4-B2F9-C75C-B600-7B01C6C2137F}"/>
                  </a:ext>
                </a:extLst>
              </p:cNvPr>
              <p:cNvSpPr txBox="1"/>
              <p:nvPr/>
            </p:nvSpPr>
            <p:spPr>
              <a:xfrm>
                <a:off x="5232400" y="2183222"/>
                <a:ext cx="5410200" cy="430887"/>
              </a:xfrm>
              <a:prstGeom prst="rect">
                <a:avLst/>
              </a:prstGeom>
              <a:noFill/>
            </p:spPr>
            <p:txBody>
              <a:bodyPr wrap="square" rtlCol="0">
                <a:spAutoFit/>
              </a:bodyPr>
              <a:lstStyle/>
              <a:p>
                <a:r>
                  <a:rPr lang="el-GR" sz="1100" dirty="0"/>
                  <a:t>Για </a:t>
                </a:r>
                <a14:m>
                  <m:oMath xmlns:m="http://schemas.openxmlformats.org/officeDocument/2006/math">
                    <m:r>
                      <a:rPr lang="en-US" sz="1100" b="0" i="1" smtClean="0">
                        <a:latin typeface="Cambria Math" panose="02040503050406030204" pitchFamily="18" charset="0"/>
                      </a:rPr>
                      <m:t>𝑄</m:t>
                    </m:r>
                    <m:r>
                      <a:rPr lang="en-US" sz="1100" b="0" i="1" smtClean="0">
                        <a:latin typeface="Cambria Math" panose="02040503050406030204" pitchFamily="18" charset="0"/>
                      </a:rPr>
                      <m:t>=11, </m:t>
                    </m:r>
                    <m:r>
                      <a:rPr lang="en-US" sz="1100" b="0" i="1" smtClean="0">
                        <a:latin typeface="Cambria Math" panose="02040503050406030204" pitchFamily="18" charset="0"/>
                      </a:rPr>
                      <m:t>𝑔𝑎𝑝</m:t>
                    </m:r>
                    <m:r>
                      <a:rPr lang="en-US" sz="1100" b="0" i="1" smtClean="0">
                        <a:latin typeface="Cambria Math" panose="02040503050406030204" pitchFamily="18" charset="0"/>
                      </a:rPr>
                      <m:t>=1.1% </m:t>
                    </m:r>
                    <m:r>
                      <m:rPr>
                        <m:sty m:val="p"/>
                      </m:rPr>
                      <a:rPr lang="el-GR" sz="1100" b="0" i="0" smtClean="0">
                        <a:latin typeface="Cambria Math" panose="02040503050406030204" pitchFamily="18" charset="0"/>
                      </a:rPr>
                      <m:t>άρα</m:t>
                    </m:r>
                    <m:r>
                      <a:rPr lang="el-GR" sz="1100" b="0" i="0" smtClean="0">
                        <a:latin typeface="Cambria Math" panose="02040503050406030204" pitchFamily="18" charset="0"/>
                      </a:rPr>
                      <m:t> </m:t>
                    </m:r>
                    <m:r>
                      <m:rPr>
                        <m:sty m:val="p"/>
                      </m:rPr>
                      <a:rPr lang="el-GR" sz="1100" b="0" i="0" smtClean="0">
                        <a:latin typeface="Cambria Math" panose="02040503050406030204" pitchFamily="18" charset="0"/>
                      </a:rPr>
                      <m:t>η</m:t>
                    </m:r>
                    <m:r>
                      <a:rPr lang="el-GR" sz="1100" b="0" i="0" smtClean="0">
                        <a:latin typeface="Cambria Math" panose="02040503050406030204" pitchFamily="18" charset="0"/>
                      </a:rPr>
                      <m:t> </m:t>
                    </m:r>
                    <m:r>
                      <m:rPr>
                        <m:sty m:val="p"/>
                      </m:rPr>
                      <a:rPr lang="el-GR" sz="1100" b="0" i="0" smtClean="0">
                        <a:latin typeface="Cambria Math" panose="02040503050406030204" pitchFamily="18" charset="0"/>
                      </a:rPr>
                      <m:t>λύση</m:t>
                    </m:r>
                    <m:r>
                      <a:rPr lang="el-GR" sz="1100" b="0" i="0" smtClean="0">
                        <a:latin typeface="Cambria Math" panose="02040503050406030204" pitchFamily="18" charset="0"/>
                      </a:rPr>
                      <m:t> </m:t>
                    </m:r>
                    <m:r>
                      <m:rPr>
                        <m:sty m:val="p"/>
                      </m:rPr>
                      <a:rPr lang="el-GR" sz="1100" b="0" i="0" smtClean="0">
                        <a:latin typeface="Cambria Math" panose="02040503050406030204" pitchFamily="18" charset="0"/>
                      </a:rPr>
                      <m:t>είναι</m:t>
                    </m:r>
                    <m:r>
                      <a:rPr lang="el-GR" sz="1100" b="0" i="0" smtClean="0">
                        <a:latin typeface="Cambria Math" panose="02040503050406030204" pitchFamily="18" charset="0"/>
                      </a:rPr>
                      <m:t> </m:t>
                    </m:r>
                    <m:r>
                      <m:rPr>
                        <m:sty m:val="p"/>
                      </m:rPr>
                      <a:rPr lang="el-GR" sz="1100" b="0" i="0" smtClean="0">
                        <a:latin typeface="Cambria Math" panose="02040503050406030204" pitchFamily="18" charset="0"/>
                      </a:rPr>
                      <m:t>κον</m:t>
                    </m:r>
                  </m:oMath>
                </a14:m>
                <a:r>
                  <a:rPr lang="el-GR" sz="1100" dirty="0"/>
                  <a:t>τά στην ακέραια</a:t>
                </a:r>
              </a:p>
              <a:p>
                <a:r>
                  <a:rPr lang="el-GR" sz="1100" dirty="0"/>
                  <a:t>Για </a:t>
                </a:r>
                <a14:m>
                  <m:oMath xmlns:m="http://schemas.openxmlformats.org/officeDocument/2006/math">
                    <m:r>
                      <a:rPr lang="en-US" sz="1100" b="0" i="1" smtClean="0">
                        <a:latin typeface="Cambria Math" panose="02040503050406030204" pitchFamily="18" charset="0"/>
                      </a:rPr>
                      <m:t>𝑄</m:t>
                    </m:r>
                    <m:r>
                      <a:rPr lang="en-US" sz="1100" b="0" i="1" smtClean="0">
                        <a:latin typeface="Cambria Math" panose="02040503050406030204" pitchFamily="18" charset="0"/>
                      </a:rPr>
                      <m:t>=12, </m:t>
                    </m:r>
                    <m:r>
                      <a:rPr lang="en-US" sz="1100" b="0" i="1" smtClean="0">
                        <a:latin typeface="Cambria Math" panose="02040503050406030204" pitchFamily="18" charset="0"/>
                      </a:rPr>
                      <m:t>𝑔𝑎𝑝</m:t>
                    </m:r>
                    <m:r>
                      <a:rPr lang="en-US" sz="1100" b="0" i="1" smtClean="0">
                        <a:latin typeface="Cambria Math" panose="02040503050406030204" pitchFamily="18" charset="0"/>
                      </a:rPr>
                      <m:t>=7.51% </m:t>
                    </m:r>
                  </m:oMath>
                </a14:m>
                <a:r>
                  <a:rPr lang="el-GR" sz="1100" dirty="0"/>
                  <a:t>και </a:t>
                </a:r>
                <a14:m>
                  <m:oMath xmlns:m="http://schemas.openxmlformats.org/officeDocument/2006/math">
                    <m:r>
                      <a:rPr lang="en-US" sz="1100" i="1" dirty="0" smtClean="0">
                        <a:latin typeface="Cambria Math" panose="02040503050406030204" pitchFamily="18" charset="0"/>
                      </a:rPr>
                      <m:t>𝑠𝑢𝑚</m:t>
                    </m:r>
                    <m:r>
                      <a:rPr lang="en-US" sz="1100" i="1" dirty="0" smtClean="0">
                        <a:latin typeface="Cambria Math" panose="02040503050406030204" pitchFamily="18" charset="0"/>
                      </a:rPr>
                      <m:t> </m:t>
                    </m:r>
                    <m:r>
                      <a:rPr lang="en-US" sz="1100" i="1" dirty="0" smtClean="0">
                        <a:latin typeface="Cambria Math" panose="02040503050406030204" pitchFamily="18" charset="0"/>
                      </a:rPr>
                      <m:t>𝑧</m:t>
                    </m:r>
                    <m:r>
                      <a:rPr lang="en-US" sz="1100" i="1" dirty="0" smtClean="0">
                        <a:latin typeface="Cambria Math" panose="02040503050406030204" pitchFamily="18" charset="0"/>
                      </a:rPr>
                      <m:t> = 1.833 </m:t>
                    </m:r>
                  </m:oMath>
                </a14:m>
                <a:r>
                  <a:rPr lang="en-US" sz="1100" dirty="0"/>
                  <a:t>(</a:t>
                </a:r>
                <a:r>
                  <a:rPr lang="el-GR" sz="1100" dirty="0"/>
                  <a:t>κλασματική ενεργοποίηση οχήματος)</a:t>
                </a:r>
                <a:endParaRPr lang="en-US" sz="1100" dirty="0"/>
              </a:p>
            </p:txBody>
          </p:sp>
        </mc:Choice>
        <mc:Fallback xmlns="">
          <p:sp>
            <p:nvSpPr>
              <p:cNvPr id="16" name="TextBox 15">
                <a:extLst>
                  <a:ext uri="{FF2B5EF4-FFF2-40B4-BE49-F238E27FC236}">
                    <a16:creationId xmlns:a16="http://schemas.microsoft.com/office/drawing/2014/main" id="{70BA85E4-B2F9-C75C-B600-7B01C6C2137F}"/>
                  </a:ext>
                </a:extLst>
              </p:cNvPr>
              <p:cNvSpPr txBox="1">
                <a:spLocks noRot="1" noChangeAspect="1" noMove="1" noResize="1" noEditPoints="1" noAdjustHandles="1" noChangeArrowheads="1" noChangeShapeType="1" noTextEdit="1"/>
              </p:cNvSpPr>
              <p:nvPr/>
            </p:nvSpPr>
            <p:spPr>
              <a:xfrm>
                <a:off x="5232400" y="2183222"/>
                <a:ext cx="5410200" cy="430887"/>
              </a:xfrm>
              <a:prstGeom prst="rect">
                <a:avLst/>
              </a:prstGeom>
              <a:blipFill>
                <a:blip r:embed="rId5"/>
                <a:stretch>
                  <a:fillRect t="-1408" b="-8451"/>
                </a:stretch>
              </a:blipFill>
            </p:spPr>
            <p:txBody>
              <a:bodyPr/>
              <a:lstStyle/>
              <a:p>
                <a:r>
                  <a:rPr lang="en-US">
                    <a:noFill/>
                  </a:rPr>
                  <a:t> </a:t>
                </a:r>
              </a:p>
            </p:txBody>
          </p:sp>
        </mc:Fallback>
      </mc:AlternateContent>
    </p:spTree>
    <p:extLst>
      <p:ext uri="{BB962C8B-B14F-4D97-AF65-F5344CB8AC3E}">
        <p14:creationId xmlns:p14="http://schemas.microsoft.com/office/powerpoint/2010/main" val="3446151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F0AB-25E7-48C6-CC14-D8EEB29E319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04FC21-FF60-C1B0-4867-84500A0B42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9D63725-2F06-5C82-9CD2-51136DDFB5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48491C5E-FD55-527C-71F5-9F92908E5E96}"/>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819FBFED-D834-835B-0721-5A0CC95C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4700B1E8-5B65-0354-CD6E-DC46CADDFE92}"/>
              </a:ext>
            </a:extLst>
          </p:cNvPr>
          <p:cNvSpPr txBox="1"/>
          <p:nvPr/>
        </p:nvSpPr>
        <p:spPr>
          <a:xfrm>
            <a:off x="108744" y="93277"/>
            <a:ext cx="4609306" cy="769441"/>
          </a:xfrm>
          <a:prstGeom prst="rect">
            <a:avLst/>
          </a:prstGeom>
          <a:noFill/>
        </p:spPr>
        <p:txBody>
          <a:bodyPr wrap="square">
            <a:spAutoFit/>
          </a:bodyPr>
          <a:lstStyle/>
          <a:p>
            <a:pPr>
              <a:lnSpc>
                <a:spcPct val="100000"/>
              </a:lnSpc>
              <a:spcBef>
                <a:spcPts val="800"/>
              </a:spcBef>
              <a:spcAft>
                <a:spcPts val="400"/>
              </a:spcAft>
              <a:buNone/>
            </a:pPr>
            <a:r>
              <a:rPr lang="el-GR" sz="1800" b="1" kern="100" dirty="0">
                <a:solidFill>
                  <a:srgbClr val="0070C0"/>
                </a:solidFill>
                <a:effectLst/>
                <a:latin typeface="+mn-lt"/>
                <a:ea typeface="Times New Roman" panose="02020603050405020304" pitchFamily="18" charset="0"/>
                <a:cs typeface="Times New Roman" panose="02020603050405020304" pitchFamily="18" charset="0"/>
              </a:rPr>
              <a:t>Σενάριο </a:t>
            </a:r>
            <a:r>
              <a:rPr lang="en-US" sz="1800" b="1" kern="100" dirty="0">
                <a:solidFill>
                  <a:srgbClr val="0070C0"/>
                </a:solidFill>
                <a:effectLst/>
                <a:latin typeface="+mn-lt"/>
                <a:ea typeface="Times New Roman" panose="02020603050405020304" pitchFamily="18" charset="0"/>
                <a:cs typeface="Times New Roman" panose="02020603050405020304" pitchFamily="18" charset="0"/>
              </a:rPr>
              <a:t>2</a:t>
            </a:r>
          </a:p>
          <a:p>
            <a:pPr>
              <a:lnSpc>
                <a:spcPct val="100000"/>
              </a:lnSpc>
              <a:spcBef>
                <a:spcPts val="800"/>
              </a:spcBef>
              <a:spcAft>
                <a:spcPts val="400"/>
              </a:spcAft>
              <a:buNone/>
            </a:pPr>
            <a:r>
              <a:rPr lang="el-GR" sz="1600" kern="100" dirty="0">
                <a:solidFill>
                  <a:srgbClr val="0070C0"/>
                </a:solidFill>
                <a:effectLst/>
                <a:latin typeface="Aptos Display" panose="020B0004020202020204" pitchFamily="34" charset="0"/>
                <a:ea typeface="Times New Roman" panose="02020603050405020304" pitchFamily="18" charset="0"/>
                <a:cs typeface="Times New Roman" panose="02020603050405020304" pitchFamily="18" charset="0"/>
              </a:rPr>
              <a:t>Επιλογή ετερογενούς στόλου </a:t>
            </a:r>
            <a:r>
              <a:rPr lang="el-GR" sz="1600" kern="100" dirty="0">
                <a:effectLst/>
                <a:latin typeface="Aptos Display" panose="020B0004020202020204" pitchFamily="34" charset="0"/>
                <a:ea typeface="Times New Roman" panose="02020603050405020304" pitchFamily="18" charset="0"/>
                <a:cs typeface="Times New Roman" panose="02020603050405020304" pitchFamily="18" charset="0"/>
              </a:rPr>
              <a:t>και ανάλυση κόστους</a:t>
            </a:r>
            <a:endParaRPr lang="en-US" sz="1600" kern="100" dirty="0">
              <a:effectLst/>
              <a:latin typeface="Aptos Display" panose="020B0004020202020204" pitchFamily="34" charset="0"/>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46E12E2-A2DE-D085-C466-5FF66E8FC2CC}"/>
              </a:ext>
            </a:extLst>
          </p:cNvPr>
          <p:cNvSpPr txBox="1"/>
          <p:nvPr/>
        </p:nvSpPr>
        <p:spPr>
          <a:xfrm>
            <a:off x="215900" y="1229023"/>
            <a:ext cx="4826000" cy="307777"/>
          </a:xfrm>
          <a:prstGeom prst="rect">
            <a:avLst/>
          </a:prstGeom>
          <a:noFill/>
        </p:spPr>
        <p:txBody>
          <a:bodyPr wrap="square">
            <a:spAutoFit/>
          </a:bodyPr>
          <a:lstStyle/>
          <a:p>
            <a:r>
              <a:rPr lang="el-GR" sz="1400" dirty="0">
                <a:effectLst/>
                <a:latin typeface="+mn-lt"/>
                <a:ea typeface="Aptos" panose="020B0004020202020204" pitchFamily="34" charset="0"/>
                <a:cs typeface="Times New Roman" panose="02020603050405020304" pitchFamily="18" charset="0"/>
              </a:rPr>
              <a:t>τύποι οχημάτων: </a:t>
            </a:r>
            <a:r>
              <a:rPr lang="en-US" sz="1400" dirty="0">
                <a:effectLst/>
                <a:latin typeface="+mn-lt"/>
                <a:ea typeface="Aptos" panose="020B0004020202020204" pitchFamily="34" charset="0"/>
                <a:cs typeface="Times New Roman" panose="02020603050405020304" pitchFamily="18" charset="0"/>
              </a:rPr>
              <a:t>motorcycles</a:t>
            </a:r>
            <a:r>
              <a:rPr lang="el-GR" sz="1400" dirty="0">
                <a:effectLst/>
                <a:latin typeface="+mn-lt"/>
                <a:ea typeface="Aptos" panose="020B0004020202020204" pitchFamily="34" charset="0"/>
                <a:cs typeface="Times New Roman" panose="02020603050405020304" pitchFamily="18" charset="0"/>
              </a:rPr>
              <a:t>, </a:t>
            </a:r>
            <a:r>
              <a:rPr lang="en-US" sz="1400" dirty="0">
                <a:effectLst/>
                <a:latin typeface="+mn-lt"/>
                <a:ea typeface="Aptos" panose="020B0004020202020204" pitchFamily="34" charset="0"/>
                <a:cs typeface="Times New Roman" panose="02020603050405020304" pitchFamily="18" charset="0"/>
              </a:rPr>
              <a:t>vans</a:t>
            </a:r>
            <a:r>
              <a:rPr lang="el-GR" sz="1400" dirty="0">
                <a:effectLst/>
                <a:latin typeface="+mn-lt"/>
                <a:ea typeface="Aptos" panose="020B0004020202020204" pitchFamily="34" charset="0"/>
                <a:cs typeface="Times New Roman" panose="02020603050405020304" pitchFamily="18" charset="0"/>
              </a:rPr>
              <a:t> και </a:t>
            </a:r>
            <a:r>
              <a:rPr lang="en-US" sz="1400" dirty="0">
                <a:effectLst/>
                <a:latin typeface="+mn-lt"/>
                <a:ea typeface="Aptos" panose="020B0004020202020204" pitchFamily="34" charset="0"/>
                <a:cs typeface="Times New Roman" panose="02020603050405020304" pitchFamily="18" charset="0"/>
              </a:rPr>
              <a:t>trucks</a:t>
            </a:r>
            <a:endParaRPr lang="en-US" sz="1400" dirty="0"/>
          </a:p>
        </p:txBody>
      </p:sp>
      <p:pic>
        <p:nvPicPr>
          <p:cNvPr id="8" name="Picture 7">
            <a:extLst>
              <a:ext uri="{FF2B5EF4-FFF2-40B4-BE49-F238E27FC236}">
                <a16:creationId xmlns:a16="http://schemas.microsoft.com/office/drawing/2014/main" id="{8FA9219D-8BFC-8F83-EE06-37A375D38E34}"/>
              </a:ext>
            </a:extLst>
          </p:cNvPr>
          <p:cNvPicPr>
            <a:picLocks noChangeAspect="1"/>
          </p:cNvPicPr>
          <p:nvPr/>
        </p:nvPicPr>
        <p:blipFill>
          <a:blip r:embed="rId2"/>
          <a:stretch>
            <a:fillRect/>
          </a:stretch>
        </p:blipFill>
        <p:spPr>
          <a:xfrm>
            <a:off x="215900" y="1690688"/>
            <a:ext cx="4502150" cy="1938091"/>
          </a:xfrm>
          <a:prstGeom prst="rect">
            <a:avLst/>
          </a:prstGeom>
        </p:spPr>
      </p:pic>
      <p:sp>
        <p:nvSpPr>
          <p:cNvPr id="13" name="TextBox 12">
            <a:extLst>
              <a:ext uri="{FF2B5EF4-FFF2-40B4-BE49-F238E27FC236}">
                <a16:creationId xmlns:a16="http://schemas.microsoft.com/office/drawing/2014/main" id="{4B1F33E9-524E-D904-FD53-08527CC00899}"/>
              </a:ext>
            </a:extLst>
          </p:cNvPr>
          <p:cNvSpPr txBox="1"/>
          <p:nvPr/>
        </p:nvSpPr>
        <p:spPr>
          <a:xfrm>
            <a:off x="5254752" y="132789"/>
            <a:ext cx="6447431" cy="1790234"/>
          </a:xfrm>
          <a:prstGeom prst="rect">
            <a:avLst/>
          </a:prstGeom>
          <a:noFill/>
        </p:spPr>
        <p:txBody>
          <a:bodyPr wrap="square">
            <a:spAutoFit/>
          </a:bodyPr>
          <a:lstStyle/>
          <a:p>
            <a:pPr>
              <a:lnSpc>
                <a:spcPct val="100000"/>
              </a:lnSpc>
              <a:spcAft>
                <a:spcPts val="800"/>
              </a:spcAft>
              <a:buNone/>
            </a:pPr>
            <a:r>
              <a:rPr lang="el-GR" sz="1100" b="1" kern="100" dirty="0">
                <a:effectLst/>
                <a:latin typeface="+mn-lt"/>
                <a:ea typeface="Aptos" panose="020B0004020202020204" pitchFamily="34" charset="0"/>
                <a:cs typeface="Times New Roman" panose="02020603050405020304" pitchFamily="18" charset="0"/>
              </a:rPr>
              <a:t>Εξεταζόμενες συνθέσεις στόλου</a:t>
            </a:r>
            <a:endParaRPr lang="en-US" sz="11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l-GR" sz="1100" kern="100" dirty="0">
                <a:effectLst/>
                <a:latin typeface="+mn-lt"/>
                <a:ea typeface="Aptos" panose="020B0004020202020204" pitchFamily="34" charset="0"/>
                <a:cs typeface="Times New Roman" panose="02020603050405020304" pitchFamily="18" charset="0"/>
              </a:rPr>
              <a:t>Εξετάστηκαν τέσσερις περιπτώσεις:</a:t>
            </a:r>
            <a:endParaRPr lang="en-US" sz="11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Font typeface="+mj-lt"/>
              <a:buAutoNum type="arabicPeriod"/>
              <a:tabLst>
                <a:tab pos="457200" algn="l"/>
              </a:tabLst>
            </a:pPr>
            <a:r>
              <a:rPr lang="en-US" sz="1100" b="1" kern="100" dirty="0">
                <a:effectLst/>
                <a:latin typeface="+mn-lt"/>
                <a:ea typeface="Aptos" panose="020B0004020202020204" pitchFamily="34" charset="0"/>
                <a:cs typeface="Times New Roman" panose="02020603050405020304" pitchFamily="18" charset="0"/>
              </a:rPr>
              <a:t>Two vans</a:t>
            </a:r>
            <a:r>
              <a:rPr lang="el-GR" sz="1100" b="1" kern="100" dirty="0">
                <a:effectLst/>
                <a:latin typeface="+mn-lt"/>
                <a:ea typeface="Aptos" panose="020B0004020202020204" pitchFamily="34" charset="0"/>
                <a:cs typeface="Times New Roman" panose="02020603050405020304" pitchFamily="18" charset="0"/>
              </a:rPr>
              <a:t>:</a:t>
            </a:r>
            <a:r>
              <a:rPr lang="el-GR" sz="1100" kern="100" dirty="0">
                <a:effectLst/>
                <a:latin typeface="+mn-lt"/>
                <a:ea typeface="Aptos" panose="020B0004020202020204" pitchFamily="34" charset="0"/>
                <a:cs typeface="Times New Roman" panose="02020603050405020304" pitchFamily="18" charset="0"/>
              </a:rPr>
              <a:t> διατίθενται αποκλειστικά δύο </a:t>
            </a:r>
            <a:r>
              <a:rPr lang="en-US" sz="1100" kern="100" dirty="0">
                <a:effectLst/>
                <a:latin typeface="+mn-lt"/>
                <a:ea typeface="Aptos" panose="020B0004020202020204" pitchFamily="34" charset="0"/>
                <a:cs typeface="Times New Roman" panose="02020603050405020304" pitchFamily="18" charset="0"/>
              </a:rPr>
              <a:t>vans</a:t>
            </a:r>
            <a:r>
              <a:rPr lang="el-GR" sz="1100" kern="100" dirty="0">
                <a:effectLst/>
                <a:latin typeface="+mn-lt"/>
                <a:ea typeface="Aptos" panose="020B0004020202020204" pitchFamily="34" charset="0"/>
                <a:cs typeface="Times New Roman" panose="02020603050405020304" pitchFamily="18" charset="0"/>
              </a:rPr>
              <a:t>.</a:t>
            </a:r>
            <a:endParaRPr lang="en-US" sz="11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Font typeface="+mj-lt"/>
              <a:buAutoNum type="arabicPeriod"/>
              <a:tabLst>
                <a:tab pos="457200" algn="l"/>
              </a:tabLst>
            </a:pPr>
            <a:r>
              <a:rPr lang="en-US" sz="1100" b="1" kern="100" dirty="0">
                <a:effectLst/>
                <a:latin typeface="+mn-lt"/>
                <a:ea typeface="Aptos" panose="020B0004020202020204" pitchFamily="34" charset="0"/>
                <a:cs typeface="Times New Roman" panose="02020603050405020304" pitchFamily="18" charset="0"/>
              </a:rPr>
              <a:t>One truck</a:t>
            </a:r>
            <a:r>
              <a:rPr lang="el-GR" sz="1100" b="1" kern="100" dirty="0">
                <a:effectLst/>
                <a:latin typeface="+mn-lt"/>
                <a:ea typeface="Aptos" panose="020B0004020202020204" pitchFamily="34" charset="0"/>
                <a:cs typeface="Times New Roman" panose="02020603050405020304" pitchFamily="18" charset="0"/>
              </a:rPr>
              <a:t>:</a:t>
            </a:r>
            <a:r>
              <a:rPr lang="el-GR" sz="1100" kern="100" dirty="0">
                <a:effectLst/>
                <a:latin typeface="+mn-lt"/>
                <a:ea typeface="Aptos" panose="020B0004020202020204" pitchFamily="34" charset="0"/>
                <a:cs typeface="Times New Roman" panose="02020603050405020304" pitchFamily="18" charset="0"/>
              </a:rPr>
              <a:t> διατίθεται αποκλειστικά ένα </a:t>
            </a:r>
            <a:r>
              <a:rPr lang="en-US" sz="1100" kern="100" dirty="0">
                <a:effectLst/>
                <a:latin typeface="+mn-lt"/>
                <a:ea typeface="Aptos" panose="020B0004020202020204" pitchFamily="34" charset="0"/>
                <a:cs typeface="Times New Roman" panose="02020603050405020304" pitchFamily="18" charset="0"/>
              </a:rPr>
              <a:t>truck</a:t>
            </a:r>
            <a:r>
              <a:rPr lang="el-GR" sz="1100" kern="100" dirty="0">
                <a:effectLst/>
                <a:latin typeface="+mn-lt"/>
                <a:ea typeface="Aptos" panose="020B0004020202020204" pitchFamily="34" charset="0"/>
                <a:cs typeface="Times New Roman" panose="02020603050405020304" pitchFamily="18" charset="0"/>
              </a:rPr>
              <a:t>.</a:t>
            </a:r>
            <a:endParaRPr lang="en-US" sz="11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Font typeface="+mj-lt"/>
              <a:buAutoNum type="arabicPeriod"/>
              <a:tabLst>
                <a:tab pos="457200" algn="l"/>
              </a:tabLst>
            </a:pPr>
            <a:r>
              <a:rPr lang="en-US" sz="1100" b="1" kern="100" dirty="0">
                <a:effectLst/>
                <a:latin typeface="+mn-lt"/>
                <a:ea typeface="Aptos" panose="020B0004020202020204" pitchFamily="34" charset="0"/>
                <a:cs typeface="Times New Roman" panose="02020603050405020304" pitchFamily="18" charset="0"/>
              </a:rPr>
              <a:t>Mixed fleet</a:t>
            </a:r>
            <a:r>
              <a:rPr lang="el-GR" sz="1100" b="1" kern="100" dirty="0">
                <a:effectLst/>
                <a:latin typeface="+mn-lt"/>
                <a:ea typeface="Aptos" panose="020B0004020202020204" pitchFamily="34" charset="0"/>
                <a:cs typeface="Times New Roman" panose="02020603050405020304" pitchFamily="18" charset="0"/>
              </a:rPr>
              <a:t>:</a:t>
            </a:r>
            <a:r>
              <a:rPr lang="el-GR" sz="1100" kern="100" dirty="0">
                <a:effectLst/>
                <a:latin typeface="+mn-lt"/>
                <a:ea typeface="Aptos" panose="020B0004020202020204" pitchFamily="34" charset="0"/>
                <a:cs typeface="Times New Roman" panose="02020603050405020304" pitchFamily="18" charset="0"/>
              </a:rPr>
              <a:t> διατίθενται ένα </a:t>
            </a:r>
            <a:r>
              <a:rPr lang="en-US" sz="1100" kern="100" dirty="0">
                <a:effectLst/>
                <a:latin typeface="+mn-lt"/>
                <a:ea typeface="Aptos" panose="020B0004020202020204" pitchFamily="34" charset="0"/>
                <a:cs typeface="Times New Roman" panose="02020603050405020304" pitchFamily="18" charset="0"/>
              </a:rPr>
              <a:t>van</a:t>
            </a:r>
            <a:r>
              <a:rPr lang="el-GR" sz="1100" kern="100" dirty="0">
                <a:effectLst/>
                <a:latin typeface="+mn-lt"/>
                <a:ea typeface="Aptos" panose="020B0004020202020204" pitchFamily="34" charset="0"/>
                <a:cs typeface="Times New Roman" panose="02020603050405020304" pitchFamily="18" charset="0"/>
              </a:rPr>
              <a:t> και τρία </a:t>
            </a:r>
            <a:r>
              <a:rPr lang="en-US" sz="1100" kern="100" dirty="0">
                <a:effectLst/>
                <a:latin typeface="+mn-lt"/>
                <a:ea typeface="Aptos" panose="020B0004020202020204" pitchFamily="34" charset="0"/>
                <a:cs typeface="Times New Roman" panose="02020603050405020304" pitchFamily="18" charset="0"/>
              </a:rPr>
              <a:t>motorcycles</a:t>
            </a:r>
            <a:r>
              <a:rPr lang="el-GR" sz="1100" kern="100" dirty="0">
                <a:effectLst/>
                <a:latin typeface="+mn-lt"/>
                <a:ea typeface="Aptos" panose="020B0004020202020204" pitchFamily="34" charset="0"/>
                <a:cs typeface="Times New Roman" panose="02020603050405020304" pitchFamily="18" charset="0"/>
              </a:rPr>
              <a:t>.</a:t>
            </a:r>
            <a:endParaRPr lang="en-US" sz="11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Font typeface="+mj-lt"/>
              <a:buAutoNum type="arabicPeriod"/>
              <a:tabLst>
                <a:tab pos="457200" algn="l"/>
              </a:tabLst>
            </a:pPr>
            <a:r>
              <a:rPr lang="en-US" sz="1100" b="1" kern="100" dirty="0">
                <a:effectLst/>
                <a:latin typeface="+mn-lt"/>
                <a:ea typeface="Aptos" panose="020B0004020202020204" pitchFamily="34" charset="0"/>
                <a:cs typeface="Times New Roman" panose="02020603050405020304" pitchFamily="18" charset="0"/>
              </a:rPr>
              <a:t>Free choice</a:t>
            </a:r>
            <a:r>
              <a:rPr lang="el-GR" sz="1100" b="1" kern="100" dirty="0">
                <a:effectLst/>
                <a:latin typeface="+mn-lt"/>
                <a:ea typeface="Aptos" panose="020B0004020202020204" pitchFamily="34" charset="0"/>
                <a:cs typeface="Times New Roman" panose="02020603050405020304" pitchFamily="18" charset="0"/>
              </a:rPr>
              <a:t>:</a:t>
            </a:r>
            <a:r>
              <a:rPr lang="el-GR" sz="1100" kern="100" dirty="0">
                <a:effectLst/>
                <a:latin typeface="+mn-lt"/>
                <a:ea typeface="Aptos" panose="020B0004020202020204" pitchFamily="34" charset="0"/>
                <a:cs typeface="Times New Roman" panose="02020603050405020304" pitchFamily="18" charset="0"/>
              </a:rPr>
              <a:t> διατίθενται όλοι οι τύποι οχημάτων, δηλαδή τρία </a:t>
            </a:r>
            <a:r>
              <a:rPr lang="en-US" sz="1100" kern="100" dirty="0">
                <a:effectLst/>
                <a:latin typeface="+mn-lt"/>
                <a:ea typeface="Aptos" panose="020B0004020202020204" pitchFamily="34" charset="0"/>
                <a:cs typeface="Times New Roman" panose="02020603050405020304" pitchFamily="18" charset="0"/>
              </a:rPr>
              <a:t>motorcycles</a:t>
            </a:r>
            <a:r>
              <a:rPr lang="el-GR" sz="1100" kern="100" dirty="0">
                <a:effectLst/>
                <a:latin typeface="+mn-lt"/>
                <a:ea typeface="Aptos" panose="020B0004020202020204" pitchFamily="34" charset="0"/>
                <a:cs typeface="Times New Roman" panose="02020603050405020304" pitchFamily="18" charset="0"/>
              </a:rPr>
              <a:t>, δύο </a:t>
            </a:r>
            <a:r>
              <a:rPr lang="en-US" sz="1100" kern="100" dirty="0">
                <a:effectLst/>
                <a:latin typeface="+mn-lt"/>
                <a:ea typeface="Aptos" panose="020B0004020202020204" pitchFamily="34" charset="0"/>
                <a:cs typeface="Times New Roman" panose="02020603050405020304" pitchFamily="18" charset="0"/>
              </a:rPr>
              <a:t>vans </a:t>
            </a:r>
            <a:r>
              <a:rPr lang="el-GR" sz="1100" kern="100" dirty="0">
                <a:effectLst/>
                <a:latin typeface="+mn-lt"/>
                <a:ea typeface="Aptos" panose="020B0004020202020204" pitchFamily="34" charset="0"/>
                <a:cs typeface="Times New Roman" panose="02020603050405020304" pitchFamily="18" charset="0"/>
              </a:rPr>
              <a:t>κι ένα </a:t>
            </a:r>
            <a:r>
              <a:rPr lang="en-US" sz="1100" kern="100" dirty="0">
                <a:effectLst/>
                <a:latin typeface="+mn-lt"/>
                <a:ea typeface="Aptos" panose="020B0004020202020204" pitchFamily="34" charset="0"/>
                <a:cs typeface="Times New Roman" panose="02020603050405020304" pitchFamily="18" charset="0"/>
              </a:rPr>
              <a:t>truck</a:t>
            </a:r>
            <a:r>
              <a:rPr lang="el-GR" sz="1100" kern="100" dirty="0">
                <a:effectLst/>
                <a:latin typeface="+mn-lt"/>
                <a:ea typeface="Aptos" panose="020B0004020202020204" pitchFamily="34" charset="0"/>
                <a:cs typeface="Times New Roman" panose="02020603050405020304" pitchFamily="18" charset="0"/>
              </a:rPr>
              <a:t> και το </a:t>
            </a:r>
            <a:r>
              <a:rPr lang="en-US" sz="1100" kern="100" dirty="0">
                <a:effectLst/>
                <a:latin typeface="+mn-lt"/>
                <a:ea typeface="Aptos" panose="020B0004020202020204" pitchFamily="34" charset="0"/>
                <a:cs typeface="Times New Roman" panose="02020603050405020304" pitchFamily="18" charset="0"/>
              </a:rPr>
              <a:t>MILP</a:t>
            </a:r>
            <a:r>
              <a:rPr lang="el-GR" sz="1100" kern="100" dirty="0">
                <a:effectLst/>
                <a:latin typeface="+mn-lt"/>
                <a:ea typeface="Aptos" panose="020B0004020202020204" pitchFamily="34" charset="0"/>
                <a:cs typeface="Times New Roman" panose="02020603050405020304" pitchFamily="18" charset="0"/>
              </a:rPr>
              <a:t> επιλέγει τη βέλτιστη σύνθεση.</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5" name="Picture 14">
            <a:extLst>
              <a:ext uri="{FF2B5EF4-FFF2-40B4-BE49-F238E27FC236}">
                <a16:creationId xmlns:a16="http://schemas.microsoft.com/office/drawing/2014/main" id="{860E2E88-9EE9-143B-BD1A-85F2FE82DCCB}"/>
              </a:ext>
            </a:extLst>
          </p:cNvPr>
          <p:cNvPicPr>
            <a:picLocks noChangeAspect="1"/>
          </p:cNvPicPr>
          <p:nvPr/>
        </p:nvPicPr>
        <p:blipFill>
          <a:blip r:embed="rId3"/>
          <a:stretch>
            <a:fillRect/>
          </a:stretch>
        </p:blipFill>
        <p:spPr>
          <a:xfrm>
            <a:off x="4787863" y="1923023"/>
            <a:ext cx="7381208" cy="3289150"/>
          </a:xfrm>
          <a:prstGeom prst="rect">
            <a:avLst/>
          </a:prstGeom>
        </p:spPr>
      </p:pic>
      <p:pic>
        <p:nvPicPr>
          <p:cNvPr id="19" name="Picture 18">
            <a:extLst>
              <a:ext uri="{FF2B5EF4-FFF2-40B4-BE49-F238E27FC236}">
                <a16:creationId xmlns:a16="http://schemas.microsoft.com/office/drawing/2014/main" id="{525CAD34-D834-23D7-8DFB-FD06999DE393}"/>
              </a:ext>
            </a:extLst>
          </p:cNvPr>
          <p:cNvPicPr>
            <a:picLocks noChangeAspect="1"/>
          </p:cNvPicPr>
          <p:nvPr/>
        </p:nvPicPr>
        <p:blipFill>
          <a:blip r:embed="rId4"/>
          <a:stretch>
            <a:fillRect/>
          </a:stretch>
        </p:blipFill>
        <p:spPr>
          <a:xfrm>
            <a:off x="5041899" y="5039757"/>
            <a:ext cx="6423819" cy="1540292"/>
          </a:xfrm>
          <a:prstGeom prst="rect">
            <a:avLst/>
          </a:prstGeom>
        </p:spPr>
      </p:pic>
      <p:pic>
        <p:nvPicPr>
          <p:cNvPr id="23" name="Picture 22">
            <a:extLst>
              <a:ext uri="{FF2B5EF4-FFF2-40B4-BE49-F238E27FC236}">
                <a16:creationId xmlns:a16="http://schemas.microsoft.com/office/drawing/2014/main" id="{0ED66987-4341-B4F0-3DD2-E167BA83DE83}"/>
              </a:ext>
            </a:extLst>
          </p:cNvPr>
          <p:cNvPicPr>
            <a:picLocks noChangeAspect="1"/>
          </p:cNvPicPr>
          <p:nvPr/>
        </p:nvPicPr>
        <p:blipFill>
          <a:blip r:embed="rId5"/>
          <a:stretch>
            <a:fillRect/>
          </a:stretch>
        </p:blipFill>
        <p:spPr>
          <a:xfrm>
            <a:off x="203047" y="4017903"/>
            <a:ext cx="4549909" cy="1149409"/>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C087909-EEA5-DC46-9031-C2591F3AB036}"/>
                  </a:ext>
                </a:extLst>
              </p:cNvPr>
              <p:cNvSpPr txBox="1"/>
              <p:nvPr/>
            </p:nvSpPr>
            <p:spPr>
              <a:xfrm>
                <a:off x="8253808" y="1728294"/>
                <a:ext cx="3915263" cy="646331"/>
              </a:xfrm>
              <a:prstGeom prst="rect">
                <a:avLst/>
              </a:prstGeom>
              <a:noFill/>
            </p:spPr>
            <p:txBody>
              <a:bodyPr wrap="square">
                <a:spAutoFit/>
              </a:bodyPr>
              <a:lstStyle/>
              <a:p>
                <a14:m>
                  <m:oMath xmlns:m="http://schemas.openxmlformats.org/officeDocument/2006/math">
                    <m:r>
                      <a:rPr lang="el-GR" sz="1800" i="1" dirty="0" smtClean="0">
                        <a:latin typeface="Cambria Math" panose="02040503050406030204" pitchFamily="18" charset="0"/>
                      </a:rPr>
                      <m:t>0.96%</m:t>
                    </m:r>
                  </m:oMath>
                </a14:m>
                <a:r>
                  <a:rPr lang="el-GR" sz="1800" dirty="0"/>
                  <a:t>         της συνολικής απόστασης</a:t>
                </a:r>
              </a:p>
              <a:p>
                <a:pPr/>
                <a14:m>
                  <m:oMathPara xmlns:m="http://schemas.openxmlformats.org/officeDocument/2006/math">
                    <m:oMath>
                      <m:r>
                        <a:rPr lang="el-GR" sz="1800" b="0" i="1" dirty="0" smtClean="0">
                          <a:latin typeface="Cambria Math" panose="02040503050406030204" pitchFamily="18" charset="0"/>
                        </a:rPr>
                        <m:t>𝜅</m:t>
                      </m:r>
                      <m:r>
                        <m:rPr>
                          <m:sty m:val="p"/>
                        </m:rPr>
                        <a:rPr lang="el-GR" sz="1800" b="0" i="1" dirty="0" smtClean="0">
                          <a:latin typeface="Cambria Math" panose="02040503050406030204" pitchFamily="18" charset="0"/>
                        </a:rPr>
                        <m:t>ό</m:t>
                      </m:r>
                      <m:r>
                        <a:rPr lang="el-GR" sz="1800" b="0" i="1" dirty="0" smtClean="0">
                          <a:latin typeface="Cambria Math" panose="02040503050406030204" pitchFamily="18" charset="0"/>
                        </a:rPr>
                        <m:t>𝜎𝜏𝜊𝜍</m:t>
                      </m:r>
                      <m:r>
                        <a:rPr lang="el-GR" sz="1800" b="0" i="1" dirty="0" smtClean="0">
                          <a:latin typeface="Cambria Math" panose="02040503050406030204" pitchFamily="18" charset="0"/>
                        </a:rPr>
                        <m:t> </m:t>
                      </m:r>
                      <m:r>
                        <a:rPr lang="en-US" sz="1800" b="0" i="1" dirty="0" smtClean="0">
                          <a:latin typeface="Cambria Math" panose="02040503050406030204" pitchFamily="18" charset="0"/>
                        </a:rPr>
                        <m:t>𝑡𝑟𝑢𝑐𝑘</m:t>
                      </m:r>
                      <m:r>
                        <a:rPr lang="en-US" sz="1800" b="0" i="1" dirty="0" smtClean="0">
                          <a:latin typeface="Cambria Math" panose="02040503050406030204" pitchFamily="18" charset="0"/>
                        </a:rPr>
                        <m:t>&gt;</m:t>
                      </m:r>
                      <m:r>
                        <a:rPr lang="el-GR" sz="1800" b="0" i="1" dirty="0" smtClean="0">
                          <a:latin typeface="Cambria Math" panose="02040503050406030204" pitchFamily="18" charset="0"/>
                        </a:rPr>
                        <m:t>𝜅</m:t>
                      </m:r>
                      <m:r>
                        <m:rPr>
                          <m:sty m:val="p"/>
                        </m:rPr>
                        <a:rPr lang="el-GR" sz="1800" b="0" i="1" dirty="0" smtClean="0">
                          <a:latin typeface="Cambria Math" panose="02040503050406030204" pitchFamily="18" charset="0"/>
                        </a:rPr>
                        <m:t>ό</m:t>
                      </m:r>
                      <m:r>
                        <a:rPr lang="el-GR" sz="1800" b="0" i="1" dirty="0" smtClean="0">
                          <a:latin typeface="Cambria Math" panose="02040503050406030204" pitchFamily="18" charset="0"/>
                        </a:rPr>
                        <m:t>𝜎𝜏𝜊𝜍</m:t>
                      </m:r>
                      <m:r>
                        <a:rPr lang="el-GR" sz="1800" b="0" i="1" dirty="0" smtClean="0">
                          <a:latin typeface="Cambria Math" panose="02040503050406030204" pitchFamily="18" charset="0"/>
                        </a:rPr>
                        <m:t> </m:t>
                      </m:r>
                      <m:r>
                        <a:rPr lang="en-US" sz="1800" b="0" i="1" dirty="0" smtClean="0">
                          <a:latin typeface="Cambria Math" panose="02040503050406030204" pitchFamily="18" charset="0"/>
                        </a:rPr>
                        <m:t>𝑣𝑎𝑛𝑠</m:t>
                      </m:r>
                    </m:oMath>
                  </m:oMathPara>
                </a14:m>
                <a:endParaRPr lang="el-GR" sz="1800" dirty="0"/>
              </a:p>
            </p:txBody>
          </p:sp>
        </mc:Choice>
        <mc:Fallback xmlns="">
          <p:sp>
            <p:nvSpPr>
              <p:cNvPr id="25" name="TextBox 24">
                <a:extLst>
                  <a:ext uri="{FF2B5EF4-FFF2-40B4-BE49-F238E27FC236}">
                    <a16:creationId xmlns:a16="http://schemas.microsoft.com/office/drawing/2014/main" id="{0C087909-EEA5-DC46-9031-C2591F3AB036}"/>
                  </a:ext>
                </a:extLst>
              </p:cNvPr>
              <p:cNvSpPr txBox="1">
                <a:spLocks noRot="1" noChangeAspect="1" noMove="1" noResize="1" noEditPoints="1" noAdjustHandles="1" noChangeArrowheads="1" noChangeShapeType="1" noTextEdit="1"/>
              </p:cNvSpPr>
              <p:nvPr/>
            </p:nvSpPr>
            <p:spPr>
              <a:xfrm>
                <a:off x="8253808" y="1728294"/>
                <a:ext cx="3915263" cy="646331"/>
              </a:xfrm>
              <a:prstGeom prst="rect">
                <a:avLst/>
              </a:prstGeom>
              <a:blipFill>
                <a:blip r:embed="rId6"/>
                <a:stretch>
                  <a:fillRect t="-4717" b="-7547"/>
                </a:stretch>
              </a:blipFill>
            </p:spPr>
            <p:txBody>
              <a:bodyPr/>
              <a:lstStyle/>
              <a:p>
                <a:r>
                  <a:rPr lang="en-US">
                    <a:noFill/>
                  </a:rPr>
                  <a:t> </a:t>
                </a:r>
              </a:p>
            </p:txBody>
          </p:sp>
        </mc:Fallback>
      </mc:AlternateContent>
      <p:sp>
        <p:nvSpPr>
          <p:cNvPr id="27" name="Arrow: Down 26">
            <a:extLst>
              <a:ext uri="{FF2B5EF4-FFF2-40B4-BE49-F238E27FC236}">
                <a16:creationId xmlns:a16="http://schemas.microsoft.com/office/drawing/2014/main" id="{E460399D-7CFB-399E-1DD2-47B193AEB81B}"/>
              </a:ext>
            </a:extLst>
          </p:cNvPr>
          <p:cNvSpPr/>
          <p:nvPr/>
        </p:nvSpPr>
        <p:spPr>
          <a:xfrm>
            <a:off x="9134602" y="1834552"/>
            <a:ext cx="96128" cy="176943"/>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1799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E350B-BACA-965B-DE60-BD9C70F43AE0}"/>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1AA1C6-5909-6DA7-743A-DE6D0905FA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4AE9449B-6A8E-BB76-8DD6-C73C51BCC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9695EA94-5BA2-B1F3-ADBB-4FB137C1C0B8}"/>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C4D7B0D9-F905-1B33-8B78-7F0562A5D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6" name="Picture 5">
            <a:extLst>
              <a:ext uri="{FF2B5EF4-FFF2-40B4-BE49-F238E27FC236}">
                <a16:creationId xmlns:a16="http://schemas.microsoft.com/office/drawing/2014/main" id="{57DEE269-C414-F299-447E-D7653232794D}"/>
              </a:ext>
            </a:extLst>
          </p:cNvPr>
          <p:cNvPicPr>
            <a:picLocks noChangeAspect="1"/>
          </p:cNvPicPr>
          <p:nvPr/>
        </p:nvPicPr>
        <p:blipFill>
          <a:blip r:embed="rId2"/>
          <a:stretch>
            <a:fillRect/>
          </a:stretch>
        </p:blipFill>
        <p:spPr>
          <a:xfrm>
            <a:off x="0" y="365124"/>
            <a:ext cx="4193023" cy="3223989"/>
          </a:xfrm>
          <a:prstGeom prst="rect">
            <a:avLst/>
          </a:prstGeom>
        </p:spPr>
      </p:pic>
      <p:sp>
        <p:nvSpPr>
          <p:cNvPr id="8" name="TextBox 7">
            <a:extLst>
              <a:ext uri="{FF2B5EF4-FFF2-40B4-BE49-F238E27FC236}">
                <a16:creationId xmlns:a16="http://schemas.microsoft.com/office/drawing/2014/main" id="{23DA5698-EF46-8DF7-6EBA-BF1366FF7970}"/>
              </a:ext>
            </a:extLst>
          </p:cNvPr>
          <p:cNvSpPr txBox="1"/>
          <p:nvPr/>
        </p:nvSpPr>
        <p:spPr>
          <a:xfrm>
            <a:off x="248529" y="95877"/>
            <a:ext cx="3159279" cy="307777"/>
          </a:xfrm>
          <a:prstGeom prst="rect">
            <a:avLst/>
          </a:prstGeom>
          <a:noFill/>
        </p:spPr>
        <p:txBody>
          <a:bodyPr wrap="square">
            <a:spAutoFit/>
          </a:bodyPr>
          <a:lstStyle/>
          <a:p>
            <a:pPr>
              <a:lnSpc>
                <a:spcPct val="100000"/>
              </a:lnSpc>
              <a:spcAft>
                <a:spcPts val="800"/>
              </a:spcAft>
              <a:buNone/>
            </a:pPr>
            <a:r>
              <a:rPr lang="el-GR" sz="1400" b="1" kern="100" dirty="0">
                <a:effectLst/>
                <a:latin typeface="+mn-lt"/>
                <a:ea typeface="Aptos" panose="020B0004020202020204" pitchFamily="34" charset="0"/>
                <a:cs typeface="Times New Roman" panose="02020603050405020304" pitchFamily="18" charset="0"/>
              </a:rPr>
              <a:t>Περίπτωση μικτού στόλου</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3" name="Picture 12">
            <a:extLst>
              <a:ext uri="{FF2B5EF4-FFF2-40B4-BE49-F238E27FC236}">
                <a16:creationId xmlns:a16="http://schemas.microsoft.com/office/drawing/2014/main" id="{FC7FE8BA-6D69-3106-A9A3-B816E207EEDA}"/>
              </a:ext>
            </a:extLst>
          </p:cNvPr>
          <p:cNvPicPr>
            <a:picLocks noChangeAspect="1"/>
          </p:cNvPicPr>
          <p:nvPr/>
        </p:nvPicPr>
        <p:blipFill>
          <a:blip r:embed="rId3"/>
          <a:stretch>
            <a:fillRect/>
          </a:stretch>
        </p:blipFill>
        <p:spPr>
          <a:xfrm>
            <a:off x="63217" y="3553983"/>
            <a:ext cx="6230178" cy="562795"/>
          </a:xfrm>
          <a:prstGeom prst="rect">
            <a:avLst/>
          </a:prstGeom>
        </p:spPr>
      </p:pic>
      <p:pic>
        <p:nvPicPr>
          <p:cNvPr id="15" name="Picture 14">
            <a:extLst>
              <a:ext uri="{FF2B5EF4-FFF2-40B4-BE49-F238E27FC236}">
                <a16:creationId xmlns:a16="http://schemas.microsoft.com/office/drawing/2014/main" id="{727ED431-B18C-A0DF-D7ED-A03AA1FE49A3}"/>
              </a:ext>
            </a:extLst>
          </p:cNvPr>
          <p:cNvPicPr>
            <a:picLocks noChangeAspect="1"/>
          </p:cNvPicPr>
          <p:nvPr/>
        </p:nvPicPr>
        <p:blipFill>
          <a:blip r:embed="rId4"/>
          <a:stretch>
            <a:fillRect/>
          </a:stretch>
        </p:blipFill>
        <p:spPr>
          <a:xfrm>
            <a:off x="6883066" y="1027105"/>
            <a:ext cx="4557873" cy="3472387"/>
          </a:xfrm>
          <a:prstGeom prst="rect">
            <a:avLst/>
          </a:prstGeom>
        </p:spPr>
      </p:pic>
      <p:pic>
        <p:nvPicPr>
          <p:cNvPr id="17" name="Picture 16">
            <a:extLst>
              <a:ext uri="{FF2B5EF4-FFF2-40B4-BE49-F238E27FC236}">
                <a16:creationId xmlns:a16="http://schemas.microsoft.com/office/drawing/2014/main" id="{0B5E4897-B830-293C-ED2D-45169FD867F7}"/>
              </a:ext>
            </a:extLst>
          </p:cNvPr>
          <p:cNvPicPr>
            <a:picLocks noChangeAspect="1"/>
          </p:cNvPicPr>
          <p:nvPr/>
        </p:nvPicPr>
        <p:blipFill>
          <a:blip r:embed="rId5"/>
          <a:stretch>
            <a:fillRect/>
          </a:stretch>
        </p:blipFill>
        <p:spPr>
          <a:xfrm>
            <a:off x="5694337" y="4499493"/>
            <a:ext cx="6494615" cy="477998"/>
          </a:xfrm>
          <a:prstGeom prst="rect">
            <a:avLst/>
          </a:prstGeom>
        </p:spPr>
      </p:pic>
      <p:pic>
        <p:nvPicPr>
          <p:cNvPr id="19" name="Picture 18">
            <a:extLst>
              <a:ext uri="{FF2B5EF4-FFF2-40B4-BE49-F238E27FC236}">
                <a16:creationId xmlns:a16="http://schemas.microsoft.com/office/drawing/2014/main" id="{5400038F-70A8-C0DF-425F-7474C3557449}"/>
              </a:ext>
            </a:extLst>
          </p:cNvPr>
          <p:cNvPicPr>
            <a:picLocks noChangeAspect="1"/>
          </p:cNvPicPr>
          <p:nvPr/>
        </p:nvPicPr>
        <p:blipFill>
          <a:blip r:embed="rId6"/>
          <a:stretch>
            <a:fillRect/>
          </a:stretch>
        </p:blipFill>
        <p:spPr>
          <a:xfrm>
            <a:off x="875258" y="5048599"/>
            <a:ext cx="10952416" cy="1547623"/>
          </a:xfrm>
          <a:prstGeom prst="rect">
            <a:avLst/>
          </a:prstGeom>
        </p:spPr>
      </p:pic>
    </p:spTree>
    <p:extLst>
      <p:ext uri="{BB962C8B-B14F-4D97-AF65-F5344CB8AC3E}">
        <p14:creationId xmlns:p14="http://schemas.microsoft.com/office/powerpoint/2010/main" val="1819578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17FC4-8310-FC87-F644-B9CECDC2691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EF059AD-4B29-0C41-8603-5AAF611C4F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251AD898-64DE-A6E6-BEEC-EF68FFA8C5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4DA307EB-2C5E-1D90-8F6A-3B30D3BF68D6}"/>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D607C91B-28B0-6634-6DAB-636B50737B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432B2D17-D3F9-9F39-862F-9CEF4556F785}"/>
              </a:ext>
            </a:extLst>
          </p:cNvPr>
          <p:cNvSpPr txBox="1"/>
          <p:nvPr/>
        </p:nvSpPr>
        <p:spPr>
          <a:xfrm>
            <a:off x="183951" y="195847"/>
            <a:ext cx="2866429" cy="338554"/>
          </a:xfrm>
          <a:prstGeom prst="rect">
            <a:avLst/>
          </a:prstGeom>
          <a:noFill/>
        </p:spPr>
        <p:txBody>
          <a:bodyPr wrap="square">
            <a:spAutoFit/>
          </a:bodyPr>
          <a:lstStyle/>
          <a:p>
            <a:r>
              <a:rPr lang="el-GR" sz="1600" kern="100" dirty="0">
                <a:solidFill>
                  <a:srgbClr val="0070C0"/>
                </a:solidFill>
                <a:latin typeface="Aptos Display" panose="020B0004020202020204" pitchFamily="34" charset="0"/>
                <a:ea typeface="Times New Roman" panose="02020603050405020304" pitchFamily="18" charset="0"/>
                <a:cs typeface="Times New Roman" panose="02020603050405020304" pitchFamily="18" charset="0"/>
              </a:rPr>
              <a:t>Α</a:t>
            </a:r>
            <a:r>
              <a:rPr lang="el-GR" sz="1600" kern="100" dirty="0">
                <a:solidFill>
                  <a:srgbClr val="0070C0"/>
                </a:solidFill>
                <a:effectLst/>
                <a:latin typeface="Aptos Display" panose="020B0004020202020204" pitchFamily="34" charset="0"/>
                <a:ea typeface="Times New Roman" panose="02020603050405020304" pitchFamily="18" charset="0"/>
                <a:cs typeface="Times New Roman" panose="02020603050405020304" pitchFamily="18" charset="0"/>
              </a:rPr>
              <a:t>νάλυση ευαισθησίας κόστους</a:t>
            </a:r>
            <a:endParaRPr lang="en-US" dirty="0">
              <a:solidFill>
                <a:srgbClr val="0070C0"/>
              </a:solidFill>
            </a:endParaRPr>
          </a:p>
        </p:txBody>
      </p:sp>
      <p:pic>
        <p:nvPicPr>
          <p:cNvPr id="5" name="Picture 4">
            <a:extLst>
              <a:ext uri="{FF2B5EF4-FFF2-40B4-BE49-F238E27FC236}">
                <a16:creationId xmlns:a16="http://schemas.microsoft.com/office/drawing/2014/main" id="{C291EF41-F01C-B66F-3547-709A4D263C92}"/>
              </a:ext>
            </a:extLst>
          </p:cNvPr>
          <p:cNvPicPr>
            <a:picLocks noChangeAspect="1"/>
          </p:cNvPicPr>
          <p:nvPr/>
        </p:nvPicPr>
        <p:blipFill>
          <a:blip r:embed="rId2"/>
          <a:stretch>
            <a:fillRect/>
          </a:stretch>
        </p:blipFill>
        <p:spPr>
          <a:xfrm>
            <a:off x="0" y="798714"/>
            <a:ext cx="6252454" cy="2567781"/>
          </a:xfrm>
          <a:prstGeom prst="rect">
            <a:avLst/>
          </a:prstGeom>
        </p:spPr>
      </p:pic>
      <p:pic>
        <p:nvPicPr>
          <p:cNvPr id="7" name="Picture 6">
            <a:extLst>
              <a:ext uri="{FF2B5EF4-FFF2-40B4-BE49-F238E27FC236}">
                <a16:creationId xmlns:a16="http://schemas.microsoft.com/office/drawing/2014/main" id="{AA089528-55C0-EA98-7775-229C2F1616DF}"/>
              </a:ext>
            </a:extLst>
          </p:cNvPr>
          <p:cNvPicPr>
            <a:picLocks noChangeAspect="1"/>
          </p:cNvPicPr>
          <p:nvPr/>
        </p:nvPicPr>
        <p:blipFill>
          <a:blip r:embed="rId3"/>
          <a:stretch>
            <a:fillRect/>
          </a:stretch>
        </p:blipFill>
        <p:spPr>
          <a:xfrm>
            <a:off x="6252454" y="611482"/>
            <a:ext cx="5809555" cy="4863513"/>
          </a:xfrm>
          <a:prstGeom prst="rect">
            <a:avLst/>
          </a:prstGeom>
        </p:spPr>
      </p:pic>
    </p:spTree>
    <p:extLst>
      <p:ext uri="{BB962C8B-B14F-4D97-AF65-F5344CB8AC3E}">
        <p14:creationId xmlns:p14="http://schemas.microsoft.com/office/powerpoint/2010/main" val="1139175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F859E-E426-282A-97D5-122CC9A4E8E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15718B2-3BEA-F5EE-1F8F-DA34BF56D5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B7B7272-49FC-B023-0F89-3DBDE27127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30C8325D-2445-6AE6-16E5-60BD6C1BB2E6}"/>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CFBE537C-AA11-A48B-D979-67963A4816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77AA5AD3-B369-E94C-4A97-803AF965043F}"/>
              </a:ext>
            </a:extLst>
          </p:cNvPr>
          <p:cNvSpPr txBox="1"/>
          <p:nvPr/>
        </p:nvSpPr>
        <p:spPr>
          <a:xfrm>
            <a:off x="108744" y="93277"/>
            <a:ext cx="4609306" cy="769441"/>
          </a:xfrm>
          <a:prstGeom prst="rect">
            <a:avLst/>
          </a:prstGeom>
          <a:noFill/>
        </p:spPr>
        <p:txBody>
          <a:bodyPr wrap="square">
            <a:spAutoFit/>
          </a:bodyPr>
          <a:lstStyle/>
          <a:p>
            <a:pPr>
              <a:lnSpc>
                <a:spcPct val="100000"/>
              </a:lnSpc>
              <a:spcBef>
                <a:spcPts val="800"/>
              </a:spcBef>
              <a:spcAft>
                <a:spcPts val="400"/>
              </a:spcAft>
              <a:buNone/>
            </a:pPr>
            <a:r>
              <a:rPr lang="el-GR" sz="1800" b="1" kern="100" dirty="0">
                <a:solidFill>
                  <a:srgbClr val="0070C0"/>
                </a:solidFill>
                <a:effectLst/>
                <a:latin typeface="+mn-lt"/>
                <a:ea typeface="Times New Roman" panose="02020603050405020304" pitchFamily="18" charset="0"/>
                <a:cs typeface="Times New Roman" panose="02020603050405020304" pitchFamily="18" charset="0"/>
              </a:rPr>
              <a:t>Σενάριο </a:t>
            </a:r>
            <a:r>
              <a:rPr lang="el-GR" b="1" kern="100" dirty="0">
                <a:solidFill>
                  <a:srgbClr val="0070C0"/>
                </a:solidFill>
                <a:ea typeface="Times New Roman" panose="02020603050405020304" pitchFamily="18" charset="0"/>
                <a:cs typeface="Times New Roman" panose="02020603050405020304" pitchFamily="18" charset="0"/>
              </a:rPr>
              <a:t>3</a:t>
            </a:r>
            <a:endParaRPr lang="en-US" sz="1800" b="1" kern="100" dirty="0">
              <a:solidFill>
                <a:srgbClr val="0070C0"/>
              </a:solidFill>
              <a:effectLst/>
              <a:latin typeface="+mn-lt"/>
              <a:ea typeface="Times New Roman" panose="02020603050405020304" pitchFamily="18" charset="0"/>
              <a:cs typeface="Times New Roman" panose="02020603050405020304" pitchFamily="18" charset="0"/>
            </a:endParaRPr>
          </a:p>
          <a:p>
            <a:pPr>
              <a:lnSpc>
                <a:spcPct val="100000"/>
              </a:lnSpc>
              <a:spcBef>
                <a:spcPts val="800"/>
              </a:spcBef>
              <a:spcAft>
                <a:spcPts val="400"/>
              </a:spcAft>
              <a:buNone/>
            </a:pPr>
            <a:r>
              <a:rPr lang="el-GR" sz="1600" kern="100" dirty="0">
                <a:solidFill>
                  <a:srgbClr val="0070C0"/>
                </a:solidFill>
                <a:effectLst/>
                <a:latin typeface="Aptos Display" panose="020B0004020202020204" pitchFamily="34" charset="0"/>
                <a:ea typeface="Times New Roman" panose="02020603050405020304" pitchFamily="18" charset="0"/>
                <a:cs typeface="Times New Roman" panose="02020603050405020304" pitchFamily="18" charset="0"/>
              </a:rPr>
              <a:t>Πρόβλημα δρομολόγησης με χρονικά παράθυρα</a:t>
            </a:r>
            <a:endParaRPr lang="en-US" sz="1600" kern="100" dirty="0">
              <a:effectLst/>
              <a:latin typeface="Aptos Display" panose="020B0004020202020204" pitchFamily="34" charset="0"/>
              <a:ea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02515FE-F566-6A4D-D3C8-95CF98A00DEB}"/>
              </a:ext>
            </a:extLst>
          </p:cNvPr>
          <p:cNvPicPr>
            <a:picLocks noChangeAspect="1"/>
          </p:cNvPicPr>
          <p:nvPr/>
        </p:nvPicPr>
        <p:blipFill>
          <a:blip r:embed="rId2"/>
          <a:stretch>
            <a:fillRect/>
          </a:stretch>
        </p:blipFill>
        <p:spPr>
          <a:xfrm>
            <a:off x="1916582" y="2506346"/>
            <a:ext cx="8770983" cy="3437185"/>
          </a:xfrm>
          <a:prstGeom prst="rect">
            <a:avLst/>
          </a:prstGeom>
        </p:spPr>
      </p:pic>
      <p:pic>
        <p:nvPicPr>
          <p:cNvPr id="13" name="Picture 12">
            <a:extLst>
              <a:ext uri="{FF2B5EF4-FFF2-40B4-BE49-F238E27FC236}">
                <a16:creationId xmlns:a16="http://schemas.microsoft.com/office/drawing/2014/main" id="{0B30E736-1583-35AD-7471-8D2BB5BB4D43}"/>
              </a:ext>
            </a:extLst>
          </p:cNvPr>
          <p:cNvPicPr>
            <a:picLocks noChangeAspect="1"/>
          </p:cNvPicPr>
          <p:nvPr/>
        </p:nvPicPr>
        <p:blipFill>
          <a:blip r:embed="rId3"/>
          <a:stretch>
            <a:fillRect/>
          </a:stretch>
        </p:blipFill>
        <p:spPr>
          <a:xfrm>
            <a:off x="364760" y="1078493"/>
            <a:ext cx="6300160" cy="1409874"/>
          </a:xfrm>
          <a:prstGeom prst="rect">
            <a:avLst/>
          </a:prstGeom>
        </p:spPr>
      </p:pic>
      <p:pic>
        <p:nvPicPr>
          <p:cNvPr id="15" name="Picture 14">
            <a:extLst>
              <a:ext uri="{FF2B5EF4-FFF2-40B4-BE49-F238E27FC236}">
                <a16:creationId xmlns:a16="http://schemas.microsoft.com/office/drawing/2014/main" id="{B805A742-454D-782A-D61B-025815B7449E}"/>
              </a:ext>
            </a:extLst>
          </p:cNvPr>
          <p:cNvPicPr>
            <a:picLocks noChangeAspect="1"/>
          </p:cNvPicPr>
          <p:nvPr/>
        </p:nvPicPr>
        <p:blipFill>
          <a:blip r:embed="rId4"/>
          <a:stretch>
            <a:fillRect/>
          </a:stretch>
        </p:blipFill>
        <p:spPr>
          <a:xfrm>
            <a:off x="5013682" y="950809"/>
            <a:ext cx="7175270" cy="1025039"/>
          </a:xfrm>
          <a:prstGeom prst="rect">
            <a:avLst/>
          </a:prstGeom>
        </p:spPr>
      </p:pic>
    </p:spTree>
    <p:extLst>
      <p:ext uri="{BB962C8B-B14F-4D97-AF65-F5344CB8AC3E}">
        <p14:creationId xmlns:p14="http://schemas.microsoft.com/office/powerpoint/2010/main" val="7275613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C927D-6FC2-9371-37E6-81544BBDAFD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FF25ED9-7563-9401-9AB6-D0E6AB208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75158AB-5582-B6CD-2404-380B788FB9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DEF07CC8-C899-C874-8175-4B0F4956EE63}"/>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A9CD6F50-F342-17AB-EBE5-E5B7CE269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2" name="Picture 1">
            <a:extLst>
              <a:ext uri="{FF2B5EF4-FFF2-40B4-BE49-F238E27FC236}">
                <a16:creationId xmlns:a16="http://schemas.microsoft.com/office/drawing/2014/main" id="{2E7A8B06-08F5-C30A-E7F1-DB1685752009}"/>
              </a:ext>
            </a:extLst>
          </p:cNvPr>
          <p:cNvPicPr>
            <a:picLocks noChangeAspect="1"/>
          </p:cNvPicPr>
          <p:nvPr/>
        </p:nvPicPr>
        <p:blipFill>
          <a:blip r:embed="rId2"/>
          <a:stretch>
            <a:fillRect/>
          </a:stretch>
        </p:blipFill>
        <p:spPr>
          <a:xfrm>
            <a:off x="196232" y="74035"/>
            <a:ext cx="4851884" cy="3755951"/>
          </a:xfrm>
          <a:prstGeom prst="rect">
            <a:avLst/>
          </a:prstGeom>
        </p:spPr>
      </p:pic>
      <p:sp>
        <p:nvSpPr>
          <p:cNvPr id="6" name="TextBox 5">
            <a:extLst>
              <a:ext uri="{FF2B5EF4-FFF2-40B4-BE49-F238E27FC236}">
                <a16:creationId xmlns:a16="http://schemas.microsoft.com/office/drawing/2014/main" id="{09480CCB-60D6-8A3D-1717-792F72260684}"/>
              </a:ext>
            </a:extLst>
          </p:cNvPr>
          <p:cNvSpPr txBox="1"/>
          <p:nvPr/>
        </p:nvSpPr>
        <p:spPr>
          <a:xfrm>
            <a:off x="672312" y="3691533"/>
            <a:ext cx="6097248" cy="769441"/>
          </a:xfrm>
          <a:prstGeom prst="rect">
            <a:avLst/>
          </a:prstGeom>
          <a:noFill/>
        </p:spPr>
        <p:txBody>
          <a:bodyPr wrap="square">
            <a:spAutoFit/>
          </a:bodyPr>
          <a:lstStyle/>
          <a:p>
            <a:pPr>
              <a:lnSpc>
                <a:spcPct val="100000"/>
              </a:lnSpc>
              <a:spcAft>
                <a:spcPts val="800"/>
              </a:spcAft>
              <a:buNone/>
            </a:pPr>
            <a:r>
              <a:rPr lang="el-GR" sz="1100" kern="100" dirty="0">
                <a:effectLst/>
                <a:latin typeface="+mn-lt"/>
                <a:ea typeface="Aptos" panose="020B0004020202020204" pitchFamily="34" charset="0"/>
                <a:cs typeface="Times New Roman" panose="02020603050405020304" pitchFamily="18" charset="0"/>
              </a:rPr>
              <a:t>Στη στενή αλλά εφικτή περίπτωση, οι πελάτες </a:t>
            </a:r>
            <a:r>
              <a:rPr lang="en-US" sz="1100" kern="100" dirty="0">
                <a:effectLst/>
                <a:latin typeface="+mn-lt"/>
                <a:ea typeface="Aptos" panose="020B0004020202020204" pitchFamily="34" charset="0"/>
                <a:cs typeface="Times New Roman" panose="02020603050405020304" pitchFamily="18" charset="0"/>
              </a:rPr>
              <a:t>C</a:t>
            </a:r>
            <a:r>
              <a:rPr lang="el-GR" sz="1100" kern="100" dirty="0">
                <a:effectLst/>
                <a:latin typeface="+mn-lt"/>
                <a:ea typeface="Aptos" panose="020B0004020202020204" pitchFamily="34" charset="0"/>
                <a:cs typeface="Times New Roman" panose="02020603050405020304" pitchFamily="18" charset="0"/>
              </a:rPr>
              <a:t>1, </a:t>
            </a:r>
            <a:r>
              <a:rPr lang="en-US" sz="1100" kern="100" dirty="0">
                <a:effectLst/>
                <a:latin typeface="+mn-lt"/>
                <a:ea typeface="Aptos" panose="020B0004020202020204" pitchFamily="34" charset="0"/>
                <a:cs typeface="Times New Roman" panose="02020603050405020304" pitchFamily="18" charset="0"/>
              </a:rPr>
              <a:t>C</a:t>
            </a:r>
            <a:r>
              <a:rPr lang="el-GR" sz="1100" kern="100" dirty="0">
                <a:effectLst/>
                <a:latin typeface="+mn-lt"/>
                <a:ea typeface="Aptos" panose="020B0004020202020204" pitchFamily="34" charset="0"/>
                <a:cs typeface="Times New Roman" panose="02020603050405020304" pitchFamily="18" charset="0"/>
              </a:rPr>
              <a:t>2 και </a:t>
            </a:r>
            <a:r>
              <a:rPr lang="en-US" sz="1100" kern="100" dirty="0">
                <a:effectLst/>
                <a:latin typeface="+mn-lt"/>
                <a:ea typeface="Aptos" panose="020B0004020202020204" pitchFamily="34" charset="0"/>
                <a:cs typeface="Times New Roman" panose="02020603050405020304" pitchFamily="18" charset="0"/>
              </a:rPr>
              <a:t>C</a:t>
            </a:r>
            <a:r>
              <a:rPr lang="el-GR" sz="1100" kern="100" dirty="0">
                <a:effectLst/>
                <a:latin typeface="+mn-lt"/>
                <a:ea typeface="Aptos" panose="020B0004020202020204" pitchFamily="34" charset="0"/>
                <a:cs typeface="Times New Roman" panose="02020603050405020304" pitchFamily="18" charset="0"/>
              </a:rPr>
              <a:t>3 πρέπει να εξυπηρετηθούν στο διάστημα [20,35]. Επειδή ο χρόνος εξυπηρέτησης είναι 10 μονάδες και απαιτείται επιπλέον χρόνος μετακίνησης μεταξύ δύο πελατών, κανένα όχημα δεν μπορεί να εξυπηρετήσει δύο από αυτούς μέσα στο ίδιο παράθυρο. Συνεπώς, απαιτούνται τουλάχιστον τρία διαφορετικά οχήματα.</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DDE333DB-6894-44DC-8648-F46772EFF2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3822" y="507228"/>
            <a:ext cx="5639599" cy="3351988"/>
          </a:xfrm>
          <a:prstGeom prst="rect">
            <a:avLst/>
          </a:prstGeom>
        </p:spPr>
      </p:pic>
      <p:pic>
        <p:nvPicPr>
          <p:cNvPr id="13" name="Picture 12">
            <a:extLst>
              <a:ext uri="{FF2B5EF4-FFF2-40B4-BE49-F238E27FC236}">
                <a16:creationId xmlns:a16="http://schemas.microsoft.com/office/drawing/2014/main" id="{72829E9D-4C79-0F72-E922-DE1697EF74C3}"/>
              </a:ext>
            </a:extLst>
          </p:cNvPr>
          <p:cNvPicPr>
            <a:picLocks noChangeAspect="1"/>
          </p:cNvPicPr>
          <p:nvPr/>
        </p:nvPicPr>
        <p:blipFill>
          <a:blip r:embed="rId4"/>
          <a:stretch>
            <a:fillRect/>
          </a:stretch>
        </p:blipFill>
        <p:spPr>
          <a:xfrm>
            <a:off x="3720936" y="4561975"/>
            <a:ext cx="5264421" cy="2000353"/>
          </a:xfrm>
          <a:prstGeom prst="rect">
            <a:avLst/>
          </a:prstGeom>
        </p:spPr>
      </p:pic>
    </p:spTree>
    <p:extLst>
      <p:ext uri="{BB962C8B-B14F-4D97-AF65-F5344CB8AC3E}">
        <p14:creationId xmlns:p14="http://schemas.microsoft.com/office/powerpoint/2010/main" val="510711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35B00-1BB5-7D5F-5C29-1D161D906EE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CE3714C-46F1-9C5C-3943-2FE1C302E0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2C5B751-DBDD-552F-33DB-7AD00E6324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94FFACC2-40BE-6ED4-EC55-13F1EB6732A4}"/>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E26B4A3F-324E-E19A-0188-C8FD352FF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C6FEFC40-C459-2C91-3251-843279566523}"/>
              </a:ext>
            </a:extLst>
          </p:cNvPr>
          <p:cNvSpPr txBox="1"/>
          <p:nvPr/>
        </p:nvSpPr>
        <p:spPr>
          <a:xfrm>
            <a:off x="53698" y="-1"/>
            <a:ext cx="6097022" cy="769441"/>
          </a:xfrm>
          <a:prstGeom prst="rect">
            <a:avLst/>
          </a:prstGeom>
          <a:noFill/>
        </p:spPr>
        <p:txBody>
          <a:bodyPr wrap="square">
            <a:spAutoFit/>
          </a:bodyPr>
          <a:lstStyle/>
          <a:p>
            <a:pPr>
              <a:lnSpc>
                <a:spcPct val="100000"/>
              </a:lnSpc>
              <a:spcBef>
                <a:spcPts val="800"/>
              </a:spcBef>
              <a:spcAft>
                <a:spcPts val="400"/>
              </a:spcAft>
              <a:buNone/>
            </a:pPr>
            <a:r>
              <a:rPr lang="el-GR" sz="1800" b="1" kern="100" dirty="0">
                <a:solidFill>
                  <a:srgbClr val="0070C0"/>
                </a:solidFill>
                <a:effectLst/>
                <a:latin typeface="+mn-lt"/>
                <a:ea typeface="Times New Roman" panose="02020603050405020304" pitchFamily="18" charset="0"/>
                <a:cs typeface="Times New Roman" panose="02020603050405020304" pitchFamily="18" charset="0"/>
              </a:rPr>
              <a:t>Σενάριο </a:t>
            </a:r>
            <a:r>
              <a:rPr lang="en-US" b="1" kern="100" dirty="0">
                <a:solidFill>
                  <a:srgbClr val="0070C0"/>
                </a:solidFill>
                <a:effectLst/>
                <a:latin typeface="+mn-lt"/>
                <a:ea typeface="Times New Roman" panose="02020603050405020304" pitchFamily="18" charset="0"/>
                <a:cs typeface="Times New Roman" panose="02020603050405020304" pitchFamily="18" charset="0"/>
              </a:rPr>
              <a:t>4</a:t>
            </a:r>
            <a:endParaRPr lang="en-US" sz="1800" b="1" kern="100" dirty="0">
              <a:solidFill>
                <a:srgbClr val="0070C0"/>
              </a:solidFill>
              <a:effectLst/>
              <a:latin typeface="+mn-lt"/>
              <a:ea typeface="Times New Roman" panose="02020603050405020304" pitchFamily="18" charset="0"/>
              <a:cs typeface="Times New Roman" panose="02020603050405020304" pitchFamily="18" charset="0"/>
            </a:endParaRPr>
          </a:p>
          <a:p>
            <a:pPr>
              <a:lnSpc>
                <a:spcPct val="100000"/>
              </a:lnSpc>
              <a:spcBef>
                <a:spcPts val="800"/>
              </a:spcBef>
              <a:spcAft>
                <a:spcPts val="400"/>
              </a:spcAft>
              <a:buNone/>
            </a:pPr>
            <a:r>
              <a:rPr lang="el-GR" sz="1600" kern="100" dirty="0">
                <a:solidFill>
                  <a:srgbClr val="0070C0"/>
                </a:solidFill>
                <a:effectLst/>
                <a:latin typeface="Aptos Display" panose="020B0004020202020204" pitchFamily="34" charset="0"/>
                <a:ea typeface="Times New Roman" panose="02020603050405020304" pitchFamily="18" charset="0"/>
                <a:cs typeface="Times New Roman" panose="02020603050405020304" pitchFamily="18" charset="0"/>
              </a:rPr>
              <a:t>Πρόβλημα δρομολόγησης με </a:t>
            </a:r>
            <a:r>
              <a:rPr lang="el-GR" sz="1600" kern="100" dirty="0">
                <a:solidFill>
                  <a:srgbClr val="0070C0"/>
                </a:solidFill>
                <a:latin typeface="Aptos Display" panose="020B0004020202020204" pitchFamily="34" charset="0"/>
                <a:ea typeface="Times New Roman" panose="02020603050405020304" pitchFamily="18" charset="0"/>
                <a:cs typeface="Times New Roman" panose="02020603050405020304" pitchFamily="18" charset="0"/>
              </a:rPr>
              <a:t>πολλαπλές αποθήκες</a:t>
            </a:r>
            <a:endParaRPr lang="en-US" sz="1600" kern="100" dirty="0">
              <a:effectLst/>
              <a:latin typeface="Aptos Display" panose="020B0004020202020204" pitchFamily="34" charset="0"/>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0E89942-10DA-944E-CFF4-84361808C02A}"/>
              </a:ext>
            </a:extLst>
          </p:cNvPr>
          <p:cNvSpPr txBox="1"/>
          <p:nvPr/>
        </p:nvSpPr>
        <p:spPr>
          <a:xfrm>
            <a:off x="53698" y="769440"/>
            <a:ext cx="6650559" cy="1959511"/>
          </a:xfrm>
          <a:prstGeom prst="rect">
            <a:avLst/>
          </a:prstGeom>
          <a:noFill/>
        </p:spPr>
        <p:txBody>
          <a:bodyPr wrap="square">
            <a:spAutoFit/>
          </a:bodyPr>
          <a:lstStyle/>
          <a:p>
            <a:pPr>
              <a:lnSpc>
                <a:spcPct val="100000"/>
              </a:lnSpc>
              <a:spcAft>
                <a:spcPts val="800"/>
              </a:spcAft>
              <a:buNone/>
            </a:pPr>
            <a:r>
              <a:rPr lang="el-GR" sz="1100" b="1" kern="100" dirty="0">
                <a:effectLst/>
                <a:latin typeface="+mn-lt"/>
                <a:ea typeface="Aptos" panose="020B0004020202020204" pitchFamily="34" charset="0"/>
                <a:cs typeface="Times New Roman" panose="02020603050405020304" pitchFamily="18" charset="0"/>
              </a:rPr>
              <a:t>Πειραματικές περιπτώσεις</a:t>
            </a:r>
            <a:endParaRPr lang="en-US" sz="1100" kern="100" dirty="0">
              <a:effectLst/>
              <a:latin typeface="+mn-lt"/>
              <a:ea typeface="Aptos" panose="020B0004020202020204" pitchFamily="34" charset="0"/>
              <a:cs typeface="Times New Roman" panose="02020603050405020304" pitchFamily="18" charset="0"/>
            </a:endParaRPr>
          </a:p>
          <a:p>
            <a:pPr>
              <a:lnSpc>
                <a:spcPct val="100000"/>
              </a:lnSpc>
              <a:spcAft>
                <a:spcPts val="800"/>
              </a:spcAft>
              <a:buNone/>
            </a:pPr>
            <a:r>
              <a:rPr lang="el-GR" sz="1100" kern="100" dirty="0">
                <a:effectLst/>
                <a:latin typeface="+mn-lt"/>
                <a:ea typeface="Aptos" panose="020B0004020202020204" pitchFamily="34" charset="0"/>
                <a:cs typeface="Times New Roman" panose="02020603050405020304" pitchFamily="18" charset="0"/>
              </a:rPr>
              <a:t>Εξετάστηκαν τέσσερις διαφορετικές διατάξεις:</a:t>
            </a:r>
            <a:endParaRPr lang="en-US" sz="11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Font typeface="+mj-lt"/>
              <a:buAutoNum type="arabicPeriod"/>
              <a:tabLst>
                <a:tab pos="457200" algn="l"/>
              </a:tabLst>
            </a:pPr>
            <a:r>
              <a:rPr lang="el-GR" sz="1100" b="1" kern="100" dirty="0">
                <a:effectLst/>
                <a:latin typeface="+mn-lt"/>
                <a:ea typeface="Aptos" panose="020B0004020202020204" pitchFamily="34" charset="0"/>
                <a:cs typeface="Times New Roman" panose="02020603050405020304" pitchFamily="18" charset="0"/>
              </a:rPr>
              <a:t>Κεντρική αποθήκη:</a:t>
            </a:r>
            <a:r>
              <a:rPr lang="el-GR" sz="1100" kern="100" dirty="0">
                <a:effectLst/>
                <a:latin typeface="+mn-lt"/>
                <a:ea typeface="Aptos" panose="020B0004020202020204" pitchFamily="34" charset="0"/>
                <a:cs typeface="Times New Roman" panose="02020603050405020304" pitchFamily="18" charset="0"/>
              </a:rPr>
              <a:t> δύο </a:t>
            </a:r>
            <a:r>
              <a:rPr lang="en-US" sz="1100" kern="100" dirty="0">
                <a:effectLst/>
                <a:latin typeface="+mn-lt"/>
                <a:ea typeface="Aptos" panose="020B0004020202020204" pitchFamily="34" charset="0"/>
                <a:cs typeface="Times New Roman" panose="02020603050405020304" pitchFamily="18" charset="0"/>
              </a:rPr>
              <a:t>vans</a:t>
            </a:r>
            <a:r>
              <a:rPr lang="el-GR" sz="1100" kern="100" dirty="0">
                <a:effectLst/>
                <a:latin typeface="+mn-lt"/>
                <a:ea typeface="Aptos" panose="020B0004020202020204" pitchFamily="34" charset="0"/>
                <a:cs typeface="Times New Roman" panose="02020603050405020304" pitchFamily="18" charset="0"/>
              </a:rPr>
              <a:t> τοποθετούνται στην </a:t>
            </a:r>
            <a:r>
              <a:rPr lang="en-US" sz="1100" kern="100" dirty="0">
                <a:effectLst/>
                <a:latin typeface="+mn-lt"/>
                <a:ea typeface="Aptos" panose="020B0004020202020204" pitchFamily="34" charset="0"/>
                <a:cs typeface="Times New Roman" panose="02020603050405020304" pitchFamily="18" charset="0"/>
              </a:rPr>
              <a:t>D</a:t>
            </a:r>
            <a:r>
              <a:rPr lang="el-GR" sz="1100" kern="100" dirty="0">
                <a:effectLst/>
                <a:latin typeface="+mn-lt"/>
                <a:ea typeface="Aptos" panose="020B0004020202020204" pitchFamily="34" charset="0"/>
                <a:cs typeface="Times New Roman" panose="02020603050405020304" pitchFamily="18" charset="0"/>
              </a:rPr>
              <a:t>0=(0,0).</a:t>
            </a:r>
            <a:endParaRPr lang="en-US" sz="11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Font typeface="+mj-lt"/>
              <a:buAutoNum type="arabicPeriod"/>
              <a:tabLst>
                <a:tab pos="457200" algn="l"/>
              </a:tabLst>
            </a:pPr>
            <a:r>
              <a:rPr lang="el-GR" sz="1100" b="1" kern="100" dirty="0">
                <a:effectLst/>
                <a:latin typeface="+mn-lt"/>
                <a:ea typeface="Aptos" panose="020B0004020202020204" pitchFamily="34" charset="0"/>
                <a:cs typeface="Times New Roman" panose="02020603050405020304" pitchFamily="18" charset="0"/>
              </a:rPr>
              <a:t>Δύο τοπικές αποθήκες:</a:t>
            </a:r>
            <a:r>
              <a:rPr lang="el-GR" sz="1100" kern="100" dirty="0">
                <a:effectLst/>
                <a:latin typeface="+mn-lt"/>
                <a:ea typeface="Aptos" panose="020B0004020202020204" pitchFamily="34" charset="0"/>
                <a:cs typeface="Times New Roman" panose="02020603050405020304" pitchFamily="18" charset="0"/>
              </a:rPr>
              <a:t> ένα </a:t>
            </a:r>
            <a:r>
              <a:rPr lang="en-US" sz="1100" kern="100" dirty="0">
                <a:effectLst/>
                <a:latin typeface="+mn-lt"/>
                <a:ea typeface="Aptos" panose="020B0004020202020204" pitchFamily="34" charset="0"/>
                <a:cs typeface="Times New Roman" panose="02020603050405020304" pitchFamily="18" charset="0"/>
              </a:rPr>
              <a:t>van</a:t>
            </a:r>
            <a:r>
              <a:rPr lang="el-GR" sz="1100" kern="100" dirty="0">
                <a:effectLst/>
                <a:latin typeface="+mn-lt"/>
                <a:ea typeface="Aptos" panose="020B0004020202020204" pitchFamily="34" charset="0"/>
                <a:cs typeface="Times New Roman" panose="02020603050405020304" pitchFamily="18" charset="0"/>
              </a:rPr>
              <a:t> τοποθετείται στην </a:t>
            </a:r>
            <a:r>
              <a:rPr lang="en-US" sz="1100" kern="100" dirty="0">
                <a:effectLst/>
                <a:latin typeface="+mn-lt"/>
                <a:ea typeface="Aptos" panose="020B0004020202020204" pitchFamily="34" charset="0"/>
                <a:cs typeface="Times New Roman" panose="02020603050405020304" pitchFamily="18" charset="0"/>
              </a:rPr>
              <a:t>D</a:t>
            </a:r>
            <a:r>
              <a:rPr lang="el-GR" sz="1100" kern="100" dirty="0">
                <a:effectLst/>
                <a:latin typeface="+mn-lt"/>
                <a:ea typeface="Aptos" panose="020B0004020202020204" pitchFamily="34" charset="0"/>
                <a:cs typeface="Times New Roman" panose="02020603050405020304" pitchFamily="18" charset="0"/>
              </a:rPr>
              <a:t>1=(2,5,3,5) και ένα στην </a:t>
            </a:r>
            <a:r>
              <a:rPr lang="en-US" sz="1100" kern="100" dirty="0">
                <a:effectLst/>
                <a:latin typeface="+mn-lt"/>
                <a:ea typeface="Aptos" panose="020B0004020202020204" pitchFamily="34" charset="0"/>
                <a:cs typeface="Times New Roman" panose="02020603050405020304" pitchFamily="18" charset="0"/>
              </a:rPr>
              <a:t>D</a:t>
            </a:r>
            <a:r>
              <a:rPr lang="el-GR" sz="1100" kern="100" dirty="0">
                <a:effectLst/>
                <a:latin typeface="+mn-lt"/>
                <a:ea typeface="Aptos" panose="020B0004020202020204" pitchFamily="34" charset="0"/>
                <a:cs typeface="Times New Roman" panose="02020603050405020304" pitchFamily="18" charset="0"/>
              </a:rPr>
              <a:t>2=(−2,5,−3,5), κοντά στις δύο συγκεντρώσεις πελατών.</a:t>
            </a:r>
            <a:endParaRPr lang="en-US" sz="11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Font typeface="+mj-lt"/>
              <a:buAutoNum type="arabicPeriod"/>
              <a:tabLst>
                <a:tab pos="457200" algn="l"/>
              </a:tabLst>
            </a:pPr>
            <a:r>
              <a:rPr lang="el-GR" sz="1100" b="1" kern="100" dirty="0">
                <a:effectLst/>
                <a:latin typeface="+mn-lt"/>
                <a:ea typeface="Aptos" panose="020B0004020202020204" pitchFamily="34" charset="0"/>
                <a:cs typeface="Times New Roman" panose="02020603050405020304" pitchFamily="18" charset="0"/>
              </a:rPr>
              <a:t>Ανισομερής κατανομή:</a:t>
            </a:r>
            <a:r>
              <a:rPr lang="el-GR" sz="1100" kern="100" dirty="0">
                <a:effectLst/>
                <a:latin typeface="+mn-lt"/>
                <a:ea typeface="Aptos" panose="020B0004020202020204" pitchFamily="34" charset="0"/>
                <a:cs typeface="Times New Roman" panose="02020603050405020304" pitchFamily="18" charset="0"/>
              </a:rPr>
              <a:t> και τα δύο </a:t>
            </a:r>
            <a:r>
              <a:rPr lang="en-US" sz="1100" kern="100" dirty="0">
                <a:effectLst/>
                <a:latin typeface="+mn-lt"/>
                <a:ea typeface="Aptos" panose="020B0004020202020204" pitchFamily="34" charset="0"/>
                <a:cs typeface="Times New Roman" panose="02020603050405020304" pitchFamily="18" charset="0"/>
              </a:rPr>
              <a:t>vans</a:t>
            </a:r>
            <a:r>
              <a:rPr lang="el-GR" sz="1100" kern="100" dirty="0">
                <a:effectLst/>
                <a:latin typeface="+mn-lt"/>
                <a:ea typeface="Aptos" panose="020B0004020202020204" pitchFamily="34" charset="0"/>
                <a:cs typeface="Times New Roman" panose="02020603050405020304" pitchFamily="18" charset="0"/>
              </a:rPr>
              <a:t> τοποθετούνται στην </a:t>
            </a:r>
            <a:r>
              <a:rPr lang="en-US" sz="1100" kern="100" dirty="0">
                <a:effectLst/>
                <a:latin typeface="+mn-lt"/>
                <a:ea typeface="Aptos" panose="020B0004020202020204" pitchFamily="34" charset="0"/>
                <a:cs typeface="Times New Roman" panose="02020603050405020304" pitchFamily="18" charset="0"/>
              </a:rPr>
              <a:t>D</a:t>
            </a:r>
            <a:r>
              <a:rPr lang="el-GR" sz="1100" kern="100" dirty="0">
                <a:effectLst/>
                <a:latin typeface="+mn-lt"/>
                <a:ea typeface="Aptos" panose="020B0004020202020204" pitchFamily="34" charset="0"/>
                <a:cs typeface="Times New Roman" panose="02020603050405020304" pitchFamily="18" charset="0"/>
              </a:rPr>
              <a:t>1, ενώ η </a:t>
            </a:r>
            <a:r>
              <a:rPr lang="en-US" sz="1100" kern="100" dirty="0">
                <a:effectLst/>
                <a:latin typeface="+mn-lt"/>
                <a:ea typeface="Aptos" panose="020B0004020202020204" pitchFamily="34" charset="0"/>
                <a:cs typeface="Times New Roman" panose="02020603050405020304" pitchFamily="18" charset="0"/>
              </a:rPr>
              <a:t>D</a:t>
            </a:r>
            <a:r>
              <a:rPr lang="el-GR" sz="1100" kern="100" dirty="0">
                <a:effectLst/>
                <a:latin typeface="+mn-lt"/>
                <a:ea typeface="Aptos" panose="020B0004020202020204" pitchFamily="34" charset="0"/>
                <a:cs typeface="Times New Roman" panose="02020603050405020304" pitchFamily="18" charset="0"/>
              </a:rPr>
              <a:t>2 δεν διαθέτει όχημα.</a:t>
            </a:r>
            <a:endParaRPr lang="en-US" sz="1100" kern="100" dirty="0">
              <a:effectLst/>
              <a:latin typeface="+mn-lt"/>
              <a:ea typeface="Aptos" panose="020B0004020202020204" pitchFamily="34" charset="0"/>
              <a:cs typeface="Times New Roman" panose="02020603050405020304" pitchFamily="18" charset="0"/>
            </a:endParaRPr>
          </a:p>
          <a:p>
            <a:pPr marL="342900" lvl="0" indent="-342900">
              <a:lnSpc>
                <a:spcPct val="100000"/>
              </a:lnSpc>
              <a:spcAft>
                <a:spcPts val="800"/>
              </a:spcAft>
              <a:buFont typeface="+mj-lt"/>
              <a:buAutoNum type="arabicPeriod"/>
              <a:tabLst>
                <a:tab pos="457200" algn="l"/>
              </a:tabLst>
            </a:pPr>
            <a:r>
              <a:rPr lang="el-GR" sz="1100" b="1" kern="100" dirty="0">
                <a:effectLst/>
                <a:latin typeface="+mn-lt"/>
                <a:ea typeface="Aptos" panose="020B0004020202020204" pitchFamily="34" charset="0"/>
                <a:cs typeface="Times New Roman" panose="02020603050405020304" pitchFamily="18" charset="0"/>
              </a:rPr>
              <a:t>Ελεύθερη επιλογή αποθήκης:</a:t>
            </a:r>
            <a:r>
              <a:rPr lang="el-GR" sz="1100" kern="100" dirty="0">
                <a:effectLst/>
                <a:latin typeface="+mn-lt"/>
                <a:ea typeface="Aptos" panose="020B0004020202020204" pitchFamily="34" charset="0"/>
                <a:cs typeface="Times New Roman" panose="02020603050405020304" pitchFamily="18" charset="0"/>
              </a:rPr>
              <a:t> υπάρχουν δύο διαθέσιμα </a:t>
            </a:r>
            <a:r>
              <a:rPr lang="en-US" sz="1100" kern="100" dirty="0">
                <a:effectLst/>
                <a:latin typeface="+mn-lt"/>
                <a:ea typeface="Aptos" panose="020B0004020202020204" pitchFamily="34" charset="0"/>
                <a:cs typeface="Times New Roman" panose="02020603050405020304" pitchFamily="18" charset="0"/>
              </a:rPr>
              <a:t>vans</a:t>
            </a:r>
            <a:r>
              <a:rPr lang="el-GR" sz="1100" kern="100" dirty="0">
                <a:effectLst/>
                <a:latin typeface="+mn-lt"/>
                <a:ea typeface="Aptos" panose="020B0004020202020204" pitchFamily="34" charset="0"/>
                <a:cs typeface="Times New Roman" panose="02020603050405020304" pitchFamily="18" charset="0"/>
              </a:rPr>
              <a:t> σε κάθε τοπική αποθήκη και το </a:t>
            </a:r>
            <a:r>
              <a:rPr lang="en-US" sz="1100" kern="100" dirty="0">
                <a:effectLst/>
                <a:latin typeface="+mn-lt"/>
                <a:ea typeface="Aptos" panose="020B0004020202020204" pitchFamily="34" charset="0"/>
                <a:cs typeface="Times New Roman" panose="02020603050405020304" pitchFamily="18" charset="0"/>
              </a:rPr>
              <a:t>MILP</a:t>
            </a:r>
            <a:r>
              <a:rPr lang="el-GR" sz="1100" kern="100" dirty="0">
                <a:effectLst/>
                <a:latin typeface="+mn-lt"/>
                <a:ea typeface="Aptos" panose="020B0004020202020204" pitchFamily="34" charset="0"/>
                <a:cs typeface="Times New Roman" panose="02020603050405020304" pitchFamily="18" charset="0"/>
              </a:rPr>
              <a:t> αποφασίζει ποια θα ενεργοποιηθούν.</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1FAFDB3F-251A-1FF9-D8BD-26456FBB7C11}"/>
              </a:ext>
            </a:extLst>
          </p:cNvPr>
          <p:cNvSpPr txBox="1"/>
          <p:nvPr/>
        </p:nvSpPr>
        <p:spPr>
          <a:xfrm>
            <a:off x="245316" y="2998113"/>
            <a:ext cx="6267322" cy="430887"/>
          </a:xfrm>
          <a:prstGeom prst="rect">
            <a:avLst/>
          </a:prstGeom>
          <a:noFill/>
        </p:spPr>
        <p:txBody>
          <a:bodyPr wrap="square">
            <a:spAutoFit/>
          </a:bodyPr>
          <a:lstStyle/>
          <a:p>
            <a:pPr>
              <a:lnSpc>
                <a:spcPct val="100000"/>
              </a:lnSpc>
              <a:spcAft>
                <a:spcPts val="800"/>
              </a:spcAft>
              <a:buNone/>
            </a:pPr>
            <a:r>
              <a:rPr lang="el-GR" sz="1100" kern="100" dirty="0">
                <a:effectLst/>
                <a:latin typeface="+mn-lt"/>
                <a:ea typeface="Aptos" panose="020B0004020202020204" pitchFamily="34" charset="0"/>
                <a:cs typeface="Times New Roman" panose="02020603050405020304" pitchFamily="18" charset="0"/>
              </a:rPr>
              <a:t>Στην περίπτωση της κεντρικής αποθήκης, κάθε </a:t>
            </a:r>
            <a:r>
              <a:rPr lang="en-US" sz="1100" kern="100" dirty="0">
                <a:effectLst/>
                <a:latin typeface="+mn-lt"/>
                <a:ea typeface="Aptos" panose="020B0004020202020204" pitchFamily="34" charset="0"/>
                <a:cs typeface="Times New Roman" panose="02020603050405020304" pitchFamily="18" charset="0"/>
              </a:rPr>
              <a:t>van</a:t>
            </a:r>
            <a:r>
              <a:rPr lang="el-GR" sz="1100" kern="100" dirty="0">
                <a:effectLst/>
                <a:latin typeface="+mn-lt"/>
                <a:ea typeface="Aptos" panose="020B0004020202020204" pitchFamily="34" charset="0"/>
                <a:cs typeface="Times New Roman" panose="02020603050405020304" pitchFamily="18" charset="0"/>
              </a:rPr>
              <a:t> εξυπηρετεί μία από τις δύο συγκεντρώσεις και μεταφέρει φορτίο 11/12. Η συνολική απόσταση είναι 26,2448 και το συνολικό κόστος 58,8693.</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60F2045C-6FD0-62FF-6B83-734E2D99DFF4}"/>
              </a:ext>
            </a:extLst>
          </p:cNvPr>
          <p:cNvPicPr>
            <a:picLocks noChangeAspect="1"/>
          </p:cNvPicPr>
          <p:nvPr/>
        </p:nvPicPr>
        <p:blipFill>
          <a:blip r:embed="rId2"/>
          <a:stretch>
            <a:fillRect/>
          </a:stretch>
        </p:blipFill>
        <p:spPr>
          <a:xfrm>
            <a:off x="1234357" y="3434129"/>
            <a:ext cx="2957987" cy="2282581"/>
          </a:xfrm>
          <a:prstGeom prst="rect">
            <a:avLst/>
          </a:prstGeom>
        </p:spPr>
      </p:pic>
      <p:pic>
        <p:nvPicPr>
          <p:cNvPr id="13" name="Picture 12">
            <a:extLst>
              <a:ext uri="{FF2B5EF4-FFF2-40B4-BE49-F238E27FC236}">
                <a16:creationId xmlns:a16="http://schemas.microsoft.com/office/drawing/2014/main" id="{63C90454-1CE5-0ED7-3F7E-87B1AFF29D97}"/>
              </a:ext>
            </a:extLst>
          </p:cNvPr>
          <p:cNvPicPr>
            <a:picLocks noChangeAspect="1"/>
          </p:cNvPicPr>
          <p:nvPr/>
        </p:nvPicPr>
        <p:blipFill>
          <a:blip r:embed="rId3"/>
          <a:stretch>
            <a:fillRect/>
          </a:stretch>
        </p:blipFill>
        <p:spPr>
          <a:xfrm>
            <a:off x="7318628" y="1936955"/>
            <a:ext cx="3348469" cy="2600850"/>
          </a:xfrm>
          <a:prstGeom prst="rect">
            <a:avLst/>
          </a:prstGeom>
        </p:spPr>
      </p:pic>
      <p:sp>
        <p:nvSpPr>
          <p:cNvPr id="15" name="TextBox 14">
            <a:extLst>
              <a:ext uri="{FF2B5EF4-FFF2-40B4-BE49-F238E27FC236}">
                <a16:creationId xmlns:a16="http://schemas.microsoft.com/office/drawing/2014/main" id="{89F84B18-951D-22C8-BDBB-D6866CE07169}"/>
              </a:ext>
            </a:extLst>
          </p:cNvPr>
          <p:cNvSpPr txBox="1"/>
          <p:nvPr/>
        </p:nvSpPr>
        <p:spPr>
          <a:xfrm>
            <a:off x="7249740" y="1167514"/>
            <a:ext cx="4643597" cy="769441"/>
          </a:xfrm>
          <a:prstGeom prst="rect">
            <a:avLst/>
          </a:prstGeom>
          <a:noFill/>
        </p:spPr>
        <p:txBody>
          <a:bodyPr wrap="square">
            <a:spAutoFit/>
          </a:bodyPr>
          <a:lstStyle/>
          <a:p>
            <a:r>
              <a:rPr lang="el-GR" sz="1100" dirty="0">
                <a:effectLst/>
                <a:latin typeface="+mn-lt"/>
                <a:ea typeface="Aptos" panose="020B0004020202020204" pitchFamily="34" charset="0"/>
                <a:cs typeface="Times New Roman" panose="02020603050405020304" pitchFamily="18" charset="0"/>
              </a:rPr>
              <a:t>Κάθε </a:t>
            </a:r>
            <a:r>
              <a:rPr lang="en-US" sz="1100" dirty="0">
                <a:effectLst/>
                <a:latin typeface="+mn-lt"/>
                <a:ea typeface="Aptos" panose="020B0004020202020204" pitchFamily="34" charset="0"/>
                <a:cs typeface="Times New Roman" panose="02020603050405020304" pitchFamily="18" charset="0"/>
              </a:rPr>
              <a:t>van</a:t>
            </a:r>
            <a:r>
              <a:rPr lang="el-GR" sz="1100" dirty="0">
                <a:effectLst/>
                <a:latin typeface="+mn-lt"/>
                <a:ea typeface="Aptos" panose="020B0004020202020204" pitchFamily="34" charset="0"/>
                <a:cs typeface="Times New Roman" panose="02020603050405020304" pitchFamily="18" charset="0"/>
              </a:rPr>
              <a:t> εξυπηρετεί ζήτηση 11 μονάδων και διανύει περίπου 5,939 μονάδες απόστασης. Η συνολική απόσταση μειώνεται σε 11,8771, δηλαδή κατά 54,74% σε σχέση με την κεντρική αποθήκη. Το συνολικό κόστος μειώνεται αντίστοιχα κατά 26,85%, από 58,8693 σε 43,0648</a:t>
            </a:r>
            <a:endParaRPr lang="en-US" sz="1100" dirty="0"/>
          </a:p>
        </p:txBody>
      </p:sp>
      <p:pic>
        <p:nvPicPr>
          <p:cNvPr id="17" name="Picture 16">
            <a:extLst>
              <a:ext uri="{FF2B5EF4-FFF2-40B4-BE49-F238E27FC236}">
                <a16:creationId xmlns:a16="http://schemas.microsoft.com/office/drawing/2014/main" id="{52CD768C-F97B-E5C9-7CD5-7B58ADAEC17A}"/>
              </a:ext>
            </a:extLst>
          </p:cNvPr>
          <p:cNvPicPr>
            <a:picLocks noChangeAspect="1"/>
          </p:cNvPicPr>
          <p:nvPr/>
        </p:nvPicPr>
        <p:blipFill>
          <a:blip r:embed="rId4"/>
          <a:stretch>
            <a:fillRect/>
          </a:stretch>
        </p:blipFill>
        <p:spPr>
          <a:xfrm>
            <a:off x="4357858" y="5209082"/>
            <a:ext cx="7718154" cy="1216765"/>
          </a:xfrm>
          <a:prstGeom prst="rect">
            <a:avLst/>
          </a:prstGeom>
        </p:spPr>
      </p:pic>
    </p:spTree>
    <p:extLst>
      <p:ext uri="{BB962C8B-B14F-4D97-AF65-F5344CB8AC3E}">
        <p14:creationId xmlns:p14="http://schemas.microsoft.com/office/powerpoint/2010/main" val="2742560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8E322-E944-503E-96DB-3CAEF63785C8}"/>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7AAA547-B69E-0205-2041-497EC044A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52D2673-FD43-D02A-2A86-C23CA79DEF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EBFE1A74-41AA-69F6-1A50-3790E9C474D9}"/>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466B52A8-16F6-BCFE-F844-A48056AED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760C0072-05F3-4B98-2CD1-49542353B923}"/>
              </a:ext>
            </a:extLst>
          </p:cNvPr>
          <p:cNvSpPr txBox="1"/>
          <p:nvPr/>
        </p:nvSpPr>
        <p:spPr>
          <a:xfrm>
            <a:off x="219395" y="93277"/>
            <a:ext cx="5015392" cy="938719"/>
          </a:xfrm>
          <a:prstGeom prst="rect">
            <a:avLst/>
          </a:prstGeom>
          <a:noFill/>
        </p:spPr>
        <p:txBody>
          <a:bodyPr wrap="square">
            <a:spAutoFit/>
          </a:bodyPr>
          <a:lstStyle/>
          <a:p>
            <a:r>
              <a:rPr lang="el-GR" sz="1100" dirty="0">
                <a:effectLst/>
                <a:latin typeface="+mn-lt"/>
                <a:ea typeface="Aptos" panose="020B0004020202020204" pitchFamily="34" charset="0"/>
                <a:cs typeface="Times New Roman" panose="02020603050405020304" pitchFamily="18" charset="0"/>
              </a:rPr>
              <a:t>Στην ανισομερή κατανομή, και τα δύο </a:t>
            </a:r>
            <a:r>
              <a:rPr lang="en-US" sz="1100" dirty="0">
                <a:effectLst/>
                <a:latin typeface="+mn-lt"/>
                <a:ea typeface="Aptos" panose="020B0004020202020204" pitchFamily="34" charset="0"/>
                <a:cs typeface="Times New Roman" panose="02020603050405020304" pitchFamily="18" charset="0"/>
              </a:rPr>
              <a:t>vans</a:t>
            </a:r>
            <a:r>
              <a:rPr lang="el-GR" sz="1100" dirty="0">
                <a:effectLst/>
                <a:latin typeface="+mn-lt"/>
                <a:ea typeface="Aptos" panose="020B0004020202020204" pitchFamily="34" charset="0"/>
                <a:cs typeface="Times New Roman" panose="02020603050405020304" pitchFamily="18" charset="0"/>
              </a:rPr>
              <a:t> ξεκινούν από την </a:t>
            </a:r>
            <a:r>
              <a:rPr lang="en-US" sz="1100" dirty="0">
                <a:effectLst/>
                <a:latin typeface="+mn-lt"/>
                <a:ea typeface="Aptos" panose="020B0004020202020204" pitchFamily="34" charset="0"/>
                <a:cs typeface="Times New Roman" panose="02020603050405020304" pitchFamily="18" charset="0"/>
              </a:rPr>
              <a:t>D</a:t>
            </a:r>
            <a:r>
              <a:rPr lang="el-GR" sz="1100" dirty="0">
                <a:effectLst/>
                <a:latin typeface="+mn-lt"/>
                <a:ea typeface="Aptos" panose="020B0004020202020204" pitchFamily="34" charset="0"/>
                <a:cs typeface="Times New Roman" panose="02020603050405020304" pitchFamily="18" charset="0"/>
              </a:rPr>
              <a:t>1. Το δεύτερο </a:t>
            </a:r>
            <a:r>
              <a:rPr lang="en-US" sz="1100" dirty="0">
                <a:effectLst/>
                <a:latin typeface="+mn-lt"/>
                <a:ea typeface="Aptos" panose="020B0004020202020204" pitchFamily="34" charset="0"/>
                <a:cs typeface="Times New Roman" panose="02020603050405020304" pitchFamily="18" charset="0"/>
              </a:rPr>
              <a:t>van</a:t>
            </a:r>
            <a:r>
              <a:rPr lang="el-GR" sz="1100" dirty="0">
                <a:effectLst/>
                <a:latin typeface="+mn-lt"/>
                <a:ea typeface="Aptos" panose="020B0004020202020204" pitchFamily="34" charset="0"/>
                <a:cs typeface="Times New Roman" panose="02020603050405020304" pitchFamily="18" charset="0"/>
              </a:rPr>
              <a:t> πρέπει να διασχίσει μεγάλο μέρος του δικτύου για να εξυπηρετήσει τους πελάτες </a:t>
            </a:r>
            <a:r>
              <a:rPr lang="en-US" sz="1100" dirty="0">
                <a:effectLst/>
                <a:latin typeface="+mn-lt"/>
                <a:ea typeface="Aptos" panose="020B0004020202020204" pitchFamily="34" charset="0"/>
                <a:cs typeface="Times New Roman" panose="02020603050405020304" pitchFamily="18" charset="0"/>
              </a:rPr>
              <a:t>C</a:t>
            </a:r>
            <a:r>
              <a:rPr lang="el-GR" sz="1100" dirty="0">
                <a:effectLst/>
                <a:latin typeface="+mn-lt"/>
                <a:ea typeface="Aptos" panose="020B0004020202020204" pitchFamily="34" charset="0"/>
                <a:cs typeface="Times New Roman" panose="02020603050405020304" pitchFamily="18" charset="0"/>
              </a:rPr>
              <a:t>4–</a:t>
            </a:r>
            <a:r>
              <a:rPr lang="en-US" sz="1100" dirty="0">
                <a:effectLst/>
                <a:latin typeface="+mn-lt"/>
                <a:ea typeface="Aptos" panose="020B0004020202020204" pitchFamily="34" charset="0"/>
                <a:cs typeface="Times New Roman" panose="02020603050405020304" pitchFamily="18" charset="0"/>
              </a:rPr>
              <a:t>C</a:t>
            </a:r>
            <a:r>
              <a:rPr lang="el-GR" sz="1100" dirty="0">
                <a:effectLst/>
                <a:latin typeface="+mn-lt"/>
                <a:ea typeface="Aptos" panose="020B0004020202020204" pitchFamily="34" charset="0"/>
                <a:cs typeface="Times New Roman" panose="02020603050405020304" pitchFamily="18" charset="0"/>
              </a:rPr>
              <a:t>6 και στη συνέχεια να επιστρέψει στην </a:t>
            </a:r>
            <a:r>
              <a:rPr lang="en-US" sz="1100" dirty="0">
                <a:effectLst/>
                <a:latin typeface="+mn-lt"/>
                <a:ea typeface="Aptos" panose="020B0004020202020204" pitchFamily="34" charset="0"/>
                <a:cs typeface="Times New Roman" panose="02020603050405020304" pitchFamily="18" charset="0"/>
              </a:rPr>
              <a:t>D</a:t>
            </a:r>
            <a:r>
              <a:rPr lang="el-GR" sz="1100" dirty="0">
                <a:effectLst/>
                <a:latin typeface="+mn-lt"/>
                <a:ea typeface="Aptos" panose="020B0004020202020204" pitchFamily="34" charset="0"/>
                <a:cs typeface="Times New Roman" panose="02020603050405020304" pitchFamily="18" charset="0"/>
              </a:rPr>
              <a:t>1. Η συνολική απόσταση αυξάνεται σε 27,5276, δηλαδή κατά 4,89% σε σχέση με την κεντρική περίπτωση. Το κόστος αυξάνεται επίσης κατά 2,40%, φτάνοντας τις 60,2804 μονάδες.</a:t>
            </a:r>
            <a:endParaRPr lang="en-US" sz="1100" dirty="0"/>
          </a:p>
        </p:txBody>
      </p:sp>
      <p:pic>
        <p:nvPicPr>
          <p:cNvPr id="5" name="Picture 4">
            <a:extLst>
              <a:ext uri="{FF2B5EF4-FFF2-40B4-BE49-F238E27FC236}">
                <a16:creationId xmlns:a16="http://schemas.microsoft.com/office/drawing/2014/main" id="{4096CD47-BEC2-1430-DABB-9146B2659103}"/>
              </a:ext>
            </a:extLst>
          </p:cNvPr>
          <p:cNvPicPr>
            <a:picLocks noChangeAspect="1"/>
          </p:cNvPicPr>
          <p:nvPr/>
        </p:nvPicPr>
        <p:blipFill>
          <a:blip r:embed="rId2"/>
          <a:stretch>
            <a:fillRect/>
          </a:stretch>
        </p:blipFill>
        <p:spPr>
          <a:xfrm>
            <a:off x="755480" y="1095920"/>
            <a:ext cx="4436325" cy="3447158"/>
          </a:xfrm>
          <a:prstGeom prst="rect">
            <a:avLst/>
          </a:prstGeom>
        </p:spPr>
      </p:pic>
      <p:sp>
        <p:nvSpPr>
          <p:cNvPr id="7" name="TextBox 6">
            <a:extLst>
              <a:ext uri="{FF2B5EF4-FFF2-40B4-BE49-F238E27FC236}">
                <a16:creationId xmlns:a16="http://schemas.microsoft.com/office/drawing/2014/main" id="{8392A11B-3D47-F5D7-A0C3-19FF13B016C4}"/>
              </a:ext>
            </a:extLst>
          </p:cNvPr>
          <p:cNvSpPr txBox="1"/>
          <p:nvPr/>
        </p:nvSpPr>
        <p:spPr>
          <a:xfrm>
            <a:off x="6096000" y="1360586"/>
            <a:ext cx="5825464" cy="600164"/>
          </a:xfrm>
          <a:prstGeom prst="rect">
            <a:avLst/>
          </a:prstGeom>
          <a:noFill/>
        </p:spPr>
        <p:txBody>
          <a:bodyPr wrap="square">
            <a:spAutoFit/>
          </a:bodyPr>
          <a:lstStyle/>
          <a:p>
            <a:pPr>
              <a:lnSpc>
                <a:spcPct val="100000"/>
              </a:lnSpc>
              <a:spcAft>
                <a:spcPts val="800"/>
              </a:spcAft>
              <a:buNone/>
            </a:pPr>
            <a:r>
              <a:rPr lang="el-GR" sz="1100" kern="100" dirty="0">
                <a:effectLst/>
                <a:latin typeface="+mn-lt"/>
                <a:ea typeface="Aptos" panose="020B0004020202020204" pitchFamily="34" charset="0"/>
                <a:cs typeface="Times New Roman" panose="02020603050405020304" pitchFamily="18" charset="0"/>
              </a:rPr>
              <a:t>Στην περίπτωση ελεύθερης επιλογής υπάρχουν συνολικά τέσσερα διαθέσιμα </a:t>
            </a:r>
            <a:r>
              <a:rPr lang="en-US" sz="1100" kern="100" dirty="0">
                <a:effectLst/>
                <a:latin typeface="+mn-lt"/>
                <a:ea typeface="Aptos" panose="020B0004020202020204" pitchFamily="34" charset="0"/>
                <a:cs typeface="Times New Roman" panose="02020603050405020304" pitchFamily="18" charset="0"/>
              </a:rPr>
              <a:t>vans</a:t>
            </a:r>
            <a:r>
              <a:rPr lang="el-GR" sz="1100" kern="100" dirty="0">
                <a:effectLst/>
                <a:latin typeface="+mn-lt"/>
                <a:ea typeface="Aptos" panose="020B0004020202020204" pitchFamily="34" charset="0"/>
                <a:cs typeface="Times New Roman" panose="02020603050405020304" pitchFamily="18" charset="0"/>
              </a:rPr>
              <a:t>, δύο σε κάθε αποθήκη. Ο </a:t>
            </a:r>
            <a:r>
              <a:rPr lang="en-US" sz="1100" kern="100" dirty="0">
                <a:effectLst/>
                <a:latin typeface="+mn-lt"/>
                <a:ea typeface="Aptos" panose="020B0004020202020204" pitchFamily="34" charset="0"/>
                <a:cs typeface="Times New Roman" panose="02020603050405020304" pitchFamily="18" charset="0"/>
              </a:rPr>
              <a:t>solver</a:t>
            </a:r>
            <a:r>
              <a:rPr lang="el-GR" sz="1100" kern="100" dirty="0">
                <a:effectLst/>
                <a:latin typeface="+mn-lt"/>
                <a:ea typeface="Aptos" panose="020B0004020202020204" pitchFamily="34" charset="0"/>
                <a:cs typeface="Times New Roman" panose="02020603050405020304" pitchFamily="18" charset="0"/>
              </a:rPr>
              <a:t> ενεργοποιεί μόνο δύο: ένα στην </a:t>
            </a:r>
            <a:r>
              <a:rPr lang="en-US" sz="1100" kern="100" dirty="0">
                <a:effectLst/>
                <a:latin typeface="+mn-lt"/>
                <a:ea typeface="Aptos" panose="020B0004020202020204" pitchFamily="34" charset="0"/>
                <a:cs typeface="Times New Roman" panose="02020603050405020304" pitchFamily="18" charset="0"/>
              </a:rPr>
              <a:t>D</a:t>
            </a:r>
            <a:r>
              <a:rPr lang="el-GR" sz="1100" kern="100" dirty="0">
                <a:effectLst/>
                <a:latin typeface="+mn-lt"/>
                <a:ea typeface="Aptos" panose="020B0004020202020204" pitchFamily="34" charset="0"/>
                <a:cs typeface="Times New Roman" panose="02020603050405020304" pitchFamily="18" charset="0"/>
              </a:rPr>
              <a:t>1 και ένα στην </a:t>
            </a:r>
            <a:r>
              <a:rPr lang="en-US" sz="1100" kern="100" dirty="0">
                <a:effectLst/>
                <a:latin typeface="+mn-lt"/>
                <a:ea typeface="Aptos" panose="020B0004020202020204" pitchFamily="34" charset="0"/>
                <a:cs typeface="Times New Roman" panose="02020603050405020304" pitchFamily="18" charset="0"/>
              </a:rPr>
              <a:t>D</a:t>
            </a:r>
            <a:r>
              <a:rPr lang="el-GR" sz="1100" kern="100" dirty="0">
                <a:effectLst/>
                <a:latin typeface="+mn-lt"/>
                <a:ea typeface="Aptos" panose="020B0004020202020204" pitchFamily="34" charset="0"/>
                <a:cs typeface="Times New Roman" panose="02020603050405020304" pitchFamily="18" charset="0"/>
              </a:rPr>
              <a:t>2. Η λύση συμπίπτει με την περίπτωση των δύο τοπικών αποθηκών και έχει κόστος 43,0648.</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8" name="Picture 7">
            <a:extLst>
              <a:ext uri="{FF2B5EF4-FFF2-40B4-BE49-F238E27FC236}">
                <a16:creationId xmlns:a16="http://schemas.microsoft.com/office/drawing/2014/main" id="{A3BDAF87-0725-6A5E-C882-5AC9F667B586}"/>
              </a:ext>
            </a:extLst>
          </p:cNvPr>
          <p:cNvPicPr>
            <a:picLocks noChangeAspect="1"/>
          </p:cNvPicPr>
          <p:nvPr/>
        </p:nvPicPr>
        <p:blipFill>
          <a:blip r:embed="rId3"/>
          <a:stretch>
            <a:fillRect/>
          </a:stretch>
        </p:blipFill>
        <p:spPr>
          <a:xfrm>
            <a:off x="6159156" y="1960751"/>
            <a:ext cx="4439291" cy="3447159"/>
          </a:xfrm>
          <a:prstGeom prst="rect">
            <a:avLst/>
          </a:prstGeom>
        </p:spPr>
      </p:pic>
    </p:spTree>
    <p:extLst>
      <p:ext uri="{BB962C8B-B14F-4D97-AF65-F5344CB8AC3E}">
        <p14:creationId xmlns:p14="http://schemas.microsoft.com/office/powerpoint/2010/main" val="19974315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9821D-CA3F-440E-8489-2F458200551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AA38479-DBFF-928E-4108-63689632A8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CE16EC63-7E66-2AB1-E410-CF8AD9554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2143D852-9CCF-A99E-6C4E-2CAC49D1557C}"/>
              </a:ext>
            </a:extLst>
          </p:cNvPr>
          <p:cNvSpPr txBox="1"/>
          <p:nvPr/>
        </p:nvSpPr>
        <p:spPr>
          <a:xfrm>
            <a:off x="7958202" y="5311931"/>
            <a:ext cx="3281903" cy="1325563"/>
          </a:xfrm>
          <a:prstGeom prst="rect">
            <a:avLst/>
          </a:prstGeom>
        </p:spPr>
        <p:txBody>
          <a:bodyPr vert="horz" lIns="91440" tIns="45720" rIns="91440" bIns="45720" rtlCol="0" anchor="ctr">
            <a:normAutofit/>
          </a:bodyPr>
          <a:lstStyle/>
          <a:p>
            <a:pPr>
              <a:lnSpc>
                <a:spcPct val="100000"/>
              </a:lnSpc>
              <a:spcBef>
                <a:spcPct val="0"/>
              </a:spcBef>
              <a:spcAft>
                <a:spcPts val="600"/>
              </a:spcAft>
            </a:pPr>
            <a:r>
              <a:rPr lang="el-GR" sz="1000" dirty="0"/>
              <a:t>Οι συντεταγμένες των δύο αποθηκών και των δώδεκα πελατών δεν ταυτίζονται απαραίτητα με κόμβους του οδικού δικτύου. Για τον λόγο αυτό, κάθε σημείο αντιστοιχίζεται στον πλησιέστερο οδικό κόμβο.</a:t>
            </a:r>
            <a:endParaRPr lang="en-US" sz="10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CFD4E8D1-2A1C-A35D-F93B-09378D180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TextBox 3">
            <a:extLst>
              <a:ext uri="{FF2B5EF4-FFF2-40B4-BE49-F238E27FC236}">
                <a16:creationId xmlns:a16="http://schemas.microsoft.com/office/drawing/2014/main" id="{E9CDFC1E-2F9E-2A81-BE24-EAD3BA565CD6}"/>
              </a:ext>
            </a:extLst>
          </p:cNvPr>
          <p:cNvSpPr txBox="1"/>
          <p:nvPr/>
        </p:nvSpPr>
        <p:spPr>
          <a:xfrm>
            <a:off x="434187" y="238999"/>
            <a:ext cx="6097022" cy="769441"/>
          </a:xfrm>
          <a:prstGeom prst="rect">
            <a:avLst/>
          </a:prstGeom>
          <a:noFill/>
        </p:spPr>
        <p:txBody>
          <a:bodyPr wrap="square">
            <a:spAutoFit/>
          </a:bodyPr>
          <a:lstStyle/>
          <a:p>
            <a:pPr>
              <a:lnSpc>
                <a:spcPct val="100000"/>
              </a:lnSpc>
              <a:spcBef>
                <a:spcPts val="800"/>
              </a:spcBef>
              <a:spcAft>
                <a:spcPts val="400"/>
              </a:spcAft>
              <a:buNone/>
            </a:pPr>
            <a:r>
              <a:rPr lang="el-GR" sz="1800" b="1" kern="100" dirty="0">
                <a:solidFill>
                  <a:srgbClr val="0070C0"/>
                </a:solidFill>
                <a:effectLst/>
                <a:latin typeface="+mn-lt"/>
                <a:ea typeface="Times New Roman" panose="02020603050405020304" pitchFamily="18" charset="0"/>
                <a:cs typeface="Times New Roman" panose="02020603050405020304" pitchFamily="18" charset="0"/>
              </a:rPr>
              <a:t>Σενάριο </a:t>
            </a:r>
            <a:r>
              <a:rPr lang="el-GR" b="1" kern="100" dirty="0">
                <a:solidFill>
                  <a:srgbClr val="0070C0"/>
                </a:solidFill>
                <a:ea typeface="Times New Roman" panose="02020603050405020304" pitchFamily="18" charset="0"/>
                <a:cs typeface="Times New Roman" panose="02020603050405020304" pitchFamily="18" charset="0"/>
              </a:rPr>
              <a:t>5</a:t>
            </a:r>
            <a:endParaRPr lang="en-US" sz="1800" b="1" kern="100" dirty="0">
              <a:solidFill>
                <a:srgbClr val="0070C0"/>
              </a:solidFill>
              <a:effectLst/>
              <a:latin typeface="+mn-lt"/>
              <a:ea typeface="Times New Roman" panose="02020603050405020304" pitchFamily="18" charset="0"/>
              <a:cs typeface="Times New Roman" panose="02020603050405020304" pitchFamily="18" charset="0"/>
            </a:endParaRPr>
          </a:p>
          <a:p>
            <a:pPr>
              <a:lnSpc>
                <a:spcPct val="100000"/>
              </a:lnSpc>
              <a:spcBef>
                <a:spcPts val="800"/>
              </a:spcBef>
              <a:spcAft>
                <a:spcPts val="400"/>
              </a:spcAft>
              <a:buNone/>
            </a:pPr>
            <a:r>
              <a:rPr lang="el-GR" sz="1600" kern="100" dirty="0">
                <a:solidFill>
                  <a:srgbClr val="0070C0"/>
                </a:solidFill>
                <a:effectLst/>
                <a:latin typeface="Aptos Display" panose="020B0004020202020204" pitchFamily="34" charset="0"/>
                <a:ea typeface="Times New Roman" panose="02020603050405020304" pitchFamily="18" charset="0"/>
                <a:cs typeface="Times New Roman" panose="02020603050405020304" pitchFamily="18" charset="0"/>
              </a:rPr>
              <a:t>Ολοκληρωμένο πρόβλημα δρομολόγησης στο οδικό δίκτυο της Αθήνας</a:t>
            </a:r>
            <a:endParaRPr lang="en-US" sz="1600" kern="100" dirty="0">
              <a:effectLst/>
              <a:latin typeface="Aptos Display" panose="020B0004020202020204" pitchFamily="34" charset="0"/>
              <a:ea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F8038EE-C5F6-CE2D-C802-342BB32275AD}"/>
              </a:ext>
            </a:extLst>
          </p:cNvPr>
          <p:cNvPicPr>
            <a:picLocks noChangeAspect="1"/>
          </p:cNvPicPr>
          <p:nvPr/>
        </p:nvPicPr>
        <p:blipFill>
          <a:blip r:embed="rId2"/>
          <a:stretch>
            <a:fillRect/>
          </a:stretch>
        </p:blipFill>
        <p:spPr>
          <a:xfrm>
            <a:off x="928011" y="1247439"/>
            <a:ext cx="3711132" cy="3727366"/>
          </a:xfrm>
          <a:prstGeom prst="rect">
            <a:avLst/>
          </a:prstGeom>
        </p:spPr>
      </p:pic>
      <p:sp>
        <p:nvSpPr>
          <p:cNvPr id="7" name="Arrow: Right 6">
            <a:extLst>
              <a:ext uri="{FF2B5EF4-FFF2-40B4-BE49-F238E27FC236}">
                <a16:creationId xmlns:a16="http://schemas.microsoft.com/office/drawing/2014/main" id="{B314724E-B25D-E1E1-3635-6A7725F1DB20}"/>
              </a:ext>
            </a:extLst>
          </p:cNvPr>
          <p:cNvSpPr/>
          <p:nvPr/>
        </p:nvSpPr>
        <p:spPr>
          <a:xfrm>
            <a:off x="5463948" y="3066390"/>
            <a:ext cx="760977" cy="8044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47B3C8A-AFB4-4D03-880A-3017EBAB8EF4}"/>
                  </a:ext>
                </a:extLst>
              </p:cNvPr>
              <p:cNvSpPr txBox="1"/>
              <p:nvPr/>
            </p:nvSpPr>
            <p:spPr>
              <a:xfrm>
                <a:off x="4775341" y="3356663"/>
                <a:ext cx="2515311" cy="2123658"/>
              </a:xfrm>
              <a:prstGeom prst="rect">
                <a:avLst/>
              </a:prstGeom>
              <a:noFill/>
            </p:spPr>
            <p:txBody>
              <a:bodyPr wrap="square">
                <a:spAutoFit/>
              </a:bodyPr>
              <a:lstStyle/>
              <a:p>
                <a:pPr>
                  <a:lnSpc>
                    <a:spcPct val="100000"/>
                  </a:lnSpc>
                  <a:spcAft>
                    <a:spcPts val="800"/>
                  </a:spcAft>
                  <a:buNone/>
                </a:pPr>
                <a:r>
                  <a:rPr lang="el-GR" sz="1100" kern="100" dirty="0">
                    <a:effectLst/>
                    <a:ea typeface="Aptos" panose="020B0004020202020204" pitchFamily="34" charset="0"/>
                    <a:cs typeface="Times New Roman" panose="02020603050405020304" pitchFamily="18" charset="0"/>
                  </a:rPr>
                  <a:t>Το πλήρες οδικό δίκτυο είναι πολύ μεγάλο για να εισαχθεί αυτούσιο στο </a:t>
                </a:r>
                <a:r>
                  <a:rPr lang="en-US" sz="1100" kern="100" dirty="0">
                    <a:effectLst/>
                    <a:ea typeface="Aptos" panose="020B0004020202020204" pitchFamily="34" charset="0"/>
                    <a:cs typeface="Times New Roman" panose="02020603050405020304" pitchFamily="18" charset="0"/>
                  </a:rPr>
                  <a:t>MILP</a:t>
                </a:r>
                <a:r>
                  <a:rPr lang="el-GR" sz="1100" kern="100" dirty="0">
                    <a:effectLst/>
                    <a:ea typeface="Aptos" panose="020B0004020202020204" pitchFamily="34" charset="0"/>
                    <a:cs typeface="Times New Roman" panose="02020603050405020304" pitchFamily="18" charset="0"/>
                  </a:rPr>
                  <a:t>. Για τον λόγο αυτό δημιουργείται ένας συμπυκνωμένος γράφος με κόμβους μόνο τις δύο αποθήκες και τους δώδεκα πελάτες. Κάθε ακμή </a:t>
                </a:r>
                <a14:m>
                  <m:oMath xmlns:m="http://schemas.openxmlformats.org/officeDocument/2006/math">
                    <m:r>
                      <a:rPr lang="en-US" sz="1100" i="1" kern="100">
                        <a:effectLst/>
                        <a:latin typeface="Cambria Math" panose="02040503050406030204" pitchFamily="18" charset="0"/>
                        <a:ea typeface="Aptos" panose="020B0004020202020204" pitchFamily="34" charset="0"/>
                        <a:cs typeface="Times New Roman" panose="02020603050405020304" pitchFamily="18" charset="0"/>
                      </a:rPr>
                      <m:t>𝑖</m:t>
                    </m:r>
                    <m:r>
                      <a:rPr lang="en-US" sz="1100" i="1" kern="100">
                        <a:effectLst/>
                        <a:latin typeface="Cambria Math" panose="02040503050406030204" pitchFamily="18" charset="0"/>
                        <a:ea typeface="Aptos" panose="020B0004020202020204" pitchFamily="34" charset="0"/>
                        <a:cs typeface="Times New Roman" panose="02020603050405020304" pitchFamily="18" charset="0"/>
                      </a:rPr>
                      <m:t>→</m:t>
                    </m:r>
                    <m:r>
                      <a:rPr lang="en-US" sz="1100" i="1" kern="100">
                        <a:effectLst/>
                        <a:latin typeface="Cambria Math" panose="02040503050406030204" pitchFamily="18" charset="0"/>
                        <a:ea typeface="Aptos" panose="020B0004020202020204" pitchFamily="34" charset="0"/>
                        <a:cs typeface="Times New Roman" panose="02020603050405020304" pitchFamily="18" charset="0"/>
                      </a:rPr>
                      <m:t>𝑗</m:t>
                    </m:r>
                  </m:oMath>
                </a14:m>
                <a:r>
                  <a:rPr lang="el-GR" sz="1100" kern="100" dirty="0">
                    <a:effectLst/>
                    <a:ea typeface="Aptos" panose="020B0004020202020204" pitchFamily="34" charset="0"/>
                    <a:cs typeface="Times New Roman" panose="02020603050405020304" pitchFamily="18" charset="0"/>
                  </a:rPr>
                  <a:t> του συμπυκνωμένου γράφου δεν αντιπροσωπεύει έναν απευθείας δρόμο. Αντιπροσωπεύει ολόκληρη την ελάχιστη κατευθυνόμενη διαδρομή από το σημείο </a:t>
                </a:r>
                <a:r>
                  <a:rPr lang="en-US" sz="1100" kern="100" dirty="0" err="1">
                    <a:effectLst/>
                    <a:ea typeface="Aptos" panose="020B0004020202020204" pitchFamily="34" charset="0"/>
                    <a:cs typeface="Times New Roman" panose="02020603050405020304" pitchFamily="18" charset="0"/>
                  </a:rPr>
                  <a:t>i</a:t>
                </a:r>
                <a:r>
                  <a:rPr lang="el-GR" sz="1100" kern="100" dirty="0">
                    <a:effectLst/>
                    <a:ea typeface="Aptos" panose="020B0004020202020204" pitchFamily="34" charset="0"/>
                    <a:cs typeface="Times New Roman" panose="02020603050405020304" pitchFamily="18" charset="0"/>
                  </a:rPr>
                  <a:t> στο σημείο </a:t>
                </a:r>
                <a:r>
                  <a:rPr lang="en-US" sz="1100" kern="100" dirty="0">
                    <a:effectLst/>
                    <a:ea typeface="Aptos" panose="020B0004020202020204" pitchFamily="34" charset="0"/>
                    <a:cs typeface="Times New Roman" panose="02020603050405020304" pitchFamily="18" charset="0"/>
                  </a:rPr>
                  <a:t>j</a:t>
                </a:r>
                <a:r>
                  <a:rPr lang="el-GR" sz="1100" kern="100" dirty="0">
                    <a:effectLst/>
                    <a:ea typeface="Aptos" panose="020B0004020202020204" pitchFamily="34" charset="0"/>
                    <a:cs typeface="Times New Roman" panose="02020603050405020304" pitchFamily="18" charset="0"/>
                  </a:rPr>
                  <a:t> πάνω στο οδικό δίκτυο.</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D47B3C8A-AFB4-4D03-880A-3017EBAB8EF4}"/>
                  </a:ext>
                </a:extLst>
              </p:cNvPr>
              <p:cNvSpPr txBox="1">
                <a:spLocks noRot="1" noChangeAspect="1" noMove="1" noResize="1" noEditPoints="1" noAdjustHandles="1" noChangeArrowheads="1" noChangeShapeType="1" noTextEdit="1"/>
              </p:cNvSpPr>
              <p:nvPr/>
            </p:nvSpPr>
            <p:spPr>
              <a:xfrm>
                <a:off x="4775341" y="3356663"/>
                <a:ext cx="2515311" cy="2123658"/>
              </a:xfrm>
              <a:prstGeom prst="rect">
                <a:avLst/>
              </a:prstGeom>
              <a:blipFill>
                <a:blip r:embed="rId3"/>
                <a:stretch>
                  <a:fillRect t="-287" b="-1149"/>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7E67B214-0C8C-16F3-7B74-D522050AA9EB}"/>
              </a:ext>
            </a:extLst>
          </p:cNvPr>
          <p:cNvSpPr txBox="1"/>
          <p:nvPr/>
        </p:nvSpPr>
        <p:spPr>
          <a:xfrm>
            <a:off x="985288" y="4952917"/>
            <a:ext cx="3711133" cy="507831"/>
          </a:xfrm>
          <a:prstGeom prst="rect">
            <a:avLst/>
          </a:prstGeom>
          <a:noFill/>
        </p:spPr>
        <p:txBody>
          <a:bodyPr wrap="square">
            <a:spAutoFit/>
          </a:bodyPr>
          <a:lstStyle/>
          <a:p>
            <a:pPr>
              <a:lnSpc>
                <a:spcPct val="100000"/>
              </a:lnSpc>
              <a:spcAft>
                <a:spcPts val="800"/>
              </a:spcAft>
              <a:buNone/>
            </a:pPr>
            <a:r>
              <a:rPr lang="el-GR" sz="900" kern="100" dirty="0">
                <a:effectLst/>
                <a:latin typeface="+mn-lt"/>
                <a:ea typeface="Aptos" panose="020B0004020202020204" pitchFamily="34" charset="0"/>
                <a:cs typeface="Times New Roman" panose="02020603050405020304" pitchFamily="18" charset="0"/>
              </a:rPr>
              <a:t>Ο γράφος δημιουργήθηκε γύρω από το γεωγραφικό σημείο της πλατείας Συντάγματος με γεωγραφικό πλάτος και μήκος 37,9815, 23,7335 και με ακτίνα 5,2 χιλιομέτρων.</a:t>
            </a:r>
            <a:endParaRPr lang="en-US" sz="9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6" name="TextBox 15">
            <a:extLst>
              <a:ext uri="{FF2B5EF4-FFF2-40B4-BE49-F238E27FC236}">
                <a16:creationId xmlns:a16="http://schemas.microsoft.com/office/drawing/2014/main" id="{9E2EE232-827D-E034-9C74-ED6032738A27}"/>
              </a:ext>
            </a:extLst>
          </p:cNvPr>
          <p:cNvSpPr txBox="1"/>
          <p:nvPr/>
        </p:nvSpPr>
        <p:spPr>
          <a:xfrm>
            <a:off x="1872503" y="1008440"/>
            <a:ext cx="1449845" cy="276999"/>
          </a:xfrm>
          <a:prstGeom prst="rect">
            <a:avLst/>
          </a:prstGeom>
          <a:noFill/>
        </p:spPr>
        <p:txBody>
          <a:bodyPr wrap="square">
            <a:spAutoFit/>
          </a:bodyPr>
          <a:lstStyle/>
          <a:p>
            <a:r>
              <a:rPr lang="en-US" sz="1200" dirty="0">
                <a:effectLst/>
                <a:latin typeface="+mn-lt"/>
                <a:ea typeface="Aptos" panose="020B0004020202020204" pitchFamily="34" charset="0"/>
                <a:cs typeface="Times New Roman" panose="02020603050405020304" pitchFamily="18" charset="0"/>
              </a:rPr>
              <a:t>OpenStreetMap</a:t>
            </a:r>
            <a:endParaRPr lang="en-US" sz="1200"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CE6FC11-0DEF-4DB5-769B-B7526EF4A3D1}"/>
                  </a:ext>
                </a:extLst>
              </p:cNvPr>
              <p:cNvSpPr txBox="1"/>
              <p:nvPr/>
            </p:nvSpPr>
            <p:spPr>
              <a:xfrm>
                <a:off x="4775341" y="1297693"/>
                <a:ext cx="2422135" cy="1189172"/>
              </a:xfrm>
              <a:prstGeom prst="rect">
                <a:avLst/>
              </a:prstGeom>
              <a:noFill/>
            </p:spPr>
            <p:txBody>
              <a:bodyPr wrap="square">
                <a:spAutoFit/>
              </a:bodyPr>
              <a:lstStyle/>
              <a:p>
                <a:r>
                  <a:rPr lang="el-GR" sz="1000" dirty="0">
                    <a:effectLst/>
                    <a:ea typeface="Aptos" panose="020B0004020202020204" pitchFamily="34" charset="0"/>
                    <a:cs typeface="Times New Roman" panose="02020603050405020304" pitchFamily="18" charset="0"/>
                  </a:rPr>
                  <a:t>Σε κάθε αποθήκη είναι αρχικά διαθέσιμα ένα </a:t>
                </a:r>
                <a:r>
                  <a:rPr lang="en-US" sz="1000" dirty="0">
                    <a:effectLst/>
                    <a:ea typeface="Aptos" panose="020B0004020202020204" pitchFamily="34" charset="0"/>
                    <a:cs typeface="Times New Roman" panose="02020603050405020304" pitchFamily="18" charset="0"/>
                  </a:rPr>
                  <a:t>motorcycle</a:t>
                </a:r>
                <a:r>
                  <a:rPr lang="el-GR" sz="1000" dirty="0">
                    <a:effectLst/>
                    <a:ea typeface="Aptos" panose="020B0004020202020204" pitchFamily="34" charset="0"/>
                    <a:cs typeface="Times New Roman" panose="02020603050405020304" pitchFamily="18" charset="0"/>
                  </a:rPr>
                  <a:t>, ένα </a:t>
                </a:r>
                <a:r>
                  <a:rPr lang="en-US" sz="1000" dirty="0">
                    <a:effectLst/>
                    <a:ea typeface="Aptos" panose="020B0004020202020204" pitchFamily="34" charset="0"/>
                    <a:cs typeface="Times New Roman" panose="02020603050405020304" pitchFamily="18" charset="0"/>
                  </a:rPr>
                  <a:t>van</a:t>
                </a:r>
                <a:r>
                  <a:rPr lang="el-GR" sz="1000" dirty="0">
                    <a:effectLst/>
                    <a:ea typeface="Aptos" panose="020B0004020202020204" pitchFamily="34" charset="0"/>
                    <a:cs typeface="Times New Roman" panose="02020603050405020304" pitchFamily="18" charset="0"/>
                  </a:rPr>
                  <a:t> και ένα </a:t>
                </a:r>
                <a:r>
                  <a:rPr lang="en-US" sz="1000" dirty="0">
                    <a:effectLst/>
                    <a:ea typeface="Aptos" panose="020B0004020202020204" pitchFamily="34" charset="0"/>
                    <a:cs typeface="Times New Roman" panose="02020603050405020304" pitchFamily="18" charset="0"/>
                  </a:rPr>
                  <a:t>truck</a:t>
                </a:r>
                <a:r>
                  <a:rPr lang="el-GR" sz="1000" dirty="0">
                    <a:effectLst/>
                    <a:ea typeface="Aptos" panose="020B0004020202020204" pitchFamily="34" charset="0"/>
                    <a:cs typeface="Times New Roman" panose="02020603050405020304" pitchFamily="18" charset="0"/>
                  </a:rPr>
                  <a:t>. Ο βασικός χρόνος της οδικής διαδρομής προσαρμόζεται ανάλογα με τον τύπο του οχήματος: </a:t>
                </a:r>
                <a14:m>
                  <m:oMath xmlns:m="http://schemas.openxmlformats.org/officeDocument/2006/math">
                    <m:r>
                      <a:rPr lang="en-US" sz="1000" i="1">
                        <a:effectLst/>
                        <a:latin typeface="Cambria Math" panose="02040503050406030204" pitchFamily="18" charset="0"/>
                        <a:ea typeface="Aptos" panose="020B0004020202020204" pitchFamily="34" charset="0"/>
                        <a:cs typeface="Times New Roman" panose="02020603050405020304" pitchFamily="18" charset="0"/>
                      </a:rPr>
                      <m:t>𝑡</m:t>
                    </m:r>
                    <m:r>
                      <a:rPr lang="en-US" sz="1000" i="1">
                        <a:effectLst/>
                        <a:latin typeface="Cambria Math" panose="02040503050406030204" pitchFamily="18" charset="0"/>
                        <a:ea typeface="Aptos" panose="020B0004020202020204" pitchFamily="34" charset="0"/>
                        <a:cs typeface="Arial" panose="020B0604020202020204" pitchFamily="34" charset="0"/>
                      </a:rPr>
                      <m:t>ᵢⱼᵏ</m:t>
                    </m:r>
                    <m:r>
                      <a:rPr lang="en-US" sz="1000" i="1">
                        <a:effectLst/>
                        <a:latin typeface="Cambria Math" panose="02040503050406030204" pitchFamily="18" charset="0"/>
                        <a:ea typeface="Aptos" panose="020B0004020202020204" pitchFamily="34" charset="0"/>
                        <a:cs typeface="Times New Roman" panose="02020603050405020304" pitchFamily="18" charset="0"/>
                      </a:rPr>
                      <m:t> = </m:t>
                    </m:r>
                    <m:r>
                      <a:rPr lang="en-US" sz="1000" i="1">
                        <a:effectLst/>
                        <a:latin typeface="Cambria Math" panose="02040503050406030204" pitchFamily="18" charset="0"/>
                        <a:ea typeface="Aptos" panose="020B0004020202020204" pitchFamily="34" charset="0"/>
                        <a:cs typeface="Times New Roman" panose="02020603050405020304" pitchFamily="18" charset="0"/>
                      </a:rPr>
                      <m:t>𝑓</m:t>
                    </m:r>
                    <m:r>
                      <a:rPr lang="en-US" sz="1000" i="1">
                        <a:effectLst/>
                        <a:latin typeface="Cambria Math" panose="02040503050406030204" pitchFamily="18" charset="0"/>
                        <a:ea typeface="Aptos" panose="020B0004020202020204" pitchFamily="34" charset="0"/>
                        <a:cs typeface="Cambria Math" panose="02040503050406030204" pitchFamily="18" charset="0"/>
                      </a:rPr>
                      <m:t>ₖ</m:t>
                    </m:r>
                    <m:r>
                      <a:rPr lang="en-US" sz="1000" i="1">
                        <a:effectLst/>
                        <a:latin typeface="Cambria Math" panose="02040503050406030204" pitchFamily="18" charset="0"/>
                        <a:ea typeface="Aptos" panose="020B0004020202020204" pitchFamily="34" charset="0"/>
                        <a:cs typeface="Times New Roman" panose="02020603050405020304" pitchFamily="18" charset="0"/>
                      </a:rPr>
                      <m:t> </m:t>
                    </m:r>
                    <m:r>
                      <a:rPr lang="en-US" sz="1000" i="1">
                        <a:effectLst/>
                        <a:latin typeface="Cambria Math" panose="02040503050406030204" pitchFamily="18" charset="0"/>
                        <a:ea typeface="Aptos" panose="020B0004020202020204" pitchFamily="34" charset="0"/>
                        <a:cs typeface="Aptos" panose="020B0004020202020204" pitchFamily="34" charset="0"/>
                      </a:rPr>
                      <m:t>·</m:t>
                    </m:r>
                    <m:r>
                      <a:rPr lang="en-US" sz="1000" i="1">
                        <a:effectLst/>
                        <a:latin typeface="Cambria Math" panose="02040503050406030204" pitchFamily="18" charset="0"/>
                        <a:ea typeface="Aptos" panose="020B0004020202020204" pitchFamily="34" charset="0"/>
                        <a:cs typeface="Times New Roman" panose="02020603050405020304" pitchFamily="18" charset="0"/>
                      </a:rPr>
                      <m:t> </m:t>
                    </m:r>
                    <m:sSub>
                      <m:sSubPr>
                        <m:ctrlPr>
                          <a:rPr lang="en-US" sz="1000" i="1">
                            <a:effectLst/>
                            <a:latin typeface="Cambria Math" panose="02040503050406030204" pitchFamily="18" charset="0"/>
                            <a:ea typeface="Aptos" panose="020B0004020202020204" pitchFamily="34" charset="0"/>
                            <a:cs typeface="Times New Roman" panose="02020603050405020304" pitchFamily="18" charset="0"/>
                          </a:rPr>
                        </m:ctrlPr>
                      </m:sSubPr>
                      <m:e>
                        <m:acc>
                          <m:accPr>
                            <m:chr m:val="̅"/>
                            <m:ctrlPr>
                              <a:rPr lang="en-US" sz="1000" i="1">
                                <a:effectLst/>
                                <a:latin typeface="Cambria Math" panose="02040503050406030204" pitchFamily="18" charset="0"/>
                                <a:ea typeface="Aptos" panose="020B0004020202020204" pitchFamily="34" charset="0"/>
                                <a:cs typeface="Times New Roman" panose="02020603050405020304" pitchFamily="18" charset="0"/>
                              </a:rPr>
                            </m:ctrlPr>
                          </m:accPr>
                          <m:e>
                            <m:r>
                              <a:rPr lang="en-US" sz="1000" i="1">
                                <a:effectLst/>
                                <a:latin typeface="Cambria Math" panose="02040503050406030204" pitchFamily="18" charset="0"/>
                                <a:ea typeface="Aptos" panose="020B0004020202020204" pitchFamily="34" charset="0"/>
                                <a:cs typeface="Times New Roman" panose="02020603050405020304" pitchFamily="18" charset="0"/>
                              </a:rPr>
                              <m:t>𝑡</m:t>
                            </m:r>
                          </m:e>
                        </m:acc>
                      </m:e>
                      <m:sub>
                        <m:r>
                          <a:rPr lang="en-US" sz="1000" i="1">
                            <a:effectLst/>
                            <a:latin typeface="Cambria Math" panose="02040503050406030204" pitchFamily="18" charset="0"/>
                            <a:ea typeface="Aptos" panose="020B0004020202020204" pitchFamily="34" charset="0"/>
                            <a:cs typeface="Times New Roman" panose="02020603050405020304" pitchFamily="18" charset="0"/>
                          </a:rPr>
                          <m:t>𝑖𝑗</m:t>
                        </m:r>
                      </m:sub>
                    </m:sSub>
                    <m:r>
                      <a:rPr lang="en-US" sz="1000" i="1">
                        <a:effectLst/>
                        <a:latin typeface="Cambria Math" panose="02040503050406030204" pitchFamily="18" charset="0"/>
                        <a:ea typeface="Aptos" panose="020B0004020202020204" pitchFamily="34" charset="0"/>
                        <a:cs typeface="Times New Roman" panose="02020603050405020304" pitchFamily="18" charset="0"/>
                      </a:rPr>
                      <m:t>,</m:t>
                    </m:r>
                  </m:oMath>
                </a14:m>
                <a:r>
                  <a:rPr lang="el-GR" sz="1000" dirty="0">
                    <a:effectLst/>
                    <a:ea typeface="Times New Roman" panose="02020603050405020304" pitchFamily="18" charset="0"/>
                    <a:cs typeface="Times New Roman" panose="02020603050405020304" pitchFamily="18" charset="0"/>
                  </a:rPr>
                  <a:t> </a:t>
                </a:r>
                <a:r>
                  <a:rPr lang="el-GR" sz="1000" dirty="0">
                    <a:effectLst/>
                    <a:ea typeface="Aptos" panose="020B0004020202020204" pitchFamily="34" charset="0"/>
                    <a:cs typeface="Times New Roman" panose="02020603050405020304" pitchFamily="18" charset="0"/>
                  </a:rPr>
                  <a:t>όπου </a:t>
                </a:r>
                <a14:m>
                  <m:oMath xmlns:m="http://schemas.openxmlformats.org/officeDocument/2006/math">
                    <m:r>
                      <a:rPr lang="en-US" sz="1000" i="1">
                        <a:effectLst/>
                        <a:latin typeface="Cambria Math" panose="02040503050406030204" pitchFamily="18" charset="0"/>
                        <a:ea typeface="Aptos" panose="020B0004020202020204" pitchFamily="34" charset="0"/>
                        <a:cs typeface="Times New Roman" panose="02020603050405020304" pitchFamily="18" charset="0"/>
                      </a:rPr>
                      <m:t>𝑓</m:t>
                    </m:r>
                    <m:r>
                      <a:rPr lang="en-US" sz="1000" i="1">
                        <a:effectLst/>
                        <a:latin typeface="Cambria Math" panose="02040503050406030204" pitchFamily="18" charset="0"/>
                        <a:ea typeface="Aptos" panose="020B0004020202020204" pitchFamily="34" charset="0"/>
                        <a:cs typeface="Cambria Math" panose="02040503050406030204" pitchFamily="18" charset="0"/>
                      </a:rPr>
                      <m:t>ₖ</m:t>
                    </m:r>
                  </m:oMath>
                </a14:m>
                <a:r>
                  <a:rPr lang="el-GR" sz="1000" dirty="0">
                    <a:effectLst/>
                    <a:ea typeface="Aptos" panose="020B0004020202020204" pitchFamily="34" charset="0"/>
                    <a:cs typeface="Times New Roman" panose="02020603050405020304" pitchFamily="18" charset="0"/>
                  </a:rPr>
                  <a:t> </a:t>
                </a:r>
                <a:r>
                  <a:rPr lang="el-GR" sz="1000" dirty="0">
                    <a:effectLst/>
                    <a:ea typeface="Aptos" panose="020B0004020202020204" pitchFamily="34" charset="0"/>
                    <a:cs typeface="Aptos" panose="020B0004020202020204" pitchFamily="34" charset="0"/>
                  </a:rPr>
                  <a:t>είναι</a:t>
                </a:r>
                <a:r>
                  <a:rPr lang="el-GR" sz="1000" dirty="0">
                    <a:effectLst/>
                    <a:ea typeface="Aptos" panose="020B0004020202020204" pitchFamily="34" charset="0"/>
                    <a:cs typeface="Times New Roman" panose="02020603050405020304" pitchFamily="18" charset="0"/>
                  </a:rPr>
                  <a:t> </a:t>
                </a:r>
                <a:r>
                  <a:rPr lang="el-GR" sz="1000" dirty="0">
                    <a:effectLst/>
                    <a:ea typeface="Aptos" panose="020B0004020202020204" pitchFamily="34" charset="0"/>
                    <a:cs typeface="Aptos" panose="020B0004020202020204" pitchFamily="34" charset="0"/>
                  </a:rPr>
                  <a:t>ο</a:t>
                </a:r>
                <a:r>
                  <a:rPr lang="el-GR" sz="1000" dirty="0">
                    <a:effectLst/>
                    <a:ea typeface="Aptos" panose="020B0004020202020204" pitchFamily="34" charset="0"/>
                    <a:cs typeface="Times New Roman" panose="02020603050405020304" pitchFamily="18" charset="0"/>
                  </a:rPr>
                  <a:t> </a:t>
                </a:r>
                <a:r>
                  <a:rPr lang="el-GR" sz="1000" dirty="0">
                    <a:effectLst/>
                    <a:ea typeface="Aptos" panose="020B0004020202020204" pitchFamily="34" charset="0"/>
                    <a:cs typeface="Aptos" panose="020B0004020202020204" pitchFamily="34" charset="0"/>
                  </a:rPr>
                  <a:t>συντελεστής</a:t>
                </a:r>
                <a:r>
                  <a:rPr lang="el-GR" sz="1000" dirty="0">
                    <a:effectLst/>
                    <a:ea typeface="Aptos" panose="020B0004020202020204" pitchFamily="34" charset="0"/>
                    <a:cs typeface="Times New Roman" panose="02020603050405020304" pitchFamily="18" charset="0"/>
                  </a:rPr>
                  <a:t> </a:t>
                </a:r>
                <a:r>
                  <a:rPr lang="el-GR" sz="1000" dirty="0">
                    <a:effectLst/>
                    <a:ea typeface="Aptos" panose="020B0004020202020204" pitchFamily="34" charset="0"/>
                    <a:cs typeface="Aptos" panose="020B0004020202020204" pitchFamily="34" charset="0"/>
                  </a:rPr>
                  <a:t>χρόνου</a:t>
                </a:r>
                <a:r>
                  <a:rPr lang="el-GR" sz="1000" dirty="0">
                    <a:effectLst/>
                    <a:ea typeface="Aptos" panose="020B0004020202020204" pitchFamily="34" charset="0"/>
                    <a:cs typeface="Times New Roman" panose="02020603050405020304" pitchFamily="18" charset="0"/>
                  </a:rPr>
                  <a:t> </a:t>
                </a:r>
                <a:r>
                  <a:rPr lang="el-GR" sz="1000" dirty="0">
                    <a:effectLst/>
                    <a:ea typeface="Aptos" panose="020B0004020202020204" pitchFamily="34" charset="0"/>
                    <a:cs typeface="Aptos" panose="020B0004020202020204" pitchFamily="34" charset="0"/>
                  </a:rPr>
                  <a:t>του</a:t>
                </a:r>
                <a:r>
                  <a:rPr lang="el-GR" sz="1000" dirty="0">
                    <a:effectLst/>
                    <a:ea typeface="Aptos" panose="020B0004020202020204" pitchFamily="34" charset="0"/>
                    <a:cs typeface="Times New Roman" panose="02020603050405020304" pitchFamily="18" charset="0"/>
                  </a:rPr>
                  <a:t> </a:t>
                </a:r>
                <a:r>
                  <a:rPr lang="el-GR" sz="1000" dirty="0">
                    <a:effectLst/>
                    <a:ea typeface="Aptos" panose="020B0004020202020204" pitchFamily="34" charset="0"/>
                    <a:cs typeface="Aptos" panose="020B0004020202020204" pitchFamily="34" charset="0"/>
                  </a:rPr>
                  <a:t>οχήματος (</a:t>
                </a:r>
                <a:r>
                  <a:rPr lang="en-US" sz="1000" dirty="0">
                    <a:effectLst/>
                    <a:ea typeface="Aptos" panose="020B0004020202020204" pitchFamily="34" charset="0"/>
                    <a:cs typeface="Aptos" panose="020B0004020202020204" pitchFamily="34" charset="0"/>
                  </a:rPr>
                  <a:t>travel</a:t>
                </a:r>
                <a:r>
                  <a:rPr lang="el-GR" sz="1000" dirty="0">
                    <a:effectLst/>
                    <a:ea typeface="Aptos" panose="020B0004020202020204" pitchFamily="34" charset="0"/>
                    <a:cs typeface="Aptos" panose="020B0004020202020204" pitchFamily="34" charset="0"/>
                  </a:rPr>
                  <a:t>_</a:t>
                </a:r>
                <a:r>
                  <a:rPr lang="en-US" sz="1000" dirty="0">
                    <a:effectLst/>
                    <a:ea typeface="Aptos" panose="020B0004020202020204" pitchFamily="34" charset="0"/>
                    <a:cs typeface="Aptos" panose="020B0004020202020204" pitchFamily="34" charset="0"/>
                  </a:rPr>
                  <a:t>time</a:t>
                </a:r>
                <a:r>
                  <a:rPr lang="el-GR" sz="1000" dirty="0">
                    <a:effectLst/>
                    <a:ea typeface="Aptos" panose="020B0004020202020204" pitchFamily="34" charset="0"/>
                    <a:cs typeface="Aptos" panose="020B0004020202020204" pitchFamily="34" charset="0"/>
                  </a:rPr>
                  <a:t>_</a:t>
                </a:r>
                <a:r>
                  <a:rPr lang="en-US" sz="1000" dirty="0">
                    <a:effectLst/>
                    <a:ea typeface="Aptos" panose="020B0004020202020204" pitchFamily="34" charset="0"/>
                    <a:cs typeface="Aptos" panose="020B0004020202020204" pitchFamily="34" charset="0"/>
                  </a:rPr>
                  <a:t>factor</a:t>
                </a:r>
                <a:r>
                  <a:rPr lang="el-GR" sz="1000" dirty="0">
                    <a:effectLst/>
                    <a:ea typeface="Aptos" panose="020B0004020202020204" pitchFamily="34" charset="0"/>
                    <a:cs typeface="Aptos" panose="020B0004020202020204" pitchFamily="34" charset="0"/>
                  </a:rPr>
                  <a:t>) </a:t>
                </a:r>
                <a:endParaRPr lang="en-US" sz="1000" dirty="0"/>
              </a:p>
            </p:txBody>
          </p:sp>
        </mc:Choice>
        <mc:Fallback xmlns="">
          <p:sp>
            <p:nvSpPr>
              <p:cNvPr id="18" name="TextBox 17">
                <a:extLst>
                  <a:ext uri="{FF2B5EF4-FFF2-40B4-BE49-F238E27FC236}">
                    <a16:creationId xmlns:a16="http://schemas.microsoft.com/office/drawing/2014/main" id="{ECE6FC11-0DEF-4DB5-769B-B7526EF4A3D1}"/>
                  </a:ext>
                </a:extLst>
              </p:cNvPr>
              <p:cNvSpPr txBox="1">
                <a:spLocks noRot="1" noChangeAspect="1" noMove="1" noResize="1" noEditPoints="1" noAdjustHandles="1" noChangeArrowheads="1" noChangeShapeType="1" noTextEdit="1"/>
              </p:cNvSpPr>
              <p:nvPr/>
            </p:nvSpPr>
            <p:spPr>
              <a:xfrm>
                <a:off x="4775341" y="1297693"/>
                <a:ext cx="2422135" cy="1189172"/>
              </a:xfrm>
              <a:prstGeom prst="rect">
                <a:avLst/>
              </a:prstGeom>
              <a:blipFill>
                <a:blip r:embed="rId4"/>
                <a:stretch>
                  <a:fillRect b="-1538"/>
                </a:stretch>
              </a:blipFill>
            </p:spPr>
            <p:txBody>
              <a:bodyPr/>
              <a:lstStyle/>
              <a:p>
                <a:r>
                  <a:rPr lang="en-US">
                    <a:noFill/>
                  </a:rPr>
                  <a:t> </a:t>
                </a:r>
              </a:p>
            </p:txBody>
          </p:sp>
        </mc:Fallback>
      </mc:AlternateContent>
      <p:pic>
        <p:nvPicPr>
          <p:cNvPr id="21" name="Picture 20">
            <a:extLst>
              <a:ext uri="{FF2B5EF4-FFF2-40B4-BE49-F238E27FC236}">
                <a16:creationId xmlns:a16="http://schemas.microsoft.com/office/drawing/2014/main" id="{27CF0AD9-2658-6E93-6345-09790A874170}"/>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17359" y="1246789"/>
            <a:ext cx="4722145" cy="3920492"/>
          </a:xfrm>
          <a:prstGeom prst="rect">
            <a:avLst/>
          </a:prstGeom>
          <a:noFill/>
          <a:ln>
            <a:noFill/>
          </a:ln>
        </p:spPr>
      </p:pic>
      <p:sp>
        <p:nvSpPr>
          <p:cNvPr id="22" name="TextBox 21">
            <a:extLst>
              <a:ext uri="{FF2B5EF4-FFF2-40B4-BE49-F238E27FC236}">
                <a16:creationId xmlns:a16="http://schemas.microsoft.com/office/drawing/2014/main" id="{72A53D7B-FEED-367C-7862-CD1148343D2D}"/>
              </a:ext>
            </a:extLst>
          </p:cNvPr>
          <p:cNvSpPr txBox="1"/>
          <p:nvPr/>
        </p:nvSpPr>
        <p:spPr>
          <a:xfrm>
            <a:off x="4884983" y="2534545"/>
            <a:ext cx="2227699" cy="553998"/>
          </a:xfrm>
          <a:prstGeom prst="rect">
            <a:avLst/>
          </a:prstGeom>
          <a:noFill/>
        </p:spPr>
        <p:txBody>
          <a:bodyPr wrap="square" rtlCol="0">
            <a:spAutoFit/>
          </a:bodyPr>
          <a:lstStyle/>
          <a:p>
            <a:r>
              <a:rPr lang="en-US" sz="1000" dirty="0"/>
              <a:t>Motorcycle: 0.85</a:t>
            </a:r>
          </a:p>
          <a:p>
            <a:r>
              <a:rPr lang="en-US" sz="1000" dirty="0"/>
              <a:t>Van: 1</a:t>
            </a:r>
          </a:p>
          <a:p>
            <a:r>
              <a:rPr lang="en-US" sz="1000" dirty="0"/>
              <a:t>Truck: 1.2</a:t>
            </a:r>
          </a:p>
        </p:txBody>
      </p:sp>
    </p:spTree>
    <p:extLst>
      <p:ext uri="{BB962C8B-B14F-4D97-AF65-F5344CB8AC3E}">
        <p14:creationId xmlns:p14="http://schemas.microsoft.com/office/powerpoint/2010/main" val="833664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42B23-51E3-96B5-3CE4-079DA0DEFD4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2E70B8-456E-A9E6-2A26-3445A0280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52A9CF76-8468-DF37-4D84-0FB8841B5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CD0952CC-5699-7C5F-5CBA-7377352D28DC}"/>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1E345280-05AA-F267-E799-24CB845F0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DC027AF6-4096-C883-C985-02869781FD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71" y="543582"/>
            <a:ext cx="5788618" cy="4458002"/>
          </a:xfrm>
          <a:prstGeom prst="rect">
            <a:avLst/>
          </a:prstGeom>
        </p:spPr>
      </p:pic>
      <p:pic>
        <p:nvPicPr>
          <p:cNvPr id="13" name="Picture 12">
            <a:extLst>
              <a:ext uri="{FF2B5EF4-FFF2-40B4-BE49-F238E27FC236}">
                <a16:creationId xmlns:a16="http://schemas.microsoft.com/office/drawing/2014/main" id="{E6B428C5-D4DA-FF8D-1752-EAAC5B95572D}"/>
              </a:ext>
            </a:extLst>
          </p:cNvPr>
          <p:cNvPicPr>
            <a:picLocks noChangeAspect="1"/>
          </p:cNvPicPr>
          <p:nvPr/>
        </p:nvPicPr>
        <p:blipFill>
          <a:blip r:embed="rId3"/>
          <a:stretch>
            <a:fillRect/>
          </a:stretch>
        </p:blipFill>
        <p:spPr>
          <a:xfrm>
            <a:off x="6021201" y="757329"/>
            <a:ext cx="6086928" cy="4817835"/>
          </a:xfrm>
          <a:prstGeom prst="rect">
            <a:avLst/>
          </a:prstGeom>
        </p:spPr>
      </p:pic>
    </p:spTree>
    <p:extLst>
      <p:ext uri="{BB962C8B-B14F-4D97-AF65-F5344CB8AC3E}">
        <p14:creationId xmlns:p14="http://schemas.microsoft.com/office/powerpoint/2010/main" val="4169303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EB776-14AE-AEFA-01DC-DD758443D4C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0F5E013-9CF2-A5B1-F5E5-AF93FB572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16758AEE-D180-6087-F7F2-172E903270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extBox 2">
            <a:extLst>
              <a:ext uri="{FF2B5EF4-FFF2-40B4-BE49-F238E27FC236}">
                <a16:creationId xmlns:a16="http://schemas.microsoft.com/office/drawing/2014/main" id="{42BD95C5-15E2-6D8E-268E-8E02FB8609F2}"/>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
        <p:nvSpPr>
          <p:cNvPr id="11" name="Arc 10">
            <a:extLst>
              <a:ext uri="{FF2B5EF4-FFF2-40B4-BE49-F238E27FC236}">
                <a16:creationId xmlns:a16="http://schemas.microsoft.com/office/drawing/2014/main" id="{AFFB66B1-05CE-BFBA-A9C0-D641C599A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 name="Picture 3">
            <a:extLst>
              <a:ext uri="{FF2B5EF4-FFF2-40B4-BE49-F238E27FC236}">
                <a16:creationId xmlns:a16="http://schemas.microsoft.com/office/drawing/2014/main" id="{7AB5B9FE-B014-7B7A-E748-741C6885ED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3592"/>
            <a:ext cx="5713465" cy="3808976"/>
          </a:xfrm>
          <a:prstGeom prst="rect">
            <a:avLst/>
          </a:prstGeom>
        </p:spPr>
      </p:pic>
      <p:pic>
        <p:nvPicPr>
          <p:cNvPr id="6" name="Picture 5">
            <a:extLst>
              <a:ext uri="{FF2B5EF4-FFF2-40B4-BE49-F238E27FC236}">
                <a16:creationId xmlns:a16="http://schemas.microsoft.com/office/drawing/2014/main" id="{B87B77CE-C1CA-9B52-9719-D6A5FE0AB8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8531" y="1926991"/>
            <a:ext cx="7389346" cy="4926230"/>
          </a:xfrm>
          <a:prstGeom prst="rect">
            <a:avLst/>
          </a:prstGeom>
        </p:spPr>
      </p:pic>
    </p:spTree>
    <p:extLst>
      <p:ext uri="{BB962C8B-B14F-4D97-AF65-F5344CB8AC3E}">
        <p14:creationId xmlns:p14="http://schemas.microsoft.com/office/powerpoint/2010/main" val="2248045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FDE1B0-6719-DA79-E455-ADE6D4044A17}"/>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Freeform: Shape 17">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0" name="Freeform: Shape 19">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8B6A18E4-CBE1-2BCB-86CC-7DF931DCC2E4}"/>
              </a:ext>
            </a:extLst>
          </p:cNvPr>
          <p:cNvSpPr txBox="1"/>
          <p:nvPr/>
        </p:nvSpPr>
        <p:spPr>
          <a:xfrm>
            <a:off x="1524003" y="1999615"/>
            <a:ext cx="9144000" cy="276402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7200" kern="1200">
                <a:solidFill>
                  <a:schemeClr val="tx1"/>
                </a:solidFill>
                <a:latin typeface="+mj-lt"/>
                <a:ea typeface="+mj-ea"/>
                <a:cs typeface="+mj-cs"/>
              </a:rPr>
              <a:t>Ευχαριστώ για τον χρόνο σας </a:t>
            </a:r>
          </a:p>
        </p:txBody>
      </p:sp>
      <p:sp>
        <p:nvSpPr>
          <p:cNvPr id="22" name="Rectangle 21">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DEECAC21-2FF5-2A74-1015-53E00E950423}"/>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4400" kern="1200" dirty="0">
              <a:solidFill>
                <a:schemeClr val="tx1"/>
              </a:solidFill>
              <a:latin typeface="+mj-lt"/>
              <a:ea typeface="+mj-ea"/>
              <a:cs typeface="+mj-cs"/>
            </a:endParaRPr>
          </a:p>
        </p:txBody>
      </p:sp>
    </p:spTree>
    <p:extLst>
      <p:ext uri="{BB962C8B-B14F-4D97-AF65-F5344CB8AC3E}">
        <p14:creationId xmlns:p14="http://schemas.microsoft.com/office/powerpoint/2010/main" val="37156085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3678</TotalTime>
  <Words>1419</Words>
  <Application>Microsoft Office PowerPoint</Application>
  <PresentationFormat>Widescreen</PresentationFormat>
  <Paragraphs>123</Paragraphs>
  <Slides>19</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Display</vt:lpstr>
      <vt:lpstr>Arial</vt:lpstr>
      <vt:lpstr>Calibri</vt:lpstr>
      <vt:lpstr>Cambria Math</vt:lpstr>
      <vt:lpstr>Times New Roman</vt:lpstr>
      <vt:lpstr>Wingdings</vt:lpstr>
      <vt:lpstr>Office Theme</vt:lpstr>
      <vt:lpstr>Capacitated Vehicle Routing Problem</vt:lpstr>
      <vt:lpstr>Πρόβλημα και Στόχος</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Giannis Papadopoulos</dc:creator>
  <cp:lastModifiedBy>Giannis Papadopoulos</cp:lastModifiedBy>
  <cp:revision>1</cp:revision>
  <dcterms:created xsi:type="dcterms:W3CDTF">2026-09-19T15:16:07Z</dcterms:created>
  <dcterms:modified xsi:type="dcterms:W3CDTF">2026-09-22T05:31:58Z</dcterms:modified>
</cp:coreProperties>
</file>